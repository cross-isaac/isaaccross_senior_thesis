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6"/>
  </p:notesMasterIdLst>
  <p:sldIdLst>
    <p:sldId id="264" r:id="rId5"/>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1F68"/>
    <a:srgbClr val="4E2A84"/>
    <a:srgbClr val="3E2979"/>
    <a:srgbClr val="571963"/>
    <a:srgbClr val="333399"/>
    <a:srgbClr val="3E29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59" autoAdjust="0"/>
    <p:restoredTop sz="94660"/>
  </p:normalViewPr>
  <p:slideViewPr>
    <p:cSldViewPr>
      <p:cViewPr>
        <p:scale>
          <a:sx n="33" d="100"/>
          <a:sy n="33" d="100"/>
        </p:scale>
        <p:origin x="0" y="-545"/>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E1D3D-C75F-44F9-8D8B-468702C07BD7}" type="datetimeFigureOut">
              <a:rPr lang="en-US" smtClean="0"/>
              <a:t>12/1/2025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FA7164-667C-4A62-9425-B95FDDEC2E7E}" type="slidenum">
              <a:rPr lang="en-US" smtClean="0"/>
              <a:t>‹#›</a:t>
            </a:fld>
            <a:endParaRPr lang="en-US"/>
          </a:p>
        </p:txBody>
      </p:sp>
    </p:spTree>
    <p:extLst>
      <p:ext uri="{BB962C8B-B14F-4D97-AF65-F5344CB8AC3E}">
        <p14:creationId xmlns:p14="http://schemas.microsoft.com/office/powerpoint/2010/main" val="4095573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FA7164-667C-4A62-9425-B95FDDEC2E7E}" type="slidenum">
              <a:rPr lang="en-US" smtClean="0"/>
              <a:t>1</a:t>
            </a:fld>
            <a:endParaRPr lang="en-US"/>
          </a:p>
        </p:txBody>
      </p:sp>
    </p:spTree>
    <p:extLst>
      <p:ext uri="{BB962C8B-B14F-4D97-AF65-F5344CB8AC3E}">
        <p14:creationId xmlns:p14="http://schemas.microsoft.com/office/powerpoint/2010/main" val="2384120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26F417-977D-42A7-B6C5-BE487F3A6E0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6F417-977D-42A7-B6C5-BE487F3A6E0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26F417-977D-42A7-B6C5-BE487F3A6E0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26F417-977D-42A7-B6C5-BE487F3A6E0F}"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26F417-977D-42A7-B6C5-BE487F3A6E0F}"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6F417-977D-42A7-B6C5-BE487F3A6E0F}"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2D26F417-977D-42A7-B6C5-BE487F3A6E0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2D26F417-977D-42A7-B6C5-BE487F3A6E0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6F417-977D-42A7-B6C5-BE487F3A6E0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DBD394-3291-40BA-9345-7C4693277A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2D26F417-977D-42A7-B6C5-BE487F3A6E0F}" type="datetimeFigureOut">
              <a:rPr lang="en-US" smtClean="0"/>
              <a:pPr/>
              <a:t>12/1/2025</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16DBD394-3291-40BA-9345-7C4693277A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3.png"/><Relationship Id="rId39" Type="http://schemas.openxmlformats.org/officeDocument/2006/relationships/image" Target="../media/image36.png"/><Relationship Id="rId21" Type="http://schemas.openxmlformats.org/officeDocument/2006/relationships/image" Target="../media/image18.png"/><Relationship Id="rId34" Type="http://schemas.openxmlformats.org/officeDocument/2006/relationships/image" Target="../media/image31.png"/><Relationship Id="rId42" Type="http://schemas.openxmlformats.org/officeDocument/2006/relationships/image" Target="../media/image39.png"/><Relationship Id="rId7" Type="http://schemas.openxmlformats.org/officeDocument/2006/relationships/image" Target="../media/image4.png"/><Relationship Id="rId2" Type="http://schemas.openxmlformats.org/officeDocument/2006/relationships/notesSlide" Target="../notesSlides/notesSlide1.xml"/><Relationship Id="rId16" Type="http://schemas.openxmlformats.org/officeDocument/2006/relationships/image" Target="../media/image13.png"/><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32" Type="http://schemas.openxmlformats.org/officeDocument/2006/relationships/image" Target="../media/image29.png"/><Relationship Id="rId37" Type="http://schemas.openxmlformats.org/officeDocument/2006/relationships/image" Target="../media/image34.png"/><Relationship Id="rId40" Type="http://schemas.openxmlformats.org/officeDocument/2006/relationships/image" Target="../media/image37.png"/><Relationship Id="rId45" Type="http://schemas.openxmlformats.org/officeDocument/2006/relationships/image" Target="../media/image42.pn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28" Type="http://schemas.openxmlformats.org/officeDocument/2006/relationships/image" Target="../media/image25.png"/><Relationship Id="rId36" Type="http://schemas.openxmlformats.org/officeDocument/2006/relationships/image" Target="../media/image33.png"/><Relationship Id="rId10" Type="http://schemas.openxmlformats.org/officeDocument/2006/relationships/image" Target="../media/image7.png"/><Relationship Id="rId19" Type="http://schemas.openxmlformats.org/officeDocument/2006/relationships/image" Target="../media/image16.png"/><Relationship Id="rId31" Type="http://schemas.openxmlformats.org/officeDocument/2006/relationships/image" Target="../media/image28.png"/><Relationship Id="rId44" Type="http://schemas.openxmlformats.org/officeDocument/2006/relationships/image" Target="../media/image41.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png"/><Relationship Id="rId30" Type="http://schemas.openxmlformats.org/officeDocument/2006/relationships/image" Target="../media/image27.png"/><Relationship Id="rId35" Type="http://schemas.openxmlformats.org/officeDocument/2006/relationships/image" Target="../media/image32.png"/><Relationship Id="rId43" Type="http://schemas.openxmlformats.org/officeDocument/2006/relationships/image" Target="../media/image40.png"/><Relationship Id="rId8" Type="http://schemas.openxmlformats.org/officeDocument/2006/relationships/image" Target="../media/image5.png"/><Relationship Id="rId3" Type="http://schemas.openxmlformats.org/officeDocument/2006/relationships/hyperlink" Target="http://steck.us/alkalidata" TargetMode="External"/><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33" Type="http://schemas.openxmlformats.org/officeDocument/2006/relationships/image" Target="../media/image30.png"/><Relationship Id="rId38" Type="http://schemas.openxmlformats.org/officeDocument/2006/relationships/image" Target="../media/image35.png"/><Relationship Id="rId46" Type="http://schemas.openxmlformats.org/officeDocument/2006/relationships/image" Target="../media/image43.png"/><Relationship Id="rId20" Type="http://schemas.openxmlformats.org/officeDocument/2006/relationships/image" Target="../media/image17.png"/><Relationship Id="rId4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84CA726-250A-AABD-5E6B-E399B5A1E9EF}"/>
              </a:ext>
            </a:extLst>
          </p:cNvPr>
          <p:cNvSpPr/>
          <p:nvPr/>
        </p:nvSpPr>
        <p:spPr>
          <a:xfrm>
            <a:off x="29844473" y="29717170"/>
            <a:ext cx="13716000" cy="2688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TextBox 1129">
            <a:extLst>
              <a:ext uri="{FF2B5EF4-FFF2-40B4-BE49-F238E27FC236}">
                <a16:creationId xmlns:a16="http://schemas.microsoft.com/office/drawing/2014/main" id="{CB8BF151-AA30-C7A8-7FD0-A942CD13836F}"/>
              </a:ext>
            </a:extLst>
          </p:cNvPr>
          <p:cNvSpPr txBox="1"/>
          <p:nvPr/>
        </p:nvSpPr>
        <p:spPr>
          <a:xfrm>
            <a:off x="29831206" y="30589869"/>
            <a:ext cx="13715999" cy="1815882"/>
          </a:xfrm>
          <a:prstGeom prst="rect">
            <a:avLst/>
          </a:prstGeom>
          <a:noFill/>
          <a:ln>
            <a:noFill/>
          </a:ln>
        </p:spPr>
        <p:txBody>
          <a:bodyPr wrap="square" rtlCol="0">
            <a:spAutoFit/>
          </a:bodyPr>
          <a:lstStyle/>
          <a:p>
            <a:r>
              <a:rPr lang="en-US" sz="1600" dirty="0"/>
              <a:t>[1] S. Upadhyay, U. </a:t>
            </a:r>
            <a:r>
              <a:rPr lang="en-US" sz="1600" dirty="0" err="1"/>
              <a:t>Dargyte</a:t>
            </a:r>
            <a:r>
              <a:rPr lang="en-US" sz="1600" dirty="0"/>
              <a:t>, V. D. </a:t>
            </a:r>
            <a:r>
              <a:rPr lang="en-US" sz="1600" dirty="0" err="1"/>
              <a:t>Dergachev</a:t>
            </a:r>
            <a:r>
              <a:rPr lang="en-US" sz="1600" dirty="0"/>
              <a:t>, R. P. Prater, S. A. </a:t>
            </a:r>
            <a:r>
              <a:rPr lang="en-US" sz="1600" dirty="0" err="1"/>
              <a:t>Varganov</a:t>
            </a:r>
            <a:r>
              <a:rPr lang="en-US" sz="1600" dirty="0"/>
              <a:t>, T. V. </a:t>
            </a:r>
            <a:r>
              <a:rPr lang="en-US" sz="1600" dirty="0" err="1"/>
              <a:t>Tscherbul</a:t>
            </a:r>
            <a:r>
              <a:rPr lang="en-US" sz="1600" dirty="0"/>
              <a:t>, D. Patterson, and J. D. Weinstein, Spin coherence and optical properties of alkali-metal atoms in solid parahydrogen, Phys. Rev. A </a:t>
            </a:r>
            <a:r>
              <a:rPr lang="en-US" sz="1600" b="1" dirty="0"/>
              <a:t>100</a:t>
            </a:r>
            <a:r>
              <a:rPr lang="en-US" sz="1600" dirty="0"/>
              <a:t>, 063419 (2019).</a:t>
            </a:r>
          </a:p>
          <a:p>
            <a:r>
              <a:rPr lang="en-US" sz="1600" dirty="0"/>
              <a:t>[2] U. </a:t>
            </a:r>
            <a:r>
              <a:rPr lang="en-US" sz="1600" dirty="0" err="1"/>
              <a:t>Dargyte</a:t>
            </a:r>
            <a:r>
              <a:rPr lang="en-US" sz="1600" dirty="0"/>
              <a:t>, D. M. Lancaster, and J. D. Weinstein, </a:t>
            </a:r>
            <a:r>
              <a:rPr lang="en-US" sz="1600" i="1" dirty="0"/>
              <a:t>Optical and spin-coherence properties of rubidium atoms trapped in solid neon</a:t>
            </a:r>
            <a:r>
              <a:rPr lang="en-US" sz="1600" dirty="0"/>
              <a:t>, Phys. Rev. A </a:t>
            </a:r>
            <a:r>
              <a:rPr lang="en-US" sz="1600" b="1" dirty="0"/>
              <a:t>104</a:t>
            </a:r>
            <a:r>
              <a:rPr lang="en-US" sz="1600" dirty="0"/>
              <a:t>, 032611 (2021).</a:t>
            </a:r>
          </a:p>
          <a:p>
            <a:r>
              <a:rPr lang="en-US" sz="1600" dirty="0"/>
              <a:t>[3] A. N. </a:t>
            </a:r>
            <a:r>
              <a:rPr lang="en-US" sz="1600" dirty="0" err="1"/>
              <a:t>Kanagin</a:t>
            </a:r>
            <a:r>
              <a:rPr lang="en-US" sz="1600" dirty="0"/>
              <a:t>, N. de </a:t>
            </a:r>
            <a:r>
              <a:rPr lang="en-US" sz="1600" dirty="0" err="1"/>
              <a:t>Zordo</a:t>
            </a:r>
            <a:r>
              <a:rPr lang="en-US" sz="1600" dirty="0"/>
              <a:t>, A. Angerer, W. Kersten, N. Lagos, J. </a:t>
            </a:r>
            <a:r>
              <a:rPr lang="en-US" sz="1600" dirty="0" err="1"/>
              <a:t>Schmiedmayer</a:t>
            </a:r>
            <a:r>
              <a:rPr lang="en-US" sz="1600" dirty="0"/>
              <a:t>, and E. S. </a:t>
            </a:r>
            <a:r>
              <a:rPr lang="en-US" sz="1600" dirty="0" err="1"/>
              <a:t>Redchenko</a:t>
            </a:r>
            <a:r>
              <a:rPr lang="en-US" sz="1600" dirty="0"/>
              <a:t>, Impurities in cryogenic solids: a new platform for hybrid quantum systems, arXiv:2508.21651 (2025).</a:t>
            </a:r>
          </a:p>
          <a:p>
            <a:r>
              <a:rPr lang="en-US" sz="1600" dirty="0"/>
              <a:t>[4] D. A. Steck, </a:t>
            </a:r>
            <a:r>
              <a:rPr lang="en-US" sz="1600" i="1" dirty="0"/>
              <a:t>Rubidium 85 D Line Data</a:t>
            </a:r>
            <a:r>
              <a:rPr lang="en-US" sz="1600" dirty="0"/>
              <a:t>, available online at </a:t>
            </a:r>
            <a:r>
              <a:rPr lang="en-US" sz="1600" dirty="0">
                <a:hlinkClick r:id="rId3"/>
              </a:rPr>
              <a:t>http://steck.us/alkalidata</a:t>
            </a:r>
            <a:r>
              <a:rPr lang="en-US" sz="1600" dirty="0"/>
              <a:t> (revision 2.1.6, 20 September 2013).</a:t>
            </a:r>
          </a:p>
          <a:p>
            <a:r>
              <a:rPr lang="en-US" sz="1600" dirty="0"/>
              <a:t>[5] I. S. Grant and W. R. Phillips, </a:t>
            </a:r>
            <a:r>
              <a:rPr lang="en-US" sz="1600" i="1" dirty="0"/>
              <a:t>Electromagnetism</a:t>
            </a:r>
            <a:r>
              <a:rPr lang="en-US" sz="1600" dirty="0"/>
              <a:t>, 2nd ed., Manchester Physics Series (John Wiley &amp; Sons, Chichester, 2008).</a:t>
            </a:r>
          </a:p>
        </p:txBody>
      </p:sp>
      <p:sp>
        <p:nvSpPr>
          <p:cNvPr id="1073" name="Rectangle 1072">
            <a:extLst>
              <a:ext uri="{FF2B5EF4-FFF2-40B4-BE49-F238E27FC236}">
                <a16:creationId xmlns:a16="http://schemas.microsoft.com/office/drawing/2014/main" id="{34D97F93-14F7-1F97-FEB4-2771989147C0}"/>
              </a:ext>
            </a:extLst>
          </p:cNvPr>
          <p:cNvSpPr>
            <a:spLocks noGrp="1" noRot="1" noMove="1" noResize="1" noEditPoints="1" noAdjustHandles="1" noChangeArrowheads="1" noChangeShapeType="1"/>
          </p:cNvSpPr>
          <p:nvPr/>
        </p:nvSpPr>
        <p:spPr>
          <a:xfrm>
            <a:off x="15044053" y="5583378"/>
            <a:ext cx="13716002" cy="26784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81EA40-6B23-0F73-1804-B5C3F84AFD60}"/>
              </a:ext>
            </a:extLst>
          </p:cNvPr>
          <p:cNvSpPr>
            <a:spLocks noGrp="1" noRot="1" noMove="1" noResize="1" noEditPoints="1" noAdjustHandles="1" noChangeArrowheads="1" noChangeShapeType="1"/>
          </p:cNvSpPr>
          <p:nvPr/>
        </p:nvSpPr>
        <p:spPr>
          <a:xfrm>
            <a:off x="295537" y="12289713"/>
            <a:ext cx="13682767" cy="200836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30" name="Rectangle 1029">
            <a:extLst>
              <a:ext uri="{FF2B5EF4-FFF2-40B4-BE49-F238E27FC236}">
                <a16:creationId xmlns:a16="http://schemas.microsoft.com/office/drawing/2014/main" id="{1522CC93-A8E1-B637-CB2D-FACDBE2F5035}"/>
              </a:ext>
            </a:extLst>
          </p:cNvPr>
          <p:cNvSpPr>
            <a:spLocks noGrp="1" noRot="1" noMove="1" noResize="1" noEditPoints="1" noAdjustHandles="1" noChangeArrowheads="1" noChangeShapeType="1"/>
          </p:cNvSpPr>
          <p:nvPr/>
        </p:nvSpPr>
        <p:spPr>
          <a:xfrm>
            <a:off x="283028" y="5588925"/>
            <a:ext cx="13694229" cy="63989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2ECA150-542A-3279-13F8-83C89CF0F974}"/>
              </a:ext>
            </a:extLst>
          </p:cNvPr>
          <p:cNvSpPr/>
          <p:nvPr/>
        </p:nvSpPr>
        <p:spPr>
          <a:xfrm>
            <a:off x="29825074" y="23944394"/>
            <a:ext cx="13716000" cy="53459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7BE23163-D77A-CEE7-EFEF-7A6CA0D50E37}"/>
              </a:ext>
            </a:extLst>
          </p:cNvPr>
          <p:cNvSpPr>
            <a:spLocks noGrp="1" noRot="1" noMove="1" noResize="1" noEditPoints="1" noAdjustHandles="1" noChangeArrowheads="1" noChangeShapeType="1"/>
          </p:cNvSpPr>
          <p:nvPr/>
        </p:nvSpPr>
        <p:spPr>
          <a:xfrm>
            <a:off x="29826856" y="5583379"/>
            <a:ext cx="13716001" cy="18120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8800" b="1" dirty="0"/>
          </a:p>
        </p:txBody>
      </p:sp>
      <p:sp>
        <p:nvSpPr>
          <p:cNvPr id="5" name="Rectangle 4"/>
          <p:cNvSpPr/>
          <p:nvPr/>
        </p:nvSpPr>
        <p:spPr>
          <a:xfrm>
            <a:off x="0" y="0"/>
            <a:ext cx="43891200" cy="4267200"/>
          </a:xfrm>
          <a:prstGeom prst="rect">
            <a:avLst/>
          </a:prstGeom>
          <a:solidFill>
            <a:srgbClr val="571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550545"/>
            <a:ext cx="43891200" cy="2954655"/>
          </a:xfrm>
          <a:prstGeom prst="rect">
            <a:avLst/>
          </a:prstGeom>
          <a:noFill/>
        </p:spPr>
        <p:txBody>
          <a:bodyPr wrap="square" rtlCol="0">
            <a:spAutoFit/>
          </a:bodyPr>
          <a:lstStyle/>
          <a:p>
            <a:pPr algn="ctr"/>
            <a:r>
              <a:rPr lang="en-US" dirty="0">
                <a:solidFill>
                  <a:schemeClr val="bg1"/>
                </a:solidFill>
              </a:rPr>
              <a:t>POSTER TITLE</a:t>
            </a:r>
          </a:p>
          <a:p>
            <a:pPr algn="ctr"/>
            <a:r>
              <a:rPr lang="en-US" sz="5600" dirty="0">
                <a:solidFill>
                  <a:schemeClr val="bg1"/>
                </a:solidFill>
              </a:rPr>
              <a:t>Author List</a:t>
            </a:r>
          </a:p>
          <a:p>
            <a:pPr algn="ctr"/>
            <a:r>
              <a:rPr lang="en-US" sz="4400" dirty="0">
                <a:solidFill>
                  <a:schemeClr val="bg1"/>
                </a:solidFill>
              </a:rPr>
              <a:t>Department of Biomedical Engineering, Northwestern University, Evanston, IL, USA</a:t>
            </a:r>
          </a:p>
        </p:txBody>
      </p:sp>
      <p:pic>
        <p:nvPicPr>
          <p:cNvPr id="11" name="Picture 10" descr="NU_Logo_white.png"/>
          <p:cNvPicPr>
            <a:picLocks noChangeAspect="1"/>
          </p:cNvPicPr>
          <p:nvPr/>
        </p:nvPicPr>
        <p:blipFill>
          <a:blip r:embed="rId4" cstate="print"/>
          <a:stretch>
            <a:fillRect/>
          </a:stretch>
        </p:blipFill>
        <p:spPr>
          <a:xfrm>
            <a:off x="1066800" y="228600"/>
            <a:ext cx="6113233" cy="3657600"/>
          </a:xfrm>
          <a:prstGeom prst="rect">
            <a:avLst/>
          </a:prstGeom>
        </p:spPr>
      </p:pic>
      <p:sp>
        <p:nvSpPr>
          <p:cNvPr id="43" name="TextBox 42"/>
          <p:cNvSpPr txBox="1"/>
          <p:nvPr/>
        </p:nvSpPr>
        <p:spPr>
          <a:xfrm>
            <a:off x="261257" y="5583378"/>
            <a:ext cx="137160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Introduction</a:t>
            </a:r>
          </a:p>
        </p:txBody>
      </p:sp>
      <p:sp>
        <p:nvSpPr>
          <p:cNvPr id="44" name="TextBox 43"/>
          <p:cNvSpPr txBox="1"/>
          <p:nvPr/>
        </p:nvSpPr>
        <p:spPr>
          <a:xfrm>
            <a:off x="15044057" y="5583378"/>
            <a:ext cx="137160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Broadening Model</a:t>
            </a:r>
          </a:p>
        </p:txBody>
      </p:sp>
      <p:sp>
        <p:nvSpPr>
          <p:cNvPr id="45" name="TextBox 44"/>
          <p:cNvSpPr txBox="1"/>
          <p:nvPr/>
        </p:nvSpPr>
        <p:spPr>
          <a:xfrm>
            <a:off x="29826857" y="5583378"/>
            <a:ext cx="137160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Results</a:t>
            </a:r>
          </a:p>
        </p:txBody>
      </p:sp>
      <p:sp>
        <p:nvSpPr>
          <p:cNvPr id="46" name="TextBox 45"/>
          <p:cNvSpPr txBox="1">
            <a:spLocks noGrp="1" noRot="1" noMove="1" noResize="1" noEditPoints="1" noAdjustHandles="1" noChangeArrowheads="1" noChangeShapeType="1"/>
          </p:cNvSpPr>
          <p:nvPr/>
        </p:nvSpPr>
        <p:spPr>
          <a:xfrm>
            <a:off x="261257" y="12289713"/>
            <a:ext cx="137160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Spin-Spin Interaction Model</a:t>
            </a:r>
          </a:p>
        </p:txBody>
      </p:sp>
      <p:sp>
        <p:nvSpPr>
          <p:cNvPr id="49" name="TextBox 48"/>
          <p:cNvSpPr txBox="1"/>
          <p:nvPr/>
        </p:nvSpPr>
        <p:spPr>
          <a:xfrm>
            <a:off x="29851398" y="29717171"/>
            <a:ext cx="13716000" cy="861774"/>
          </a:xfrm>
          <a:prstGeom prst="rect">
            <a:avLst/>
          </a:prstGeom>
          <a:solidFill>
            <a:srgbClr val="4E2A84"/>
          </a:solidFill>
        </p:spPr>
        <p:txBody>
          <a:bodyPr wrap="square" rtlCol="0">
            <a:spAutoFit/>
          </a:bodyPr>
          <a:lstStyle/>
          <a:p>
            <a:pPr algn="ctr"/>
            <a:r>
              <a:rPr lang="en-US" sz="5000" b="1" dirty="0">
                <a:solidFill>
                  <a:schemeClr val="bg1"/>
                </a:solidFill>
                <a:latin typeface="Arial" pitchFamily="34" charset="0"/>
                <a:cs typeface="Arial" pitchFamily="34" charset="0"/>
              </a:rPr>
              <a:t>References &amp; Acknowledgements</a:t>
            </a:r>
          </a:p>
        </p:txBody>
      </p:sp>
      <p:sp>
        <p:nvSpPr>
          <p:cNvPr id="21" name="Rectangle 20"/>
          <p:cNvSpPr/>
          <p:nvPr/>
        </p:nvSpPr>
        <p:spPr>
          <a:xfrm>
            <a:off x="0" y="0"/>
            <a:ext cx="43891200" cy="5032833"/>
          </a:xfrm>
          <a:prstGeom prst="rect">
            <a:avLst/>
          </a:prstGeom>
          <a:solidFill>
            <a:srgbClr val="4E2A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0" y="550545"/>
            <a:ext cx="43891200" cy="4278094"/>
          </a:xfrm>
          <a:prstGeom prst="rect">
            <a:avLst/>
          </a:prstGeom>
          <a:noFill/>
        </p:spPr>
        <p:txBody>
          <a:bodyPr wrap="square" rtlCol="0">
            <a:spAutoFit/>
          </a:bodyPr>
          <a:lstStyle/>
          <a:p>
            <a:pPr algn="ctr"/>
            <a:r>
              <a:rPr lang="en-US" dirty="0">
                <a:solidFill>
                  <a:schemeClr val="bg1"/>
                </a:solidFill>
              </a:rPr>
              <a:t>Modeling Inhomogeneous Broadening through Spin-Spin Interactions</a:t>
            </a:r>
          </a:p>
          <a:p>
            <a:pPr algn="ctr"/>
            <a:r>
              <a:rPr lang="en-US" dirty="0">
                <a:solidFill>
                  <a:schemeClr val="bg1"/>
                </a:solidFill>
              </a:rPr>
              <a:t>in Matrix Isolated Spin Ensembles</a:t>
            </a:r>
          </a:p>
          <a:p>
            <a:pPr algn="ctr"/>
            <a:r>
              <a:rPr lang="en-US" sz="5600" dirty="0">
                <a:solidFill>
                  <a:schemeClr val="bg1"/>
                </a:solidFill>
              </a:rPr>
              <a:t>Isaac Cross</a:t>
            </a:r>
          </a:p>
          <a:p>
            <a:pPr algn="ctr"/>
            <a:r>
              <a:rPr lang="en-US" sz="4400" dirty="0">
                <a:solidFill>
                  <a:schemeClr val="bg1"/>
                </a:solidFill>
              </a:rPr>
              <a:t>Northwestern University, Evanston, IL</a:t>
            </a:r>
          </a:p>
        </p:txBody>
      </p:sp>
      <p:pic>
        <p:nvPicPr>
          <p:cNvPr id="2" name="Picture 1" descr="Northwestern University - Wikipedia">
            <a:extLst>
              <a:ext uri="{FF2B5EF4-FFF2-40B4-BE49-F238E27FC236}">
                <a16:creationId xmlns:a16="http://schemas.microsoft.com/office/drawing/2014/main" id="{255748C6-26BC-0D3A-7DC2-2E9DB8C1A5B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9273" y="738109"/>
            <a:ext cx="3603172" cy="360317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72B81EA-5692-C053-9B83-7218A68BFD6C}"/>
              </a:ext>
            </a:extLst>
          </p:cNvPr>
          <p:cNvSpPr txBox="1"/>
          <p:nvPr/>
        </p:nvSpPr>
        <p:spPr>
          <a:xfrm>
            <a:off x="29833782" y="23944393"/>
            <a:ext cx="13716000" cy="1077218"/>
          </a:xfrm>
          <a:prstGeom prst="rect">
            <a:avLst/>
          </a:prstGeom>
          <a:solidFill>
            <a:srgbClr val="4E2A84"/>
          </a:solidFill>
        </p:spPr>
        <p:txBody>
          <a:bodyPr wrap="square" rtlCol="0">
            <a:spAutoFit/>
          </a:bodyPr>
          <a:lstStyle/>
          <a:p>
            <a:pPr algn="ctr"/>
            <a:r>
              <a:rPr lang="en-US" sz="6200" b="1" dirty="0">
                <a:solidFill>
                  <a:schemeClr val="bg1"/>
                </a:solidFill>
                <a:latin typeface="Arial" pitchFamily="34" charset="0"/>
                <a:cs typeface="Arial" pitchFamily="34" charset="0"/>
              </a:rPr>
              <a:t>Conclusion</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21DDB845-378E-0CB3-D8DF-C347B47B3CD5}"/>
                  </a:ext>
                </a:extLst>
              </p:cNvPr>
              <p:cNvSpPr txBox="1"/>
              <p:nvPr/>
            </p:nvSpPr>
            <p:spPr>
              <a:xfrm>
                <a:off x="942608" y="20869517"/>
                <a:ext cx="5931945" cy="655885"/>
              </a:xfrm>
              <a:prstGeom prst="rect">
                <a:avLst/>
              </a:prstGeom>
              <a:noFill/>
            </p:spPr>
            <p:txBody>
              <a:bodyPr wrap="none" lIns="0" tIns="0" rIns="0" bIns="0" rtlCol="0">
                <a:spAutoFit/>
              </a:bodyPr>
              <a:lstStyle/>
              <a:p>
                <a14:m>
                  <m:oMath xmlns:m="http://schemas.openxmlformats.org/officeDocument/2006/math">
                    <m:r>
                      <a:rPr lang="en-US" sz="3200" b="1" i="1" smtClean="0">
                        <a:latin typeface="Cambria Math" panose="02040503050406030204" pitchFamily="18" charset="0"/>
                      </a:rPr>
                      <m:t>𝑩</m:t>
                    </m:r>
                    <m:d>
                      <m:dPr>
                        <m:ctrlPr>
                          <a:rPr lang="en-US" sz="3200" b="1" i="1">
                            <a:latin typeface="Cambria Math" panose="02040503050406030204" pitchFamily="18" charset="0"/>
                          </a:rPr>
                        </m:ctrlPr>
                      </m:dPr>
                      <m:e>
                        <m:r>
                          <a:rPr lang="en-US" sz="3200" b="1" i="1">
                            <a:latin typeface="Cambria Math" panose="02040503050406030204" pitchFamily="18" charset="0"/>
                          </a:rPr>
                          <m:t>𝒓</m:t>
                        </m:r>
                        <m:r>
                          <a:rPr lang="en-US" sz="3200" b="1" i="1" smtClean="0">
                            <a:latin typeface="Cambria Math" panose="02040503050406030204" pitchFamily="18" charset="0"/>
                          </a:rPr>
                          <m:t>,</m:t>
                        </m:r>
                        <m:r>
                          <a:rPr lang="en-US" sz="3200" b="1" i="1" smtClean="0">
                            <a:latin typeface="Cambria Math" panose="02040503050406030204" pitchFamily="18" charset="0"/>
                          </a:rPr>
                          <m:t>𝒎</m:t>
                        </m:r>
                      </m:e>
                    </m:d>
                    <m:r>
                      <a:rPr lang="en-US" sz="3200" i="1">
                        <a:latin typeface="Cambria Math" panose="02040503050406030204" pitchFamily="18" charset="0"/>
                      </a:rPr>
                      <m:t>=</m:t>
                    </m:r>
                    <m:f>
                      <m:fPr>
                        <m:ctrlPr>
                          <a:rPr lang="en-US" sz="3200" i="1">
                            <a:latin typeface="Cambria Math" panose="02040503050406030204" pitchFamily="18" charset="0"/>
                          </a:rPr>
                        </m:ctrlPr>
                      </m:fPr>
                      <m:num>
                        <m:sSub>
                          <m:sSubPr>
                            <m:ctrlPr>
                              <a:rPr lang="en-US" sz="3200" i="1">
                                <a:latin typeface="Cambria Math" panose="02040503050406030204" pitchFamily="18" charset="0"/>
                              </a:rPr>
                            </m:ctrlPr>
                          </m:sSubPr>
                          <m:e>
                            <m:r>
                              <a:rPr lang="en-US" sz="3200" i="1">
                                <a:latin typeface="Cambria Math" panose="02040503050406030204" pitchFamily="18" charset="0"/>
                              </a:rPr>
                              <m:t>𝜇</m:t>
                            </m:r>
                          </m:e>
                          <m:sub>
                            <m:r>
                              <a:rPr lang="en-US" sz="3200" i="1">
                                <a:latin typeface="Cambria Math" panose="02040503050406030204" pitchFamily="18" charset="0"/>
                              </a:rPr>
                              <m:t>0</m:t>
                            </m:r>
                          </m:sub>
                        </m:sSub>
                      </m:num>
                      <m:den>
                        <m:r>
                          <a:rPr lang="en-US" sz="3200" i="1">
                            <a:latin typeface="Cambria Math" panose="02040503050406030204" pitchFamily="18" charset="0"/>
                          </a:rPr>
                          <m:t>4</m:t>
                        </m:r>
                        <m:r>
                          <a:rPr lang="en-US" sz="3200" i="1">
                            <a:latin typeface="Cambria Math" panose="02040503050406030204" pitchFamily="18" charset="0"/>
                          </a:rPr>
                          <m:t>𝜋</m:t>
                        </m:r>
                        <m:sSup>
                          <m:sSupPr>
                            <m:ctrlPr>
                              <a:rPr lang="en-US" sz="3200" i="1">
                                <a:latin typeface="Cambria Math" panose="02040503050406030204" pitchFamily="18" charset="0"/>
                              </a:rPr>
                            </m:ctrlPr>
                          </m:sSupPr>
                          <m:e>
                            <m:r>
                              <a:rPr lang="en-US" sz="3200" i="1">
                                <a:latin typeface="Cambria Math" panose="02040503050406030204" pitchFamily="18" charset="0"/>
                              </a:rPr>
                              <m:t>𝑟</m:t>
                            </m:r>
                          </m:e>
                          <m:sup>
                            <m:r>
                              <a:rPr lang="en-US" sz="3200" i="1">
                                <a:latin typeface="Cambria Math" panose="02040503050406030204" pitchFamily="18" charset="0"/>
                              </a:rPr>
                              <m:t>3</m:t>
                            </m:r>
                          </m:sup>
                        </m:sSup>
                      </m:den>
                    </m:f>
                    <m:d>
                      <m:dPr>
                        <m:begChr m:val="["/>
                        <m:endChr m:val="]"/>
                        <m:ctrlPr>
                          <a:rPr lang="en-US" sz="3200" i="1">
                            <a:latin typeface="Cambria Math" panose="02040503050406030204" pitchFamily="18" charset="0"/>
                          </a:rPr>
                        </m:ctrlPr>
                      </m:dPr>
                      <m:e>
                        <m:r>
                          <a:rPr lang="en-US" sz="3200" i="1">
                            <a:latin typeface="Cambria Math" panose="02040503050406030204" pitchFamily="18" charset="0"/>
                          </a:rPr>
                          <m:t>3</m:t>
                        </m:r>
                        <m:acc>
                          <m:accPr>
                            <m:chr m:val="̂"/>
                            <m:ctrlPr>
                              <a:rPr lang="en-US" sz="3200" b="1" i="1">
                                <a:latin typeface="Cambria Math" panose="02040503050406030204" pitchFamily="18" charset="0"/>
                              </a:rPr>
                            </m:ctrlPr>
                          </m:accPr>
                          <m:e>
                            <m:r>
                              <a:rPr lang="en-US" sz="3200" b="1" i="1">
                                <a:latin typeface="Cambria Math" panose="02040503050406030204" pitchFamily="18" charset="0"/>
                              </a:rPr>
                              <m:t>𝒓</m:t>
                            </m:r>
                          </m:e>
                        </m:acc>
                        <m:r>
                          <a:rPr lang="en-US" sz="3200" b="1" i="1">
                            <a:latin typeface="Cambria Math" panose="02040503050406030204" pitchFamily="18" charset="0"/>
                          </a:rPr>
                          <m:t>⋅</m:t>
                        </m:r>
                        <m:d>
                          <m:dPr>
                            <m:ctrlPr>
                              <a:rPr lang="en-US" sz="3200" b="1" i="1">
                                <a:latin typeface="Cambria Math" panose="02040503050406030204" pitchFamily="18" charset="0"/>
                              </a:rPr>
                            </m:ctrlPr>
                          </m:dPr>
                          <m:e>
                            <m:r>
                              <a:rPr lang="en-US" sz="3200" b="1" i="1">
                                <a:latin typeface="Cambria Math" panose="02040503050406030204" pitchFamily="18" charset="0"/>
                              </a:rPr>
                              <m:t>𝒎</m:t>
                            </m:r>
                            <m:r>
                              <a:rPr lang="en-US" sz="3200" b="1" i="1">
                                <a:latin typeface="Cambria Math" panose="02040503050406030204" pitchFamily="18" charset="0"/>
                              </a:rPr>
                              <m:t>⋅</m:t>
                            </m:r>
                            <m:acc>
                              <m:accPr>
                                <m:chr m:val="̂"/>
                                <m:ctrlPr>
                                  <a:rPr lang="en-US" sz="3200" b="1" i="1">
                                    <a:latin typeface="Cambria Math" panose="02040503050406030204" pitchFamily="18" charset="0"/>
                                  </a:rPr>
                                </m:ctrlPr>
                              </m:accPr>
                              <m:e>
                                <m:r>
                                  <a:rPr lang="en-US" sz="3200" b="1" i="1">
                                    <a:latin typeface="Cambria Math" panose="02040503050406030204" pitchFamily="18" charset="0"/>
                                  </a:rPr>
                                  <m:t>𝒓</m:t>
                                </m:r>
                              </m:e>
                            </m:acc>
                          </m:e>
                        </m:d>
                        <m:r>
                          <a:rPr lang="en-US" sz="3200" b="1" i="1">
                            <a:latin typeface="Cambria Math" panose="02040503050406030204" pitchFamily="18" charset="0"/>
                          </a:rPr>
                          <m:t>−</m:t>
                        </m:r>
                        <m:r>
                          <a:rPr lang="en-US" sz="3200" b="1" i="1">
                            <a:latin typeface="Cambria Math" panose="02040503050406030204" pitchFamily="18" charset="0"/>
                          </a:rPr>
                          <m:t>𝒎</m:t>
                        </m:r>
                      </m:e>
                    </m:d>
                  </m:oMath>
                </a14:m>
                <a:r>
                  <a:rPr lang="en-US" sz="3200" dirty="0"/>
                  <a:t> </a:t>
                </a:r>
              </a:p>
            </p:txBody>
          </p:sp>
        </mc:Choice>
        <mc:Fallback>
          <p:sp>
            <p:nvSpPr>
              <p:cNvPr id="19" name="TextBox 18">
                <a:extLst>
                  <a:ext uri="{FF2B5EF4-FFF2-40B4-BE49-F238E27FC236}">
                    <a16:creationId xmlns:a16="http://schemas.microsoft.com/office/drawing/2014/main" id="{21DDB845-378E-0CB3-D8DF-C347B47B3CD5}"/>
                  </a:ext>
                </a:extLst>
              </p:cNvPr>
              <p:cNvSpPr txBox="1">
                <a:spLocks noRot="1" noChangeAspect="1" noMove="1" noResize="1" noEditPoints="1" noAdjustHandles="1" noChangeArrowheads="1" noChangeShapeType="1" noTextEdit="1"/>
              </p:cNvSpPr>
              <p:nvPr/>
            </p:nvSpPr>
            <p:spPr>
              <a:xfrm>
                <a:off x="942608" y="20869517"/>
                <a:ext cx="5931945" cy="65588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74FAA1C3-99F2-B1F4-211B-865F8EB07FB1}"/>
                  </a:ext>
                </a:extLst>
              </p:cNvPr>
              <p:cNvSpPr txBox="1"/>
              <p:nvPr/>
            </p:nvSpPr>
            <p:spPr>
              <a:xfrm>
                <a:off x="956814" y="23589748"/>
                <a:ext cx="7233245" cy="797462"/>
              </a:xfrm>
              <a:prstGeom prst="rect">
                <a:avLst/>
              </a:prstGeom>
              <a:noFill/>
            </p:spPr>
            <p:txBody>
              <a:bodyPr wrap="square" lIns="0" tIns="0" rIns="0" bIns="0" rtlCol="0">
                <a:spAutoFit/>
              </a:bodyPr>
              <a:lstStyle/>
              <a:p>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𝑔</m:t>
                        </m:r>
                      </m:e>
                      <m:sub>
                        <m:r>
                          <a:rPr lang="en-US" sz="3200" b="0" i="1" smtClean="0">
                            <a:latin typeface="Cambria Math" panose="02040503050406030204" pitchFamily="18" charset="0"/>
                          </a:rPr>
                          <m:t>𝐹</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𝑔</m:t>
                        </m:r>
                      </m:e>
                      <m:sub>
                        <m:r>
                          <a:rPr lang="en-US" sz="3200" b="0" i="1" smtClean="0">
                            <a:latin typeface="Cambria Math" panose="02040503050406030204" pitchFamily="18" charset="0"/>
                          </a:rPr>
                          <m:t>𝐽</m:t>
                        </m:r>
                      </m:sub>
                    </m:sSub>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𝐹</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𝐹</m:t>
                            </m:r>
                            <m:r>
                              <a:rPr lang="en-US" sz="3200" b="0" i="1" smtClean="0">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𝐼</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𝐼</m:t>
                            </m:r>
                            <m:r>
                              <a:rPr lang="en-US" sz="3200" b="0" i="1" smtClean="0">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𝐽</m:t>
                        </m:r>
                        <m:r>
                          <a:rPr lang="en-US" sz="3200" b="0" i="1" smtClean="0">
                            <a:latin typeface="Cambria Math" panose="02040503050406030204" pitchFamily="18" charset="0"/>
                          </a:rPr>
                          <m:t>(</m:t>
                        </m:r>
                        <m:r>
                          <a:rPr lang="en-US" sz="3200" b="0" i="1" smtClean="0">
                            <a:latin typeface="Cambria Math" panose="02040503050406030204" pitchFamily="18" charset="0"/>
                          </a:rPr>
                          <m:t>𝐽</m:t>
                        </m:r>
                        <m:r>
                          <a:rPr lang="en-US" sz="3200" b="0" i="1" smtClean="0">
                            <a:latin typeface="Cambria Math" panose="02040503050406030204" pitchFamily="18" charset="0"/>
                          </a:rPr>
                          <m:t>+1)</m:t>
                        </m:r>
                      </m:num>
                      <m:den>
                        <m:r>
                          <a:rPr lang="en-US" sz="3200" b="0" i="1" smtClean="0">
                            <a:latin typeface="Cambria Math" panose="02040503050406030204" pitchFamily="18" charset="0"/>
                          </a:rPr>
                          <m:t>2</m:t>
                        </m:r>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rPr>
                          <m:t>𝐹</m:t>
                        </m:r>
                        <m:r>
                          <a:rPr lang="en-US" sz="3200" b="0" i="1" smtClean="0">
                            <a:latin typeface="Cambria Math" panose="02040503050406030204" pitchFamily="18" charset="0"/>
                          </a:rPr>
                          <m:t>+1)</m:t>
                        </m:r>
                      </m:den>
                    </m:f>
                  </m:oMath>
                </a14:m>
                <a:r>
                  <a:rPr lang="en-US" sz="3200" dirty="0"/>
                  <a:t>,   </a:t>
                </a:r>
                <a14:m>
                  <m:oMath xmlns:m="http://schemas.openxmlformats.org/officeDocument/2006/math">
                    <m:sSub>
                      <m:sSubPr>
                        <m:ctrlPr>
                          <a:rPr lang="en-US" sz="3200" b="0" i="1" smtClean="0">
                            <a:latin typeface="Cambria Math" panose="02040503050406030204" pitchFamily="18" charset="0"/>
                          </a:rPr>
                        </m:ctrlPr>
                      </m:sSubPr>
                      <m:e>
                        <m:r>
                          <a:rPr lang="en-US" sz="3200" i="1">
                            <a:latin typeface="Cambria Math" panose="02040503050406030204" pitchFamily="18" charset="0"/>
                          </a:rPr>
                          <m:t>𝑔</m:t>
                        </m:r>
                      </m:e>
                      <m:sub>
                        <m:r>
                          <a:rPr lang="en-US" sz="3200" b="0" i="1" smtClean="0">
                            <a:latin typeface="Cambria Math" panose="02040503050406030204" pitchFamily="18" charset="0"/>
                          </a:rPr>
                          <m:t>𝐽</m:t>
                        </m:r>
                      </m:sub>
                    </m:sSub>
                    <m:r>
                      <a:rPr lang="en-US" sz="3200" b="0" i="1" smtClean="0">
                        <a:latin typeface="Cambria Math" panose="02040503050406030204" pitchFamily="18" charset="0"/>
                        <a:ea typeface="Cambria Math" panose="02040503050406030204" pitchFamily="18" charset="0"/>
                      </a:rPr>
                      <m:t>≈2.0023</m:t>
                    </m:r>
                  </m:oMath>
                </a14:m>
                <a:r>
                  <a:rPr lang="en-US" sz="3200" dirty="0"/>
                  <a:t> </a:t>
                </a:r>
              </a:p>
            </p:txBody>
          </p:sp>
        </mc:Choice>
        <mc:Fallback>
          <p:sp>
            <p:nvSpPr>
              <p:cNvPr id="20" name="TextBox 19">
                <a:extLst>
                  <a:ext uri="{FF2B5EF4-FFF2-40B4-BE49-F238E27FC236}">
                    <a16:creationId xmlns:a16="http://schemas.microsoft.com/office/drawing/2014/main" id="{74FAA1C3-99F2-B1F4-211B-865F8EB07FB1}"/>
                  </a:ext>
                </a:extLst>
              </p:cNvPr>
              <p:cNvSpPr txBox="1">
                <a:spLocks noRot="1" noChangeAspect="1" noMove="1" noResize="1" noEditPoints="1" noAdjustHandles="1" noChangeArrowheads="1" noChangeShapeType="1" noTextEdit="1"/>
              </p:cNvSpPr>
              <p:nvPr/>
            </p:nvSpPr>
            <p:spPr>
              <a:xfrm>
                <a:off x="956814" y="23589748"/>
                <a:ext cx="7233245" cy="797462"/>
              </a:xfrm>
              <a:prstGeom prst="rect">
                <a:avLst/>
              </a:prstGeom>
              <a:blipFill>
                <a:blip r:embed="rId7"/>
                <a:stretch>
                  <a:fillRect b="-916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C392D27A-AB5D-5A3D-793F-0BC4BA728D31}"/>
                  </a:ext>
                </a:extLst>
              </p:cNvPr>
              <p:cNvSpPr txBox="1"/>
              <p:nvPr/>
            </p:nvSpPr>
            <p:spPr>
              <a:xfrm>
                <a:off x="956815" y="22271058"/>
                <a:ext cx="3657600" cy="492443"/>
              </a:xfrm>
              <a:prstGeom prst="rect">
                <a:avLst/>
              </a:prstGeom>
              <a:noFill/>
            </p:spPr>
            <p:txBody>
              <a:bodyPr wrap="square" lIns="0" tIns="0" rIns="0" bIns="0" rtlCol="0">
                <a:spAutoFit/>
              </a:bodyPr>
              <a:lstStyle/>
              <a:p>
                <a14:m>
                  <m:oMath xmlns:m="http://schemas.openxmlformats.org/officeDocument/2006/math">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𝒎</m:t>
                        </m:r>
                        <m:r>
                          <a:rPr lang="en-US" sz="3200" b="1" i="1" smtClean="0">
                            <a:latin typeface="Cambria Math" panose="02040503050406030204" pitchFamily="18" charset="0"/>
                          </a:rPr>
                          <m:t>= </m:t>
                        </m:r>
                        <m:r>
                          <a:rPr lang="en-US" sz="3200" b="0" i="1" smtClean="0">
                            <a:latin typeface="Cambria Math" panose="02040503050406030204" pitchFamily="18" charset="0"/>
                          </a:rPr>
                          <m:t>𝑔</m:t>
                        </m:r>
                      </m:e>
                      <m:sub>
                        <m:r>
                          <a:rPr lang="en-US" sz="3200" b="0" i="1" smtClean="0">
                            <a:latin typeface="Cambria Math" panose="02040503050406030204" pitchFamily="18" charset="0"/>
                          </a:rPr>
                          <m:t>𝐹</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𝐹</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𝐵</m:t>
                        </m:r>
                      </m:sub>
                    </m:sSub>
                    <m:acc>
                      <m:accPr>
                        <m:chr m:val="̂"/>
                        <m:ctrlPr>
                          <a:rPr lang="en-US" sz="3200" b="0" i="1" smtClean="0">
                            <a:latin typeface="Cambria Math" panose="02040503050406030204" pitchFamily="18" charset="0"/>
                          </a:rPr>
                        </m:ctrlPr>
                      </m:accPr>
                      <m:e>
                        <m:r>
                          <a:rPr lang="en-US" sz="3200" b="1" i="1" smtClean="0">
                            <a:latin typeface="Cambria Math" panose="02040503050406030204" pitchFamily="18" charset="0"/>
                          </a:rPr>
                          <m:t>𝒎</m:t>
                        </m:r>
                      </m:e>
                    </m:acc>
                  </m:oMath>
                </a14:m>
                <a:r>
                  <a:rPr lang="en-US" sz="3200" dirty="0"/>
                  <a:t> </a:t>
                </a:r>
              </a:p>
            </p:txBody>
          </p:sp>
        </mc:Choice>
        <mc:Fallback>
          <p:sp>
            <p:nvSpPr>
              <p:cNvPr id="24" name="TextBox 23">
                <a:extLst>
                  <a:ext uri="{FF2B5EF4-FFF2-40B4-BE49-F238E27FC236}">
                    <a16:creationId xmlns:a16="http://schemas.microsoft.com/office/drawing/2014/main" id="{C392D27A-AB5D-5A3D-793F-0BC4BA728D31}"/>
                  </a:ext>
                </a:extLst>
              </p:cNvPr>
              <p:cNvSpPr txBox="1">
                <a:spLocks noRot="1" noChangeAspect="1" noMove="1" noResize="1" noEditPoints="1" noAdjustHandles="1" noChangeArrowheads="1" noChangeShapeType="1" noTextEdit="1"/>
              </p:cNvSpPr>
              <p:nvPr/>
            </p:nvSpPr>
            <p:spPr>
              <a:xfrm>
                <a:off x="956815" y="22271058"/>
                <a:ext cx="3657600" cy="49244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E5D36290-1800-A1FB-8B4F-88908A95B616}"/>
                  </a:ext>
                </a:extLst>
              </p:cNvPr>
              <p:cNvSpPr txBox="1"/>
              <p:nvPr/>
            </p:nvSpPr>
            <p:spPr>
              <a:xfrm>
                <a:off x="4190174" y="27159163"/>
                <a:ext cx="6345776" cy="534762"/>
              </a:xfrm>
              <a:prstGeom prst="rect">
                <a:avLst/>
              </a:prstGeom>
              <a:noFill/>
            </p:spPr>
            <p:txBody>
              <a:bodyPr wrap="none" lIns="0" tIns="0" rIns="0" bIns="0" rtlCol="0">
                <a:spAutoFit/>
              </a:bodyPr>
              <a:lstStyle/>
              <a:p>
                <a:r>
                  <a:rPr lang="en-US" sz="3200" b="0" dirty="0"/>
                  <a:t>Zeeman Shift: </a:t>
                </a:r>
                <a14:m>
                  <m:oMath xmlns:m="http://schemas.openxmlformats.org/officeDocument/2006/math">
                    <m:r>
                      <m:rPr>
                        <m:sty m:val="p"/>
                      </m:rPr>
                      <a:rPr lang="en-US" sz="3200" b="0" i="0" smtClean="0">
                        <a:latin typeface="Cambria Math" panose="02040503050406030204" pitchFamily="18" charset="0"/>
                      </a:rPr>
                      <m:t>Δ</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𝐸</m:t>
                        </m:r>
                      </m:e>
                      <m:sub>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𝐹</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𝐹</m:t>
                                </m:r>
                              </m:sub>
                            </m:sSub>
                          </m:e>
                        </m:d>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𝐵</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𝑔</m:t>
                        </m:r>
                      </m:e>
                      <m:sub>
                        <m:r>
                          <a:rPr lang="en-US" sz="3200" b="0" i="1" smtClean="0">
                            <a:latin typeface="Cambria Math" panose="02040503050406030204" pitchFamily="18" charset="0"/>
                          </a:rPr>
                          <m:t>𝐹</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𝐹</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𝐵</m:t>
                        </m:r>
                      </m:e>
                      <m:sub>
                        <m:r>
                          <a:rPr lang="en-US" sz="3200" b="0" i="1" smtClean="0">
                            <a:latin typeface="Cambria Math" panose="02040503050406030204" pitchFamily="18" charset="0"/>
                          </a:rPr>
                          <m:t>𝑧</m:t>
                        </m:r>
                      </m:sub>
                    </m:sSub>
                  </m:oMath>
                </a14:m>
                <a:r>
                  <a:rPr lang="en-US" sz="3200" dirty="0"/>
                  <a:t> </a:t>
                </a:r>
              </a:p>
            </p:txBody>
          </p:sp>
        </mc:Choice>
        <mc:Fallback>
          <p:sp>
            <p:nvSpPr>
              <p:cNvPr id="26" name="TextBox 25">
                <a:extLst>
                  <a:ext uri="{FF2B5EF4-FFF2-40B4-BE49-F238E27FC236}">
                    <a16:creationId xmlns:a16="http://schemas.microsoft.com/office/drawing/2014/main" id="{E5D36290-1800-A1FB-8B4F-88908A95B616}"/>
                  </a:ext>
                </a:extLst>
              </p:cNvPr>
              <p:cNvSpPr txBox="1">
                <a:spLocks noRot="1" noChangeAspect="1" noMove="1" noResize="1" noEditPoints="1" noAdjustHandles="1" noChangeArrowheads="1" noChangeShapeType="1" noTextEdit="1"/>
              </p:cNvSpPr>
              <p:nvPr/>
            </p:nvSpPr>
            <p:spPr>
              <a:xfrm>
                <a:off x="4190174" y="27159163"/>
                <a:ext cx="6345776" cy="534762"/>
              </a:xfrm>
              <a:prstGeom prst="rect">
                <a:avLst/>
              </a:prstGeom>
              <a:blipFill>
                <a:blip r:embed="rId9"/>
                <a:stretch>
                  <a:fillRect l="-3842" t="-21591" b="-38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241688E9-85F2-9B79-F8B7-FBB5614CAE56}"/>
                  </a:ext>
                </a:extLst>
              </p:cNvPr>
              <p:cNvSpPr txBox="1"/>
              <p:nvPr/>
            </p:nvSpPr>
            <p:spPr>
              <a:xfrm>
                <a:off x="1476502" y="31232515"/>
                <a:ext cx="11779766" cy="843885"/>
              </a:xfrm>
              <a:prstGeom prst="rect">
                <a:avLst/>
              </a:prstGeom>
              <a:noFill/>
            </p:spPr>
            <p:txBody>
              <a:bodyPr wrap="square" lIns="0" tIns="0" rIns="0" bIns="0" rtlCol="0">
                <a:spAutoFit/>
              </a:bodyPr>
              <a:lstStyle/>
              <a:p>
                <a14:m>
                  <m:oMath xmlns:m="http://schemas.openxmlformats.org/officeDocument/2006/math">
                    <m:r>
                      <m:rPr>
                        <m:sty m:val="p"/>
                      </m:rPr>
                      <a:rPr lang="en-US" sz="3200" b="0" i="0" smtClean="0">
                        <a:latin typeface="Cambria Math" panose="02040503050406030204" pitchFamily="18" charset="0"/>
                      </a:rPr>
                      <m:t>Δ</m:t>
                    </m:r>
                    <m:r>
                      <a:rPr lang="en-US" sz="3200" b="0" i="1" smtClean="0">
                        <a:latin typeface="Cambria Math" panose="02040503050406030204" pitchFamily="18" charset="0"/>
                      </a:rPr>
                      <m:t>𝜈</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m:rPr>
                            <m:sty m:val="p"/>
                          </m:rPr>
                          <a:rPr lang="en-US" sz="3200">
                            <a:latin typeface="Cambria Math" panose="02040503050406030204" pitchFamily="18" charset="0"/>
                          </a:rPr>
                          <m:t>Δ</m:t>
                        </m:r>
                        <m:sSub>
                          <m:sSubPr>
                            <m:ctrlPr>
                              <a:rPr lang="en-US" sz="3200" i="1">
                                <a:latin typeface="Cambria Math" panose="02040503050406030204" pitchFamily="18" charset="0"/>
                              </a:rPr>
                            </m:ctrlPr>
                          </m:sSubPr>
                          <m:e>
                            <m:r>
                              <a:rPr lang="en-US" sz="3200" i="1">
                                <a:latin typeface="Cambria Math" panose="02040503050406030204" pitchFamily="18" charset="0"/>
                              </a:rPr>
                              <m:t>𝐸</m:t>
                            </m:r>
                          </m:e>
                          <m:sub>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2</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𝑚</m:t>
                                    </m:r>
                                  </m:e>
                                  <m:sub>
                                    <m:r>
                                      <a:rPr lang="en-US" sz="3200" i="1">
                                        <a:latin typeface="Cambria Math" panose="02040503050406030204" pitchFamily="18" charset="0"/>
                                      </a:rPr>
                                      <m:t>𝐹</m:t>
                                    </m:r>
                                    <m:r>
                                      <a:rPr lang="en-US" sz="3200" i="1">
                                        <a:latin typeface="Cambria Math" panose="02040503050406030204" pitchFamily="18" charset="0"/>
                                      </a:rPr>
                                      <m:t>,2</m:t>
                                    </m:r>
                                  </m:sub>
                                </m:sSub>
                              </m:e>
                            </m:d>
                          </m:sub>
                        </m:sSub>
                        <m:r>
                          <a:rPr lang="en-US" sz="3200" i="1">
                            <a:latin typeface="Cambria Math" panose="02040503050406030204" pitchFamily="18" charset="0"/>
                          </a:rPr>
                          <m:t> −</m:t>
                        </m:r>
                        <m:r>
                          <m:rPr>
                            <m:sty m:val="p"/>
                          </m:rPr>
                          <a:rPr lang="en-US" sz="3200">
                            <a:latin typeface="Cambria Math" panose="02040503050406030204" pitchFamily="18" charset="0"/>
                          </a:rPr>
                          <m:t>Δ</m:t>
                        </m:r>
                        <m:sSub>
                          <m:sSubPr>
                            <m:ctrlPr>
                              <a:rPr lang="en-US" sz="3200" i="1">
                                <a:latin typeface="Cambria Math" panose="02040503050406030204" pitchFamily="18" charset="0"/>
                              </a:rPr>
                            </m:ctrlPr>
                          </m:sSubPr>
                          <m:e>
                            <m:r>
                              <a:rPr lang="en-US" sz="3200" i="1">
                                <a:latin typeface="Cambria Math" panose="02040503050406030204" pitchFamily="18" charset="0"/>
                              </a:rPr>
                              <m:t>𝐸</m:t>
                            </m:r>
                          </m:e>
                          <m:sub>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b="0" i="1" smtClean="0">
                                        <a:latin typeface="Cambria Math" panose="02040503050406030204" pitchFamily="18" charset="0"/>
                                      </a:rPr>
                                      <m:t>1</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𝑚</m:t>
                                    </m:r>
                                  </m:e>
                                  <m:sub>
                                    <m:r>
                                      <a:rPr lang="en-US" sz="3200" i="1">
                                        <a:latin typeface="Cambria Math" panose="02040503050406030204" pitchFamily="18" charset="0"/>
                                      </a:rPr>
                                      <m:t>𝐹</m:t>
                                    </m:r>
                                    <m:r>
                                      <a:rPr lang="en-US" sz="3200" i="1">
                                        <a:latin typeface="Cambria Math" panose="02040503050406030204" pitchFamily="18" charset="0"/>
                                      </a:rPr>
                                      <m:t>,1</m:t>
                                    </m:r>
                                  </m:sub>
                                </m:sSub>
                              </m:e>
                            </m:d>
                          </m:sub>
                        </m:sSub>
                      </m:num>
                      <m:den>
                        <m:r>
                          <a:rPr lang="en-US" sz="3200" b="0" i="1" smtClean="0">
                            <a:latin typeface="Cambria Math" panose="02040503050406030204" pitchFamily="18" charset="0"/>
                          </a:rPr>
                          <m:t>h</m:t>
                        </m:r>
                      </m:den>
                    </m:f>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m:rPr>
                            <m:sty m:val="p"/>
                          </m:rPr>
                          <a:rPr lang="en-US" sz="3200" b="0" i="0" smtClean="0">
                            <a:latin typeface="Cambria Math" panose="02040503050406030204" pitchFamily="18" charset="0"/>
                          </a:rPr>
                          <m:t>eff</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𝐵</m:t>
                        </m:r>
                      </m:e>
                      <m:sub>
                        <m:r>
                          <a:rPr lang="en-US" sz="3200" b="0" i="1" smtClean="0">
                            <a:latin typeface="Cambria Math" panose="02040503050406030204" pitchFamily="18" charset="0"/>
                          </a:rPr>
                          <m:t>𝑧</m:t>
                        </m:r>
                      </m:sub>
                    </m:sSub>
                  </m:oMath>
                </a14:m>
                <a:r>
                  <a:rPr lang="en-US" sz="3200" dirty="0"/>
                  <a: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𝛾</m:t>
                        </m:r>
                      </m:e>
                      <m:sub>
                        <m:r>
                          <m:rPr>
                            <m:sty m:val="p"/>
                          </m:rPr>
                          <a:rPr lang="en-US" sz="3200">
                            <a:latin typeface="Cambria Math" panose="02040503050406030204" pitchFamily="18" charset="0"/>
                          </a:rPr>
                          <m:t>eff</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𝐵</m:t>
                            </m:r>
                          </m:sub>
                        </m:sSub>
                      </m:num>
                      <m:den>
                        <m:r>
                          <a:rPr lang="en-US" sz="3200" b="0" i="1" smtClean="0">
                            <a:latin typeface="Cambria Math" panose="02040503050406030204" pitchFamily="18" charset="0"/>
                          </a:rPr>
                          <m:t>h</m:t>
                        </m:r>
                      </m:den>
                    </m:f>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𝑔</m:t>
                        </m:r>
                      </m:e>
                      <m: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𝐹</m:t>
                            </m:r>
                          </m:e>
                          <m:sub>
                            <m:r>
                              <a:rPr lang="en-US" sz="3200" b="0" i="1" smtClean="0">
                                <a:latin typeface="Cambria Math" panose="02040503050406030204" pitchFamily="18" charset="0"/>
                              </a:rPr>
                              <m:t>2</m:t>
                            </m:r>
                          </m:sub>
                        </m:sSub>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𝐹</m:t>
                        </m:r>
                        <m:r>
                          <a:rPr lang="en-US" sz="3200" b="0" i="1" smtClean="0">
                            <a:latin typeface="Cambria Math" panose="02040503050406030204" pitchFamily="18" charset="0"/>
                          </a:rPr>
                          <m:t>,2</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𝑔</m:t>
                        </m:r>
                      </m:e>
                      <m:sub>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b="0" i="1" smtClean="0">
                                <a:latin typeface="Cambria Math" panose="02040503050406030204" pitchFamily="18" charset="0"/>
                              </a:rPr>
                              <m:t>1</m:t>
                            </m:r>
                          </m:sub>
                        </m:sSub>
                      </m:sub>
                    </m:sSub>
                    <m:sSub>
                      <m:sSubPr>
                        <m:ctrlPr>
                          <a:rPr lang="en-US" sz="3200" i="1">
                            <a:latin typeface="Cambria Math" panose="02040503050406030204" pitchFamily="18" charset="0"/>
                          </a:rPr>
                        </m:ctrlPr>
                      </m:sSubPr>
                      <m:e>
                        <m:r>
                          <a:rPr lang="en-US" sz="3200" i="1">
                            <a:latin typeface="Cambria Math" panose="02040503050406030204" pitchFamily="18" charset="0"/>
                          </a:rPr>
                          <m:t>𝑚</m:t>
                        </m:r>
                      </m:e>
                      <m:sub>
                        <m:r>
                          <a:rPr lang="en-US" sz="3200" b="0" i="1" smtClean="0">
                            <a:latin typeface="Cambria Math" panose="02040503050406030204" pitchFamily="18" charset="0"/>
                          </a:rPr>
                          <m:t>𝐹</m:t>
                        </m:r>
                        <m:r>
                          <a:rPr lang="en-US" sz="3200" b="0" i="1" smtClean="0">
                            <a:latin typeface="Cambria Math" panose="02040503050406030204" pitchFamily="18" charset="0"/>
                          </a:rPr>
                          <m:t>,1</m:t>
                        </m:r>
                      </m:sub>
                    </m:sSub>
                    <m:r>
                      <a:rPr lang="en-US" sz="3200" b="0" i="1" smtClean="0">
                        <a:latin typeface="Cambria Math" panose="02040503050406030204" pitchFamily="18" charset="0"/>
                      </a:rPr>
                      <m:t>)</m:t>
                    </m:r>
                  </m:oMath>
                </a14:m>
                <a:r>
                  <a:rPr lang="en-US" sz="3200" dirty="0"/>
                  <a:t>  </a:t>
                </a:r>
              </a:p>
            </p:txBody>
          </p:sp>
        </mc:Choice>
        <mc:Fallback>
          <p:sp>
            <p:nvSpPr>
              <p:cNvPr id="27" name="TextBox 26">
                <a:extLst>
                  <a:ext uri="{FF2B5EF4-FFF2-40B4-BE49-F238E27FC236}">
                    <a16:creationId xmlns:a16="http://schemas.microsoft.com/office/drawing/2014/main" id="{241688E9-85F2-9B79-F8B7-FBB5614CAE56}"/>
                  </a:ext>
                </a:extLst>
              </p:cNvPr>
              <p:cNvSpPr txBox="1">
                <a:spLocks noRot="1" noChangeAspect="1" noMove="1" noResize="1" noEditPoints="1" noAdjustHandles="1" noChangeArrowheads="1" noChangeShapeType="1" noTextEdit="1"/>
              </p:cNvSpPr>
              <p:nvPr/>
            </p:nvSpPr>
            <p:spPr>
              <a:xfrm>
                <a:off x="1476502" y="31232515"/>
                <a:ext cx="11779766" cy="843885"/>
              </a:xfrm>
              <a:prstGeom prst="rect">
                <a:avLst/>
              </a:prstGeom>
              <a:blipFill>
                <a:blip r:embed="rId10"/>
                <a:stretch>
                  <a:fillRect b="-165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C9AB0092-DC5F-0694-F522-85A7CA73BC23}"/>
                  </a:ext>
                </a:extLst>
              </p:cNvPr>
              <p:cNvSpPr txBox="1"/>
              <p:nvPr/>
            </p:nvSpPr>
            <p:spPr>
              <a:xfrm>
                <a:off x="22000098" y="10780204"/>
                <a:ext cx="6575919" cy="532453"/>
              </a:xfrm>
              <a:prstGeom prst="rect">
                <a:avLst/>
              </a:prstGeom>
              <a:noFill/>
            </p:spPr>
            <p:txBody>
              <a:bodyPr wrap="square" lIns="0" tIns="0" rIns="0" bIns="0" rtlCol="0">
                <a:spAutoFit/>
              </a:bodyPr>
              <a:lstStyle/>
              <a:p>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𝑁</m:t>
                        </m:r>
                      </m:e>
                      <m:sub>
                        <m:r>
                          <a:rPr lang="en-US" sz="3200" b="0" i="1" smtClean="0">
                            <a:latin typeface="Cambria Math" panose="02040503050406030204" pitchFamily="18" charset="0"/>
                          </a:rPr>
                          <m:t>𝑛𝑒𝑖𝑔h𝑏𝑜𝑟𝑠</m:t>
                        </m:r>
                      </m:sub>
                    </m:sSub>
                    <m:r>
                      <a:rPr lang="en-US" sz="3200" b="0" i="1" smtClean="0">
                        <a:latin typeface="Cambria Math" panose="02040503050406030204" pitchFamily="18" charset="0"/>
                      </a:rPr>
                      <m:t>~</m:t>
                    </m:r>
                    <m:r>
                      <m:rPr>
                        <m:sty m:val="p"/>
                      </m:rPr>
                      <a:rPr lang="en-US" sz="3200" b="0" i="0" smtClean="0">
                        <a:latin typeface="Cambria Math" panose="02040503050406030204" pitchFamily="18" charset="0"/>
                      </a:rPr>
                      <m:t>Poisson</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𝜆</m:t>
                        </m:r>
                      </m:e>
                    </m:d>
                    <m:r>
                      <a:rPr lang="en-US" sz="3200" b="0" i="0" smtClean="0">
                        <a:latin typeface="Cambria Math" panose="02040503050406030204" pitchFamily="18" charset="0"/>
                      </a:rPr>
                      <m:t>−1</m:t>
                    </m:r>
                  </m:oMath>
                </a14:m>
                <a:r>
                  <a:rPr lang="en-US" sz="3200" dirty="0"/>
                  <a:t>,   </a:t>
                </a:r>
                <a14:m>
                  <m:oMath xmlns:m="http://schemas.openxmlformats.org/officeDocument/2006/math">
                    <m:r>
                      <a:rPr lang="en-US" sz="3200" i="1">
                        <a:latin typeface="Cambria Math" panose="02040503050406030204" pitchFamily="18" charset="0"/>
                      </a:rPr>
                      <m:t>𝜆</m:t>
                    </m:r>
                    <m:r>
                      <a:rPr lang="en-US" sz="3200" b="0" i="0" smtClean="0">
                        <a:latin typeface="Cambria Math" panose="02040503050406030204" pitchFamily="18" charset="0"/>
                      </a:rPr>
                      <m:t>=</m:t>
                    </m:r>
                    <m:r>
                      <a:rPr lang="en-US" sz="3200" b="0" i="1" smtClean="0">
                        <a:latin typeface="Cambria Math" panose="02040503050406030204" pitchFamily="18" charset="0"/>
                      </a:rPr>
                      <m:t>𝜌</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𝐿</m:t>
                        </m:r>
                      </m:e>
                      <m:sup>
                        <m:r>
                          <a:rPr lang="en-US" sz="3200" b="0" i="1" smtClean="0">
                            <a:latin typeface="Cambria Math" panose="02040503050406030204" pitchFamily="18" charset="0"/>
                          </a:rPr>
                          <m:t>3</m:t>
                        </m:r>
                      </m:sup>
                    </m:sSup>
                  </m:oMath>
                </a14:m>
                <a:r>
                  <a:rPr lang="en-US" sz="3200" dirty="0"/>
                  <a:t> </a:t>
                </a:r>
              </a:p>
            </p:txBody>
          </p:sp>
        </mc:Choice>
        <mc:Fallback>
          <p:sp>
            <p:nvSpPr>
              <p:cNvPr id="29" name="TextBox 28">
                <a:extLst>
                  <a:ext uri="{FF2B5EF4-FFF2-40B4-BE49-F238E27FC236}">
                    <a16:creationId xmlns:a16="http://schemas.microsoft.com/office/drawing/2014/main" id="{C9AB0092-DC5F-0694-F522-85A7CA73BC23}"/>
                  </a:ext>
                </a:extLst>
              </p:cNvPr>
              <p:cNvSpPr txBox="1">
                <a:spLocks noRot="1" noChangeAspect="1" noMove="1" noResize="1" noEditPoints="1" noAdjustHandles="1" noChangeArrowheads="1" noChangeShapeType="1" noTextEdit="1"/>
              </p:cNvSpPr>
              <p:nvPr/>
            </p:nvSpPr>
            <p:spPr>
              <a:xfrm>
                <a:off x="22000098" y="10780204"/>
                <a:ext cx="6575919" cy="532453"/>
              </a:xfrm>
              <a:prstGeom prst="rect">
                <a:avLst/>
              </a:prstGeom>
              <a:blipFill>
                <a:blip r:embed="rId11"/>
                <a:stretch>
                  <a:fillRect t="-20455" b="-397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35F8F6C5-B555-1BCC-8EB3-6E3A48A6A743}"/>
                  </a:ext>
                </a:extLst>
              </p:cNvPr>
              <p:cNvSpPr txBox="1"/>
              <p:nvPr/>
            </p:nvSpPr>
            <p:spPr>
              <a:xfrm>
                <a:off x="22098540" y="11922913"/>
                <a:ext cx="6575919" cy="1429750"/>
              </a:xfrm>
              <a:prstGeom prst="rect">
                <a:avLst/>
              </a:prstGeom>
              <a:noFill/>
            </p:spPr>
            <p:txBody>
              <a:bodyPr wrap="square" lIns="0" tIns="0" rIns="0" bIns="0" rtlCol="0">
                <a:spAutoFit/>
              </a:bodyPr>
              <a:lstStyle/>
              <a:p>
                <a14:m>
                  <m:oMath xmlns:m="http://schemas.openxmlformats.org/officeDocument/2006/math">
                    <m:sSub>
                      <m:sSubPr>
                        <m:ctrlPr>
                          <a:rPr lang="en-US" sz="3200" b="1" i="1" smtClean="0">
                            <a:latin typeface="Cambria Math" panose="02040503050406030204" pitchFamily="18" charset="0"/>
                          </a:rPr>
                        </m:ctrlPr>
                      </m:sSubPr>
                      <m:e>
                        <m:r>
                          <a:rPr lang="en-US" sz="3200" b="1" i="1" smtClean="0">
                            <a:latin typeface="Cambria Math" panose="02040503050406030204" pitchFamily="18" charset="0"/>
                          </a:rPr>
                          <m:t>𝒓</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𝑧</m:t>
                            </m:r>
                          </m:e>
                          <m:sub>
                            <m:r>
                              <a:rPr lang="en-US" sz="3200" b="0" i="1" smtClean="0">
                                <a:latin typeface="Cambria Math" panose="02040503050406030204" pitchFamily="18" charset="0"/>
                              </a:rPr>
                              <m:t>𝑖</m:t>
                            </m:r>
                          </m:sub>
                        </m:sSub>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Uniform</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𝐿</m:t>
                                    </m:r>
                                  </m:num>
                                  <m:den>
                                    <m:r>
                                      <a:rPr lang="en-US" sz="3200" b="0" i="1" smtClean="0">
                                        <a:latin typeface="Cambria Math" panose="02040503050406030204" pitchFamily="18" charset="0"/>
                                      </a:rPr>
                                      <m:t>2</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𝐿</m:t>
                                    </m:r>
                                  </m:num>
                                  <m:den>
                                    <m:r>
                                      <a:rPr lang="en-US" sz="3200" b="0" i="1" smtClean="0">
                                        <a:latin typeface="Cambria Math" panose="02040503050406030204" pitchFamily="18" charset="0"/>
                                      </a:rPr>
                                      <m:t>2</m:t>
                                    </m:r>
                                  </m:den>
                                </m:f>
                              </m:e>
                            </m:d>
                          </m:e>
                          <m:sup>
                            <m:r>
                              <a:rPr lang="en-US" sz="3200" b="0" i="1" smtClean="0">
                                <a:latin typeface="Cambria Math" panose="02040503050406030204" pitchFamily="18" charset="0"/>
                              </a:rPr>
                              <m:t>3</m:t>
                            </m:r>
                          </m:sup>
                        </m:sSup>
                      </m:e>
                    </m:d>
                  </m:oMath>
                </a14:m>
                <a:r>
                  <a:rPr lang="en-US" sz="3200" dirty="0"/>
                  <a:t>,    </a:t>
                </a:r>
                <a14:m>
                  <m:oMath xmlns:m="http://schemas.openxmlformats.org/officeDocument/2006/math">
                    <m:r>
                      <a:rPr lang="en-US" sz="3200" b="0" i="1" smtClean="0">
                        <a:latin typeface="Cambria Math" panose="02040503050406030204" pitchFamily="18" charset="0"/>
                      </a:rPr>
                      <m:t>𝑖</m:t>
                    </m:r>
                    <m:r>
                      <a:rPr lang="en-US" sz="3200" b="0" i="1" smtClean="0">
                        <a:latin typeface="Cambria Math" panose="02040503050406030204" pitchFamily="18" charset="0"/>
                      </a:rPr>
                      <m:t>=1,2,…,</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𝑁</m:t>
                        </m:r>
                      </m:e>
                      <m:sub>
                        <m:r>
                          <a:rPr lang="en-US" sz="3200" b="0" i="1" smtClean="0">
                            <a:latin typeface="Cambria Math" panose="02040503050406030204" pitchFamily="18" charset="0"/>
                          </a:rPr>
                          <m:t>𝑛𝑒𝑖𝑔h𝑏𝑜𝑟𝑠</m:t>
                        </m:r>
                      </m:sub>
                    </m:sSub>
                  </m:oMath>
                </a14:m>
                <a:endParaRPr lang="en-US" sz="3200" dirty="0"/>
              </a:p>
            </p:txBody>
          </p:sp>
        </mc:Choice>
        <mc:Fallback>
          <p:sp>
            <p:nvSpPr>
              <p:cNvPr id="30" name="TextBox 29">
                <a:extLst>
                  <a:ext uri="{FF2B5EF4-FFF2-40B4-BE49-F238E27FC236}">
                    <a16:creationId xmlns:a16="http://schemas.microsoft.com/office/drawing/2014/main" id="{35F8F6C5-B555-1BCC-8EB3-6E3A48A6A743}"/>
                  </a:ext>
                </a:extLst>
              </p:cNvPr>
              <p:cNvSpPr txBox="1">
                <a:spLocks noRot="1" noChangeAspect="1" noMove="1" noResize="1" noEditPoints="1" noAdjustHandles="1" noChangeArrowheads="1" noChangeShapeType="1" noTextEdit="1"/>
              </p:cNvSpPr>
              <p:nvPr/>
            </p:nvSpPr>
            <p:spPr>
              <a:xfrm>
                <a:off x="22098540" y="11922913"/>
                <a:ext cx="6575919" cy="1429750"/>
              </a:xfrm>
              <a:prstGeom prst="rect">
                <a:avLst/>
              </a:prstGeom>
              <a:blipFill>
                <a:blip r:embed="rId12"/>
                <a:stretch>
                  <a:fillRect r="-45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19C9C57E-0D9A-DDBD-B5D2-1FC7A4154CF8}"/>
                  </a:ext>
                </a:extLst>
              </p:cNvPr>
              <p:cNvSpPr txBox="1"/>
              <p:nvPr/>
            </p:nvSpPr>
            <p:spPr>
              <a:xfrm>
                <a:off x="23508110" y="27574254"/>
                <a:ext cx="4180114" cy="779188"/>
              </a:xfrm>
              <a:prstGeom prst="rect">
                <a:avLst/>
              </a:prstGeom>
              <a:noFill/>
            </p:spPr>
            <p:txBody>
              <a:bodyPr wrap="square" lIns="0" tIns="0" rIns="0" bIns="0" rtlCol="0">
                <a:spAutoFit/>
              </a:bodyPr>
              <a:lstStyle/>
              <a:p>
                <a14:m>
                  <m:oMath xmlns:m="http://schemas.openxmlformats.org/officeDocument/2006/math">
                    <m:r>
                      <m:rPr>
                        <m:sty m:val="p"/>
                      </m:rPr>
                      <a:rPr lang="en-US" sz="3200" smtClean="0">
                        <a:latin typeface="Cambria Math" panose="02040503050406030204" pitchFamily="18" charset="0"/>
                      </a:rPr>
                      <m:t>L</m:t>
                    </m:r>
                    <m:d>
                      <m:dPr>
                        <m:ctrlPr>
                          <a:rPr lang="en-US" sz="3200" b="0" i="1" smtClean="0">
                            <a:latin typeface="Cambria Math" panose="02040503050406030204" pitchFamily="18" charset="0"/>
                          </a:rPr>
                        </m:ctrlPr>
                      </m:dPr>
                      <m:e>
                        <m:r>
                          <m:rPr>
                            <m:sty m:val="p"/>
                          </m:rPr>
                          <a:rPr lang="en-US" sz="3200" b="0" i="0" smtClean="0">
                            <a:latin typeface="Cambria Math" panose="02040503050406030204" pitchFamily="18" charset="0"/>
                          </a:rPr>
                          <m:t>Δ</m:t>
                        </m:r>
                        <m:r>
                          <a:rPr lang="en-US" sz="3200" b="0" i="1" smtClean="0">
                            <a:latin typeface="Cambria Math" panose="02040503050406030204" pitchFamily="18" charset="0"/>
                          </a:rPr>
                          <m:t>𝜈</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A</m:t>
                    </m:r>
                    <m:r>
                      <a:rPr lang="en-US" sz="3200" b="0" i="1" smtClean="0">
                        <a:latin typeface="Cambria Math" panose="02040503050406030204" pitchFamily="18" charset="0"/>
                      </a:rPr>
                      <m:t> </m:t>
                    </m:r>
                    <m:f>
                      <m:fPr>
                        <m:ctrlPr>
                          <a:rPr lang="en-US" sz="3200" b="0" i="1" smtClean="0">
                            <a:latin typeface="Cambria Math" panose="02040503050406030204" pitchFamily="18" charset="0"/>
                          </a:rPr>
                        </m:ctrlPr>
                      </m:fPr>
                      <m:num>
                        <m:r>
                          <m:rPr>
                            <m:sty m:val="p"/>
                          </m:rPr>
                          <a:rPr lang="en-US" sz="3200" b="0" i="0" smtClean="0">
                            <a:latin typeface="Cambria Math" panose="02040503050406030204" pitchFamily="18" charset="0"/>
                          </a:rPr>
                          <m:t>Γ</m:t>
                        </m:r>
                        <m:r>
                          <a:rPr lang="en-US" sz="3200" b="0" i="0" smtClean="0">
                            <a:latin typeface="Cambria Math" panose="02040503050406030204" pitchFamily="18" charset="0"/>
                          </a:rPr>
                          <m:t>/2</m:t>
                        </m:r>
                      </m:num>
                      <m:den>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m:rPr>
                                    <m:sty m:val="p"/>
                                  </m:rPr>
                                  <a:rPr lang="en-US" sz="3200" b="0" i="0" smtClean="0">
                                    <a:latin typeface="Cambria Math" panose="02040503050406030204" pitchFamily="18" charset="0"/>
                                  </a:rPr>
                                  <m:t>Δ</m:t>
                                </m:r>
                                <m:r>
                                  <a:rPr lang="en-US" sz="3200" b="0" i="1" smtClean="0">
                                    <a:latin typeface="Cambria Math" panose="02040503050406030204" pitchFamily="18" charset="0"/>
                                  </a:rPr>
                                  <m:t>𝜈</m:t>
                                </m:r>
                              </m:e>
                            </m:d>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m:rPr>
                                    <m:sty m:val="p"/>
                                  </m:rPr>
                                  <a:rPr lang="en-US" sz="3200" b="0" i="0" smtClean="0">
                                    <a:latin typeface="Cambria Math" panose="02040503050406030204" pitchFamily="18" charset="0"/>
                                  </a:rPr>
                                  <m:t>Γ</m:t>
                                </m:r>
                                <m:r>
                                  <a:rPr lang="en-US" sz="3200" b="0" i="1" smtClean="0">
                                    <a:latin typeface="Cambria Math" panose="02040503050406030204" pitchFamily="18" charset="0"/>
                                  </a:rPr>
                                  <m:t>/2</m:t>
                                </m:r>
                              </m:e>
                            </m:d>
                          </m:e>
                          <m:sup>
                            <m:r>
                              <a:rPr lang="en-US" sz="3200" b="0" i="1" smtClean="0">
                                <a:latin typeface="Cambria Math" panose="02040503050406030204" pitchFamily="18" charset="0"/>
                              </a:rPr>
                              <m:t>2</m:t>
                            </m:r>
                          </m:sup>
                        </m:sSup>
                      </m:den>
                    </m:f>
                    <m:r>
                      <a:rPr lang="en-US" sz="3200" b="0" i="1" smtClean="0">
                        <a:latin typeface="Cambria Math" panose="02040503050406030204" pitchFamily="18" charset="0"/>
                      </a:rPr>
                      <m:t> </m:t>
                    </m:r>
                  </m:oMath>
                </a14:m>
                <a:r>
                  <a:rPr lang="en-US" sz="3200" dirty="0"/>
                  <a:t>  </a:t>
                </a:r>
              </a:p>
            </p:txBody>
          </p:sp>
        </mc:Choice>
        <mc:Fallback>
          <p:sp>
            <p:nvSpPr>
              <p:cNvPr id="39" name="TextBox 38">
                <a:extLst>
                  <a:ext uri="{FF2B5EF4-FFF2-40B4-BE49-F238E27FC236}">
                    <a16:creationId xmlns:a16="http://schemas.microsoft.com/office/drawing/2014/main" id="{19C9C57E-0D9A-DDBD-B5D2-1FC7A4154CF8}"/>
                  </a:ext>
                </a:extLst>
              </p:cNvPr>
              <p:cNvSpPr txBox="1">
                <a:spLocks noRot="1" noChangeAspect="1" noMove="1" noResize="1" noEditPoints="1" noAdjustHandles="1" noChangeArrowheads="1" noChangeShapeType="1" noTextEdit="1"/>
              </p:cNvSpPr>
              <p:nvPr/>
            </p:nvSpPr>
            <p:spPr>
              <a:xfrm>
                <a:off x="23508110" y="27574254"/>
                <a:ext cx="4180114" cy="77918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56C9FD6F-880C-913F-D95E-B250EBDF3449}"/>
                  </a:ext>
                </a:extLst>
              </p:cNvPr>
              <p:cNvSpPr txBox="1"/>
              <p:nvPr/>
            </p:nvSpPr>
            <p:spPr>
              <a:xfrm>
                <a:off x="23508110" y="29575225"/>
                <a:ext cx="2438400" cy="698012"/>
              </a:xfrm>
              <a:prstGeom prst="rect">
                <a:avLst/>
              </a:prstGeom>
              <a:noFill/>
            </p:spPr>
            <p:txBody>
              <a:bodyPr wrap="square" lIns="0" tIns="0" rIns="0" bIns="0" rtlCol="0">
                <a:spAutoFit/>
              </a:bodyPr>
              <a:lstStyle/>
              <a:p>
                <a14:m>
                  <m:oMath xmlns:m="http://schemas.openxmlformats.org/officeDocument/2006/math">
                    <m:sSubSup>
                      <m:sSubSupPr>
                        <m:ctrlPr>
                          <a:rPr lang="en-US" sz="3200" b="0" i="1" smtClean="0">
                            <a:latin typeface="Cambria Math" panose="02040503050406030204" pitchFamily="18" charset="0"/>
                          </a:rPr>
                        </m:ctrlPr>
                      </m:sSubSupPr>
                      <m:e>
                        <m:r>
                          <m:rPr>
                            <m:sty m:val="p"/>
                          </m:rPr>
                          <a:rPr lang="en-US" sz="3200" b="0" i="0" smtClean="0">
                            <a:latin typeface="Cambria Math" panose="02040503050406030204" pitchFamily="18" charset="0"/>
                          </a:rPr>
                          <m:t>T</m:t>
                        </m:r>
                      </m:e>
                      <m:sub>
                        <m:r>
                          <a:rPr lang="en-US" sz="3200" b="0" i="0" smtClean="0">
                            <a:latin typeface="Cambria Math" panose="02040503050406030204" pitchFamily="18" charset="0"/>
                          </a:rPr>
                          <m:t>2</m:t>
                        </m:r>
                      </m:sub>
                      <m:sup>
                        <m:r>
                          <a:rPr lang="en-US" sz="3200" b="0" i="1" smtClean="0">
                            <a:latin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𝜋</m:t>
                        </m:r>
                        <m:r>
                          <m:rPr>
                            <m:sty m:val="p"/>
                          </m:rPr>
                          <a:rPr lang="en-US" sz="3200" b="0" i="0" smtClean="0">
                            <a:latin typeface="Cambria Math" panose="02040503050406030204" pitchFamily="18" charset="0"/>
                          </a:rPr>
                          <m:t>Γ</m:t>
                        </m:r>
                      </m:den>
                    </m:f>
                  </m:oMath>
                </a14:m>
                <a:r>
                  <a:rPr lang="en-US" sz="3200" dirty="0"/>
                  <a:t> </a:t>
                </a:r>
              </a:p>
            </p:txBody>
          </p:sp>
        </mc:Choice>
        <mc:Fallback>
          <p:sp>
            <p:nvSpPr>
              <p:cNvPr id="40" name="TextBox 39">
                <a:extLst>
                  <a:ext uri="{FF2B5EF4-FFF2-40B4-BE49-F238E27FC236}">
                    <a16:creationId xmlns:a16="http://schemas.microsoft.com/office/drawing/2014/main" id="{56C9FD6F-880C-913F-D95E-B250EBDF3449}"/>
                  </a:ext>
                </a:extLst>
              </p:cNvPr>
              <p:cNvSpPr txBox="1">
                <a:spLocks noRot="1" noChangeAspect="1" noMove="1" noResize="1" noEditPoints="1" noAdjustHandles="1" noChangeArrowheads="1" noChangeShapeType="1" noTextEdit="1"/>
              </p:cNvSpPr>
              <p:nvPr/>
            </p:nvSpPr>
            <p:spPr>
              <a:xfrm>
                <a:off x="23508110" y="29575225"/>
                <a:ext cx="2438400" cy="698012"/>
              </a:xfrm>
              <a:prstGeom prst="rect">
                <a:avLst/>
              </a:prstGeom>
              <a:blipFill>
                <a:blip r:embed="rId14"/>
                <a:stretch>
                  <a:fillRect/>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02EE8A2E-5A60-AED5-E18E-A03516E15829}"/>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54" t="5278" r="52814" b="50589"/>
          <a:stretch>
            <a:fillRect/>
          </a:stretch>
        </p:blipFill>
        <p:spPr bwMode="auto">
          <a:xfrm>
            <a:off x="8425637" y="20554531"/>
            <a:ext cx="3657600" cy="365759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3A2CACC6-5097-0B17-9DFB-F19A4F547997}"/>
                  </a:ext>
                </a:extLst>
              </p:cNvPr>
              <p:cNvSpPr txBox="1"/>
              <p:nvPr/>
            </p:nvSpPr>
            <p:spPr>
              <a:xfrm>
                <a:off x="3001916" y="29999983"/>
                <a:ext cx="1981200" cy="5742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m:t>
                      </m:r>
                      <m:sSub>
                        <m:sSubPr>
                          <m:ctrlPr>
                            <a:rPr lang="en-US" sz="3000" i="1">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b="0" i="1" smtClean="0">
                              <a:latin typeface="Cambria Math" panose="02040503050406030204" pitchFamily="18" charset="0"/>
                            </a:rPr>
                            <m:t>,1</m:t>
                          </m:r>
                        </m:sub>
                      </m:sSub>
                      <m:r>
                        <a:rPr lang="en-US" sz="3000" b="0" i="1" smtClean="0">
                          <a:latin typeface="Cambria Math" panose="02040503050406030204" pitchFamily="18" charset="0"/>
                        </a:rPr>
                        <m:t>⟩</m:t>
                      </m:r>
                    </m:oMath>
                  </m:oMathPara>
                </a14:m>
                <a:endParaRPr lang="en-US" sz="3000" dirty="0"/>
              </a:p>
            </p:txBody>
          </p:sp>
        </mc:Choice>
        <mc:Fallback>
          <p:sp>
            <p:nvSpPr>
              <p:cNvPr id="50" name="TextBox 49">
                <a:extLst>
                  <a:ext uri="{FF2B5EF4-FFF2-40B4-BE49-F238E27FC236}">
                    <a16:creationId xmlns:a16="http://schemas.microsoft.com/office/drawing/2014/main" id="{3A2CACC6-5097-0B17-9DFB-F19A4F547997}"/>
                  </a:ext>
                </a:extLst>
              </p:cNvPr>
              <p:cNvSpPr txBox="1">
                <a:spLocks noRot="1" noChangeAspect="1" noMove="1" noResize="1" noEditPoints="1" noAdjustHandles="1" noChangeArrowheads="1" noChangeShapeType="1" noTextEdit="1"/>
              </p:cNvSpPr>
              <p:nvPr/>
            </p:nvSpPr>
            <p:spPr>
              <a:xfrm>
                <a:off x="3001916" y="29999983"/>
                <a:ext cx="1981200" cy="57426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AFE3BEE7-41B3-3B7D-F97D-EFEA1A5014DD}"/>
                  </a:ext>
                </a:extLst>
              </p:cNvPr>
              <p:cNvSpPr txBox="1"/>
              <p:nvPr/>
            </p:nvSpPr>
            <p:spPr>
              <a:xfrm>
                <a:off x="3001916" y="28681393"/>
                <a:ext cx="1981200" cy="5742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m:t>
                      </m:r>
                      <m:sSub>
                        <m:sSubPr>
                          <m:ctrlPr>
                            <a:rPr lang="en-US" sz="3000" i="1">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2</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b="0" i="1" smtClean="0">
                              <a:latin typeface="Cambria Math" panose="02040503050406030204" pitchFamily="18" charset="0"/>
                            </a:rPr>
                            <m:t>,2</m:t>
                          </m:r>
                        </m:sub>
                      </m:sSub>
                      <m:r>
                        <a:rPr lang="en-US" sz="3000" b="0" i="1" smtClean="0">
                          <a:latin typeface="Cambria Math" panose="02040503050406030204" pitchFamily="18" charset="0"/>
                        </a:rPr>
                        <m:t>⟩</m:t>
                      </m:r>
                    </m:oMath>
                  </m:oMathPara>
                </a14:m>
                <a:endParaRPr lang="en-US" sz="3000" dirty="0"/>
              </a:p>
            </p:txBody>
          </p:sp>
        </mc:Choice>
        <mc:Fallback>
          <p:sp>
            <p:nvSpPr>
              <p:cNvPr id="51" name="TextBox 50">
                <a:extLst>
                  <a:ext uri="{FF2B5EF4-FFF2-40B4-BE49-F238E27FC236}">
                    <a16:creationId xmlns:a16="http://schemas.microsoft.com/office/drawing/2014/main" id="{AFE3BEE7-41B3-3B7D-F97D-EFEA1A5014DD}"/>
                  </a:ext>
                </a:extLst>
              </p:cNvPr>
              <p:cNvSpPr txBox="1">
                <a:spLocks noRot="1" noChangeAspect="1" noMove="1" noResize="1" noEditPoints="1" noAdjustHandles="1" noChangeArrowheads="1" noChangeShapeType="1" noTextEdit="1"/>
              </p:cNvSpPr>
              <p:nvPr/>
            </p:nvSpPr>
            <p:spPr>
              <a:xfrm>
                <a:off x="3001916" y="28681393"/>
                <a:ext cx="1981200" cy="574260"/>
              </a:xfrm>
              <a:prstGeom prst="rect">
                <a:avLst/>
              </a:prstGeom>
              <a:blipFill>
                <a:blip r:embed="rId17"/>
                <a:stretch>
                  <a:fillRect/>
                </a:stretch>
              </a:blipFill>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48A14C9F-5002-5176-016A-94FA0858518B}"/>
              </a:ext>
            </a:extLst>
          </p:cNvPr>
          <p:cNvCxnSpPr>
            <a:cxnSpLocks/>
          </p:cNvCxnSpPr>
          <p:nvPr/>
        </p:nvCxnSpPr>
        <p:spPr>
          <a:xfrm flipV="1">
            <a:off x="7363062" y="28619782"/>
            <a:ext cx="1854493" cy="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3155C59-DF9B-F290-5181-8217D9CC4BED}"/>
              </a:ext>
            </a:extLst>
          </p:cNvPr>
          <p:cNvCxnSpPr>
            <a:cxnSpLocks/>
          </p:cNvCxnSpPr>
          <p:nvPr/>
        </p:nvCxnSpPr>
        <p:spPr>
          <a:xfrm flipV="1">
            <a:off x="6569257" y="29004552"/>
            <a:ext cx="2648298" cy="694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1F013D1-9BC4-988A-4CF2-7A527E994434}"/>
              </a:ext>
            </a:extLst>
          </p:cNvPr>
          <p:cNvCxnSpPr>
            <a:cxnSpLocks/>
          </p:cNvCxnSpPr>
          <p:nvPr/>
        </p:nvCxnSpPr>
        <p:spPr>
          <a:xfrm>
            <a:off x="6582721" y="30323786"/>
            <a:ext cx="2543860" cy="0"/>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647E926-CFBE-7528-DD03-5AFA22455CF8}"/>
              </a:ext>
            </a:extLst>
          </p:cNvPr>
          <p:cNvCxnSpPr>
            <a:cxnSpLocks/>
          </p:cNvCxnSpPr>
          <p:nvPr/>
        </p:nvCxnSpPr>
        <p:spPr>
          <a:xfrm flipV="1">
            <a:off x="6658921" y="28627345"/>
            <a:ext cx="654250" cy="344237"/>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7B6A81C-40EA-98BF-9DC4-201039AF6BB1}"/>
              </a:ext>
            </a:extLst>
          </p:cNvPr>
          <p:cNvCxnSpPr>
            <a:cxnSpLocks/>
          </p:cNvCxnSpPr>
          <p:nvPr/>
        </p:nvCxnSpPr>
        <p:spPr>
          <a:xfrm>
            <a:off x="6658921" y="30323786"/>
            <a:ext cx="637069" cy="369789"/>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DE63AE9-52C8-9942-43B8-C1A6E2E593BC}"/>
              </a:ext>
            </a:extLst>
          </p:cNvPr>
          <p:cNvCxnSpPr>
            <a:cxnSpLocks/>
          </p:cNvCxnSpPr>
          <p:nvPr/>
        </p:nvCxnSpPr>
        <p:spPr>
          <a:xfrm>
            <a:off x="9161164" y="28651318"/>
            <a:ext cx="0" cy="360174"/>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861C0836-650E-86CE-D65E-9ED2EFB59C13}"/>
                  </a:ext>
                </a:extLst>
              </p:cNvPr>
              <p:cNvSpPr txBox="1"/>
              <p:nvPr/>
            </p:nvSpPr>
            <p:spPr>
              <a:xfrm>
                <a:off x="9217555" y="28533107"/>
                <a:ext cx="1981200" cy="654346"/>
              </a:xfrm>
              <a:prstGeom prst="rect">
                <a:avLst/>
              </a:prstGeom>
              <a:noFill/>
            </p:spPr>
            <p:txBody>
              <a:bodyPr wrap="square">
                <a:spAutoFit/>
              </a:bodyPr>
              <a:lstStyle/>
              <a:p>
                <a14:m>
                  <m:oMath xmlns:m="http://schemas.openxmlformats.org/officeDocument/2006/math">
                    <m:r>
                      <m:rPr>
                        <m:sty m:val="p"/>
                      </m:rPr>
                      <a:rPr lang="en-US" sz="3000" b="0" i="0" smtClean="0">
                        <a:latin typeface="Cambria Math" panose="02040503050406030204" pitchFamily="18" charset="0"/>
                      </a:rPr>
                      <m:t>Δ</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𝐸</m:t>
                        </m:r>
                      </m:e>
                      <m:sub>
                        <m:d>
                          <m:dPr>
                            <m:begChr m:val="|"/>
                            <m:endChr m:val="⟩"/>
                            <m:ctrlPr>
                              <a:rPr lang="en-US" sz="3000" b="0" i="1" smtClean="0">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i="1">
                                    <a:latin typeface="Cambria Math" panose="02040503050406030204" pitchFamily="18" charset="0"/>
                                  </a:rPr>
                                  <m:t>2</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i="1">
                                    <a:latin typeface="Cambria Math" panose="02040503050406030204" pitchFamily="18" charset="0"/>
                                  </a:rPr>
                                  <m:t>,2</m:t>
                                </m:r>
                              </m:sub>
                            </m:sSub>
                          </m:e>
                        </m:d>
                      </m:sub>
                    </m:sSub>
                  </m:oMath>
                </a14:m>
                <a:r>
                  <a:rPr lang="en-US" sz="3000" dirty="0"/>
                  <a:t> </a:t>
                </a:r>
              </a:p>
            </p:txBody>
          </p:sp>
        </mc:Choice>
        <mc:Fallback>
          <p:sp>
            <p:nvSpPr>
              <p:cNvPr id="60" name="TextBox 59">
                <a:extLst>
                  <a:ext uri="{FF2B5EF4-FFF2-40B4-BE49-F238E27FC236}">
                    <a16:creationId xmlns:a16="http://schemas.microsoft.com/office/drawing/2014/main" id="{861C0836-650E-86CE-D65E-9ED2EFB59C13}"/>
                  </a:ext>
                </a:extLst>
              </p:cNvPr>
              <p:cNvSpPr txBox="1">
                <a:spLocks noRot="1" noChangeAspect="1" noMove="1" noResize="1" noEditPoints="1" noAdjustHandles="1" noChangeArrowheads="1" noChangeShapeType="1" noTextEdit="1"/>
              </p:cNvSpPr>
              <p:nvPr/>
            </p:nvSpPr>
            <p:spPr>
              <a:xfrm>
                <a:off x="9217555" y="28533107"/>
                <a:ext cx="1981200" cy="65434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32" name="TextBox 1031">
                <a:extLst>
                  <a:ext uri="{FF2B5EF4-FFF2-40B4-BE49-F238E27FC236}">
                    <a16:creationId xmlns:a16="http://schemas.microsoft.com/office/drawing/2014/main" id="{9B6E773C-01BA-28D9-2E98-A666B5C9AEA2}"/>
                  </a:ext>
                </a:extLst>
              </p:cNvPr>
              <p:cNvSpPr txBox="1"/>
              <p:nvPr/>
            </p:nvSpPr>
            <p:spPr>
              <a:xfrm>
                <a:off x="290350" y="6657793"/>
                <a:ext cx="13715999" cy="5301644"/>
              </a:xfrm>
              <a:prstGeom prst="rect">
                <a:avLst/>
              </a:prstGeom>
              <a:noFill/>
            </p:spPr>
            <p:txBody>
              <a:bodyPr wrap="square" rtlCol="0">
                <a:spAutoFit/>
              </a:bodyPr>
              <a:lstStyle/>
              <a:p>
                <a:r>
                  <a:rPr lang="en-US" sz="3200" dirty="0"/>
                  <a:t>A large field of physics involves looking at an atom’s internal “spin states” and the transitions between these states. These spin states act as incredibly sensitive probes and can be used to search for new physics. The sensitivity to many of these searches is proportional to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𝑇</m:t>
                            </m:r>
                          </m:e>
                          <m:sub>
                            <m:r>
                              <a:rPr lang="en-US" sz="3200" b="0" i="1" smtClean="0">
                                <a:latin typeface="Cambria Math" panose="02040503050406030204" pitchFamily="18" charset="0"/>
                              </a:rPr>
                              <m:t>2</m:t>
                            </m:r>
                          </m:sub>
                          <m:sup>
                            <m:r>
                              <a:rPr lang="en-US" sz="3200" b="0" i="1" smtClean="0">
                                <a:latin typeface="Cambria Math" panose="02040503050406030204" pitchFamily="18" charset="0"/>
                              </a:rPr>
                              <m:t>∗</m:t>
                            </m:r>
                          </m:sup>
                        </m:sSubSup>
                        <m:r>
                          <a:rPr lang="en-US" sz="3200" b="0" i="1" smtClean="0">
                            <a:latin typeface="Cambria Math" panose="02040503050406030204" pitchFamily="18" charset="0"/>
                          </a:rPr>
                          <m:t>√</m:t>
                        </m:r>
                        <m:r>
                          <a:rPr lang="en-US" sz="3200" b="0" i="1" smtClean="0">
                            <a:latin typeface="Cambria Math" panose="02040503050406030204" pitchFamily="18" charset="0"/>
                          </a:rPr>
                          <m:t>𝑁</m:t>
                        </m:r>
                      </m:den>
                    </m:f>
                  </m:oMath>
                </a14:m>
                <a:r>
                  <a:rPr lang="en-US" sz="3200" dirty="0"/>
                  <a:t>. We can improve N, number of spins probed, by isolating a huge number of them in a matrix. However, current matrix isolation experiments have a very small “coherence time”, </a:t>
                </a:r>
                <a14:m>
                  <m:oMath xmlns:m="http://schemas.openxmlformats.org/officeDocument/2006/math">
                    <m:sSubSup>
                      <m:sSubSupPr>
                        <m:ctrlPr>
                          <a:rPr lang="en-US" sz="3200" i="1">
                            <a:latin typeface="Cambria Math" panose="02040503050406030204" pitchFamily="18" charset="0"/>
                          </a:rPr>
                        </m:ctrlPr>
                      </m:sSubSupPr>
                      <m:e>
                        <m:r>
                          <a:rPr lang="en-US" sz="3200" i="1">
                            <a:latin typeface="Cambria Math" panose="02040503050406030204" pitchFamily="18" charset="0"/>
                          </a:rPr>
                          <m:t>𝑇</m:t>
                        </m:r>
                      </m:e>
                      <m:sub>
                        <m:r>
                          <a:rPr lang="en-US" sz="3200" i="1">
                            <a:latin typeface="Cambria Math" panose="02040503050406030204" pitchFamily="18" charset="0"/>
                          </a:rPr>
                          <m:t>2</m:t>
                        </m:r>
                      </m:sub>
                      <m:sup>
                        <m:r>
                          <a:rPr lang="en-US" sz="3200" i="1">
                            <a:latin typeface="Cambria Math" panose="02040503050406030204" pitchFamily="18" charset="0"/>
                          </a:rPr>
                          <m:t>∗</m:t>
                        </m:r>
                      </m:sup>
                    </m:sSubSup>
                  </m:oMath>
                </a14:m>
                <a:r>
                  <a:rPr lang="en-US" sz="3200" dirty="0"/>
                  <a:t> due to inhomogeneous broadening. The source of this broadening is debated, some claim it’s from crystal defects, while others claim its from spins interacting. The goal of my project, therefore, is to model these spin interactions and the resulting inhomogeneous broadening using Monte Carlo Methods. </a:t>
                </a:r>
              </a:p>
            </p:txBody>
          </p:sp>
        </mc:Choice>
        <mc:Fallback>
          <p:sp>
            <p:nvSpPr>
              <p:cNvPr id="1032" name="TextBox 1031">
                <a:extLst>
                  <a:ext uri="{FF2B5EF4-FFF2-40B4-BE49-F238E27FC236}">
                    <a16:creationId xmlns:a16="http://schemas.microsoft.com/office/drawing/2014/main" id="{9B6E773C-01BA-28D9-2E98-A666B5C9AEA2}"/>
                  </a:ext>
                </a:extLst>
              </p:cNvPr>
              <p:cNvSpPr txBox="1">
                <a:spLocks noRot="1" noChangeAspect="1" noMove="1" noResize="1" noEditPoints="1" noAdjustHandles="1" noChangeArrowheads="1" noChangeShapeType="1" noTextEdit="1"/>
              </p:cNvSpPr>
              <p:nvPr/>
            </p:nvSpPr>
            <p:spPr>
              <a:xfrm>
                <a:off x="290350" y="6657793"/>
                <a:ext cx="13715999" cy="5301644"/>
              </a:xfrm>
              <a:prstGeom prst="rect">
                <a:avLst/>
              </a:prstGeom>
              <a:blipFill>
                <a:blip r:embed="rId19"/>
                <a:stretch>
                  <a:fillRect l="-1156" t="-1494" r="-1333" b="-2874"/>
                </a:stretch>
              </a:blipFill>
            </p:spPr>
            <p:txBody>
              <a:bodyPr/>
              <a:lstStyle/>
              <a:p>
                <a:r>
                  <a:rPr lang="en-US">
                    <a:noFill/>
                  </a:rPr>
                  <a:t> </a:t>
                </a:r>
              </a:p>
            </p:txBody>
          </p:sp>
        </mc:Fallback>
      </mc:AlternateContent>
      <p:cxnSp>
        <p:nvCxnSpPr>
          <p:cNvPr id="1035" name="Straight Connector 1034">
            <a:extLst>
              <a:ext uri="{FF2B5EF4-FFF2-40B4-BE49-F238E27FC236}">
                <a16:creationId xmlns:a16="http://schemas.microsoft.com/office/drawing/2014/main" id="{43A12D42-22D5-BE94-B1ED-ACE4A3E1A77D}"/>
              </a:ext>
            </a:extLst>
          </p:cNvPr>
          <p:cNvCxnSpPr>
            <a:cxnSpLocks/>
          </p:cNvCxnSpPr>
          <p:nvPr/>
        </p:nvCxnSpPr>
        <p:spPr>
          <a:xfrm>
            <a:off x="5193220" y="15700859"/>
            <a:ext cx="22098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36" name="TextBox 1035">
                <a:extLst>
                  <a:ext uri="{FF2B5EF4-FFF2-40B4-BE49-F238E27FC236}">
                    <a16:creationId xmlns:a16="http://schemas.microsoft.com/office/drawing/2014/main" id="{272312B6-B59B-A19D-4438-C5B939824268}"/>
                  </a:ext>
                </a:extLst>
              </p:cNvPr>
              <p:cNvSpPr txBox="1"/>
              <p:nvPr/>
            </p:nvSpPr>
            <p:spPr>
              <a:xfrm>
                <a:off x="3114048" y="16691459"/>
                <a:ext cx="1981200" cy="5742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m:t>
                      </m:r>
                      <m:sSub>
                        <m:sSubPr>
                          <m:ctrlPr>
                            <a:rPr lang="en-US" sz="3000" i="1">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b="0" i="1" smtClean="0">
                              <a:latin typeface="Cambria Math" panose="02040503050406030204" pitchFamily="18" charset="0"/>
                            </a:rPr>
                            <m:t>,1</m:t>
                          </m:r>
                        </m:sub>
                      </m:sSub>
                      <m:r>
                        <a:rPr lang="en-US" sz="3000" b="0" i="1" smtClean="0">
                          <a:latin typeface="Cambria Math" panose="02040503050406030204" pitchFamily="18" charset="0"/>
                        </a:rPr>
                        <m:t>⟩</m:t>
                      </m:r>
                    </m:oMath>
                  </m:oMathPara>
                </a14:m>
                <a:endParaRPr lang="en-US" sz="3000" dirty="0"/>
              </a:p>
            </p:txBody>
          </p:sp>
        </mc:Choice>
        <mc:Fallback>
          <p:sp>
            <p:nvSpPr>
              <p:cNvPr id="1036" name="TextBox 1035">
                <a:extLst>
                  <a:ext uri="{FF2B5EF4-FFF2-40B4-BE49-F238E27FC236}">
                    <a16:creationId xmlns:a16="http://schemas.microsoft.com/office/drawing/2014/main" id="{272312B6-B59B-A19D-4438-C5B939824268}"/>
                  </a:ext>
                </a:extLst>
              </p:cNvPr>
              <p:cNvSpPr txBox="1">
                <a:spLocks noRot="1" noChangeAspect="1" noMove="1" noResize="1" noEditPoints="1" noAdjustHandles="1" noChangeArrowheads="1" noChangeShapeType="1" noTextEdit="1"/>
              </p:cNvSpPr>
              <p:nvPr/>
            </p:nvSpPr>
            <p:spPr>
              <a:xfrm>
                <a:off x="3114048" y="16691459"/>
                <a:ext cx="1981200" cy="57426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37" name="TextBox 1036">
                <a:extLst>
                  <a:ext uri="{FF2B5EF4-FFF2-40B4-BE49-F238E27FC236}">
                    <a16:creationId xmlns:a16="http://schemas.microsoft.com/office/drawing/2014/main" id="{74A81BE4-105B-4566-0458-3FC0764709F6}"/>
                  </a:ext>
                </a:extLst>
              </p:cNvPr>
              <p:cNvSpPr txBox="1"/>
              <p:nvPr/>
            </p:nvSpPr>
            <p:spPr>
              <a:xfrm>
                <a:off x="3114048" y="15372869"/>
                <a:ext cx="1981200" cy="5742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m:t>
                      </m:r>
                      <m:sSub>
                        <m:sSubPr>
                          <m:ctrlPr>
                            <a:rPr lang="en-US" sz="3000" i="1">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2</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b="0" i="1" smtClean="0">
                              <a:latin typeface="Cambria Math" panose="02040503050406030204" pitchFamily="18" charset="0"/>
                            </a:rPr>
                            <m:t>,2</m:t>
                          </m:r>
                        </m:sub>
                      </m:sSub>
                      <m:r>
                        <a:rPr lang="en-US" sz="3000" b="0" i="1" smtClean="0">
                          <a:latin typeface="Cambria Math" panose="02040503050406030204" pitchFamily="18" charset="0"/>
                        </a:rPr>
                        <m:t>⟩</m:t>
                      </m:r>
                    </m:oMath>
                  </m:oMathPara>
                </a14:m>
                <a:endParaRPr lang="en-US" sz="3000" dirty="0"/>
              </a:p>
            </p:txBody>
          </p:sp>
        </mc:Choice>
        <mc:Fallback>
          <p:sp>
            <p:nvSpPr>
              <p:cNvPr id="1037" name="TextBox 1036">
                <a:extLst>
                  <a:ext uri="{FF2B5EF4-FFF2-40B4-BE49-F238E27FC236}">
                    <a16:creationId xmlns:a16="http://schemas.microsoft.com/office/drawing/2014/main" id="{74A81BE4-105B-4566-0458-3FC0764709F6}"/>
                  </a:ext>
                </a:extLst>
              </p:cNvPr>
              <p:cNvSpPr txBox="1">
                <a:spLocks noRot="1" noChangeAspect="1" noMove="1" noResize="1" noEditPoints="1" noAdjustHandles="1" noChangeArrowheads="1" noChangeShapeType="1" noTextEdit="1"/>
              </p:cNvSpPr>
              <p:nvPr/>
            </p:nvSpPr>
            <p:spPr>
              <a:xfrm>
                <a:off x="3114048" y="15372869"/>
                <a:ext cx="1981200" cy="574260"/>
              </a:xfrm>
              <a:prstGeom prst="rect">
                <a:avLst/>
              </a:prstGeom>
              <a:blipFill>
                <a:blip r:embed="rId21"/>
                <a:stretch>
                  <a:fillRect/>
                </a:stretch>
              </a:blipFill>
            </p:spPr>
            <p:txBody>
              <a:bodyPr/>
              <a:lstStyle/>
              <a:p>
                <a:r>
                  <a:rPr lang="en-US">
                    <a:noFill/>
                  </a:rPr>
                  <a:t> </a:t>
                </a:r>
              </a:p>
            </p:txBody>
          </p:sp>
        </mc:Fallback>
      </mc:AlternateContent>
      <p:cxnSp>
        <p:nvCxnSpPr>
          <p:cNvPr id="1038" name="Straight Connector 1037">
            <a:extLst>
              <a:ext uri="{FF2B5EF4-FFF2-40B4-BE49-F238E27FC236}">
                <a16:creationId xmlns:a16="http://schemas.microsoft.com/office/drawing/2014/main" id="{44323B68-AADC-500C-CBA9-81EFE9AD8D57}"/>
              </a:ext>
            </a:extLst>
          </p:cNvPr>
          <p:cNvCxnSpPr>
            <a:cxnSpLocks/>
          </p:cNvCxnSpPr>
          <p:nvPr/>
        </p:nvCxnSpPr>
        <p:spPr>
          <a:xfrm>
            <a:off x="5193220" y="17053063"/>
            <a:ext cx="22098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9C936060-A775-2C25-BE38-94236C9A30BD}"/>
              </a:ext>
            </a:extLst>
          </p:cNvPr>
          <p:cNvSpPr txBox="1"/>
          <p:nvPr/>
        </p:nvSpPr>
        <p:spPr>
          <a:xfrm>
            <a:off x="8362394" y="24031299"/>
            <a:ext cx="3808389" cy="584775"/>
          </a:xfrm>
          <a:prstGeom prst="rect">
            <a:avLst/>
          </a:prstGeom>
          <a:noFill/>
        </p:spPr>
        <p:txBody>
          <a:bodyPr wrap="square" rtlCol="0">
            <a:spAutoFit/>
          </a:bodyPr>
          <a:lstStyle/>
          <a:p>
            <a:r>
              <a:rPr lang="en-US" sz="1600" dirty="0"/>
              <a:t>Modified from [5]</a:t>
            </a:r>
            <a:r>
              <a:rPr lang="en-US" sz="3200" dirty="0"/>
              <a:t> </a:t>
            </a:r>
          </a:p>
        </p:txBody>
      </p:sp>
      <p:sp>
        <p:nvSpPr>
          <p:cNvPr id="1049" name="TextBox 1048">
            <a:extLst>
              <a:ext uri="{FF2B5EF4-FFF2-40B4-BE49-F238E27FC236}">
                <a16:creationId xmlns:a16="http://schemas.microsoft.com/office/drawing/2014/main" id="{60E9EA68-5975-89B7-892C-34B469640648}"/>
              </a:ext>
            </a:extLst>
          </p:cNvPr>
          <p:cNvSpPr txBox="1"/>
          <p:nvPr/>
        </p:nvSpPr>
        <p:spPr>
          <a:xfrm>
            <a:off x="323802" y="26308050"/>
            <a:ext cx="13716000" cy="553998"/>
          </a:xfrm>
          <a:prstGeom prst="rect">
            <a:avLst/>
          </a:prstGeom>
          <a:noFill/>
        </p:spPr>
        <p:txBody>
          <a:bodyPr wrap="square" rtlCol="0">
            <a:spAutoFit/>
          </a:bodyPr>
          <a:lstStyle/>
          <a:p>
            <a:pPr marL="457200" indent="-457200">
              <a:buFont typeface="Arial" panose="020B0604020202020204" pitchFamily="34" charset="0"/>
              <a:buChar char="•"/>
            </a:pPr>
            <a:r>
              <a:rPr lang="en-US" sz="3000" dirty="0"/>
              <a:t>Spin states experience “Zeeman shifts” in magnetic fields</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8F88DB1-588E-1E99-9D00-E66339D4D0FB}"/>
                  </a:ext>
                </a:extLst>
              </p:cNvPr>
              <p:cNvSpPr txBox="1"/>
              <p:nvPr/>
            </p:nvSpPr>
            <p:spPr>
              <a:xfrm>
                <a:off x="273378" y="13352663"/>
                <a:ext cx="13610525" cy="1938992"/>
              </a:xfrm>
              <a:prstGeom prst="rect">
                <a:avLst/>
              </a:prstGeom>
              <a:noFill/>
            </p:spPr>
            <p:txBody>
              <a:bodyPr wrap="square" rtlCol="0">
                <a:spAutoFit/>
              </a:bodyPr>
              <a:lstStyle/>
              <a:p>
                <a:pPr marL="457200" indent="-457200">
                  <a:buFont typeface="Arial" panose="020B0604020202020204" pitchFamily="34" charset="0"/>
                  <a:buChar char="•"/>
                </a:pPr>
                <a:r>
                  <a:rPr lang="en-US" sz="3000" dirty="0"/>
                  <a:t>Most experiments in atomic physics involve probing well defined transitions between spin states.  </a:t>
                </a:r>
              </a:p>
              <a:p>
                <a:pPr marL="457200" indent="-457200">
                  <a:buFont typeface="Arial" panose="020B0604020202020204" pitchFamily="34" charset="0"/>
                  <a:buChar char="•"/>
                </a:pPr>
                <a:r>
                  <a:rPr lang="en-US" sz="3000" dirty="0"/>
                  <a:t>This project models atomic transitions between two spin states labeled </a:t>
                </a:r>
                <a14:m>
                  <m:oMath xmlns:m="http://schemas.openxmlformats.org/officeDocument/2006/math">
                    <m:r>
                      <a:rPr lang="en-US" sz="3000" b="0" i="0" smtClean="0">
                        <a:latin typeface="Cambria Math" panose="02040503050406030204" pitchFamily="18" charset="0"/>
                      </a:rPr>
                      <m:t>|</m:t>
                    </m:r>
                    <m:r>
                      <a:rPr lang="en-US" sz="3000" b="0" i="1" smtClean="0">
                        <a:latin typeface="Cambria Math" panose="02040503050406030204" pitchFamily="18" charset="0"/>
                      </a:rPr>
                      <m:t>𝐹</m:t>
                    </m:r>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sub>
                    </m:sSub>
                    <m:r>
                      <a:rPr lang="en-US" sz="3000" i="1">
                        <a:latin typeface="Cambria Math" panose="02040503050406030204" pitchFamily="18" charset="0"/>
                      </a:rPr>
                      <m:t>⟩</m:t>
                    </m:r>
                  </m:oMath>
                </a14:m>
                <a:r>
                  <a:rPr lang="en-US" sz="3000" dirty="0"/>
                  <a:t>. </a:t>
                </a:r>
              </a:p>
              <a:p>
                <a:pPr marL="457200" indent="-457200">
                  <a:buFont typeface="Arial" panose="020B0604020202020204" pitchFamily="34" charset="0"/>
                  <a:buChar char="•"/>
                </a:pPr>
                <a:r>
                  <a:rPr lang="en-US" sz="3000" dirty="0"/>
                  <a:t>One drives this transition with a resonant frequency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𝜈</m:t>
                        </m:r>
                      </m:e>
                      <m:sub>
                        <m:r>
                          <a:rPr lang="en-US" sz="3000" i="1">
                            <a:latin typeface="Cambria Math" panose="02040503050406030204" pitchFamily="18" charset="0"/>
                          </a:rPr>
                          <m:t>0</m:t>
                        </m:r>
                      </m:sub>
                    </m:sSub>
                    <m:r>
                      <a:rPr lang="en-US" sz="3000" b="0" i="0" smtClean="0">
                        <a:latin typeface="Cambria Math" panose="02040503050406030204" pitchFamily="18" charset="0"/>
                      </a:rPr>
                      <m:t>.</m:t>
                    </m:r>
                  </m:oMath>
                </a14:m>
                <a:endParaRPr lang="en-US" sz="3000" dirty="0"/>
              </a:p>
            </p:txBody>
          </p:sp>
        </mc:Choice>
        <mc:Fallback>
          <p:sp>
            <p:nvSpPr>
              <p:cNvPr id="9" name="TextBox 8">
                <a:extLst>
                  <a:ext uri="{FF2B5EF4-FFF2-40B4-BE49-F238E27FC236}">
                    <a16:creationId xmlns:a16="http://schemas.microsoft.com/office/drawing/2014/main" id="{88F88DB1-588E-1E99-9D00-E66339D4D0FB}"/>
                  </a:ext>
                </a:extLst>
              </p:cNvPr>
              <p:cNvSpPr txBox="1">
                <a:spLocks noRot="1" noChangeAspect="1" noMove="1" noResize="1" noEditPoints="1" noAdjustHandles="1" noChangeArrowheads="1" noChangeShapeType="1" noTextEdit="1"/>
              </p:cNvSpPr>
              <p:nvPr/>
            </p:nvSpPr>
            <p:spPr>
              <a:xfrm>
                <a:off x="273378" y="13352663"/>
                <a:ext cx="13610525" cy="1938992"/>
              </a:xfrm>
              <a:prstGeom prst="rect">
                <a:avLst/>
              </a:prstGeom>
              <a:blipFill>
                <a:blip r:embed="rId22"/>
                <a:stretch>
                  <a:fillRect l="-940" t="-3774" b="-9119"/>
                </a:stretch>
              </a:blipFill>
            </p:spPr>
            <p:txBody>
              <a:bodyPr/>
              <a:lstStyle/>
              <a:p>
                <a:r>
                  <a:rPr lang="en-US">
                    <a:noFill/>
                  </a:rPr>
                  <a:t> </a:t>
                </a:r>
              </a:p>
            </p:txBody>
          </p:sp>
        </mc:Fallback>
      </mc:AlternateContent>
      <p:sp>
        <p:nvSpPr>
          <p:cNvPr id="31" name="Arrow: Down 30">
            <a:extLst>
              <a:ext uri="{FF2B5EF4-FFF2-40B4-BE49-F238E27FC236}">
                <a16:creationId xmlns:a16="http://schemas.microsoft.com/office/drawing/2014/main" id="{CFDC2082-6FD3-7350-6F6A-867C9DA36D57}"/>
              </a:ext>
            </a:extLst>
          </p:cNvPr>
          <p:cNvSpPr/>
          <p:nvPr/>
        </p:nvSpPr>
        <p:spPr>
          <a:xfrm rot="10800000">
            <a:off x="2230860" y="15476218"/>
            <a:ext cx="690689" cy="1830763"/>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1E749B1-E963-79A3-9860-CE65C763BC60}"/>
              </a:ext>
            </a:extLst>
          </p:cNvPr>
          <p:cNvSpPr txBox="1"/>
          <p:nvPr/>
        </p:nvSpPr>
        <p:spPr>
          <a:xfrm>
            <a:off x="823709" y="16013943"/>
            <a:ext cx="1828015" cy="553998"/>
          </a:xfrm>
          <a:prstGeom prst="rect">
            <a:avLst/>
          </a:prstGeom>
          <a:noFill/>
        </p:spPr>
        <p:txBody>
          <a:bodyPr wrap="square" rtlCol="0">
            <a:spAutoFit/>
          </a:bodyPr>
          <a:lstStyle/>
          <a:p>
            <a:r>
              <a:rPr lang="en-US" sz="3000" dirty="0"/>
              <a:t>Energy</a:t>
            </a:r>
          </a:p>
        </p:txBody>
      </p:sp>
      <p:pic>
        <p:nvPicPr>
          <p:cNvPr id="38" name="Picture 37" descr="plot - Matplotlib Wavy Arrow - Stack Overflow">
            <a:extLst>
              <a:ext uri="{FF2B5EF4-FFF2-40B4-BE49-F238E27FC236}">
                <a16:creationId xmlns:a16="http://schemas.microsoft.com/office/drawing/2014/main" id="{A0FA110D-F999-91B5-4E58-3F2620EA18EB}"/>
              </a:ext>
            </a:extLst>
          </p:cNvPr>
          <p:cNvPicPr>
            <a:picLocks noChangeAspect="1"/>
          </p:cNvPicPr>
          <p:nvPr/>
        </p:nvPicPr>
        <p:blipFill>
          <a:blip r:embed="rId23"/>
          <a:srcRect l="31023" t="39494" r="10939" b="38801"/>
          <a:stretch>
            <a:fillRect/>
          </a:stretch>
        </p:blipFill>
        <p:spPr>
          <a:xfrm rot="10800000">
            <a:off x="7530742" y="15997327"/>
            <a:ext cx="3538489" cy="587230"/>
          </a:xfrm>
          <a:prstGeom prst="rect">
            <a:avLst/>
          </a:prstGeom>
        </p:spPr>
      </p:pic>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E9C3F7B4-CF5C-5268-3115-3881BA90CFFA}"/>
                  </a:ext>
                </a:extLst>
              </p:cNvPr>
              <p:cNvSpPr txBox="1"/>
              <p:nvPr/>
            </p:nvSpPr>
            <p:spPr>
              <a:xfrm>
                <a:off x="9339485" y="16571619"/>
                <a:ext cx="902512" cy="492443"/>
              </a:xfrm>
              <a:prstGeom prst="rect">
                <a:avLst/>
              </a:prstGeom>
              <a:noFill/>
            </p:spPr>
            <p:txBody>
              <a:bodyPr wrap="square" lIns="0" tIns="0" rIns="0" bIns="0" rtlCol="0">
                <a:spAutoFit/>
              </a:bodyPr>
              <a:lstStyle/>
              <a:p>
                <a14:m>
                  <m:oMath xmlns:m="http://schemas.openxmlformats.org/officeDocument/2006/math">
                    <m:r>
                      <a:rPr lang="en-US" sz="3200" b="0" i="1" smtClean="0">
                        <a:latin typeface="Cambria Math" panose="02040503050406030204" pitchFamily="18" charset="0"/>
                      </a:rPr>
                      <m:t>h</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𝜈</m:t>
                        </m:r>
                      </m:e>
                      <m:sub>
                        <m:r>
                          <a:rPr lang="en-US" sz="3200" b="0" i="1" smtClean="0">
                            <a:latin typeface="Cambria Math" panose="02040503050406030204" pitchFamily="18" charset="0"/>
                          </a:rPr>
                          <m:t>0</m:t>
                        </m:r>
                      </m:sub>
                    </m:sSub>
                  </m:oMath>
                </a14:m>
                <a:r>
                  <a:rPr lang="en-US" sz="3200" dirty="0"/>
                  <a:t> </a:t>
                </a:r>
              </a:p>
            </p:txBody>
          </p:sp>
        </mc:Choice>
        <mc:Fallback>
          <p:sp>
            <p:nvSpPr>
              <p:cNvPr id="62" name="TextBox 61">
                <a:extLst>
                  <a:ext uri="{FF2B5EF4-FFF2-40B4-BE49-F238E27FC236}">
                    <a16:creationId xmlns:a16="http://schemas.microsoft.com/office/drawing/2014/main" id="{E9C3F7B4-CF5C-5268-3115-3881BA90CFFA}"/>
                  </a:ext>
                </a:extLst>
              </p:cNvPr>
              <p:cNvSpPr txBox="1">
                <a:spLocks noRot="1" noChangeAspect="1" noMove="1" noResize="1" noEditPoints="1" noAdjustHandles="1" noChangeArrowheads="1" noChangeShapeType="1" noTextEdit="1"/>
              </p:cNvSpPr>
              <p:nvPr/>
            </p:nvSpPr>
            <p:spPr>
              <a:xfrm>
                <a:off x="9339485" y="16571619"/>
                <a:ext cx="902512" cy="492443"/>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27" name="TextBox 1026">
                <a:extLst>
                  <a:ext uri="{FF2B5EF4-FFF2-40B4-BE49-F238E27FC236}">
                    <a16:creationId xmlns:a16="http://schemas.microsoft.com/office/drawing/2014/main" id="{6DAFBB26-1FA2-72BB-B0ED-12AAA9FDEDAB}"/>
                  </a:ext>
                </a:extLst>
              </p:cNvPr>
              <p:cNvSpPr txBox="1"/>
              <p:nvPr/>
            </p:nvSpPr>
            <p:spPr>
              <a:xfrm>
                <a:off x="313612" y="17519143"/>
                <a:ext cx="13605756" cy="2400657"/>
              </a:xfrm>
              <a:prstGeom prst="rect">
                <a:avLst/>
              </a:prstGeom>
              <a:noFill/>
            </p:spPr>
            <p:txBody>
              <a:bodyPr wrap="square" rtlCol="0">
                <a:spAutoFit/>
              </a:bodyPr>
              <a:lstStyle/>
              <a:p>
                <a:pPr marL="457200" indent="-457200">
                  <a:buFont typeface="Arial" panose="020B0604020202020204" pitchFamily="34" charset="0"/>
                  <a:buChar char="•"/>
                </a:pPr>
                <a:r>
                  <a:rPr lang="en-US" sz="3000" dirty="0"/>
                  <a:t>Ideally: all atoms in matrix have same energy splitting </a:t>
                </a:r>
                <a14:m>
                  <m:oMath xmlns:m="http://schemas.openxmlformats.org/officeDocument/2006/math">
                    <m:r>
                      <a:rPr lang="en-US" sz="3000" i="1">
                        <a:latin typeface="Cambria Math" panose="02040503050406030204" pitchFamily="18" charset="0"/>
                      </a:rPr>
                      <m:t>h</m:t>
                    </m:r>
                    <m:sSub>
                      <m:sSubPr>
                        <m:ctrlPr>
                          <a:rPr lang="en-US" sz="3000" i="1">
                            <a:latin typeface="Cambria Math" panose="02040503050406030204" pitchFamily="18" charset="0"/>
                          </a:rPr>
                        </m:ctrlPr>
                      </m:sSubPr>
                      <m:e>
                        <m:r>
                          <a:rPr lang="en-US" sz="3000" i="1">
                            <a:latin typeface="Cambria Math" panose="02040503050406030204" pitchFamily="18" charset="0"/>
                          </a:rPr>
                          <m:t>𝜈</m:t>
                        </m:r>
                      </m:e>
                      <m:sub>
                        <m:r>
                          <a:rPr lang="en-US" sz="3000" i="1">
                            <a:latin typeface="Cambria Math" panose="02040503050406030204" pitchFamily="18" charset="0"/>
                          </a:rPr>
                          <m:t>0</m:t>
                        </m:r>
                      </m:sub>
                    </m:sSub>
                  </m:oMath>
                </a14:m>
                <a:r>
                  <a:rPr lang="en-US" sz="3000" dirty="0"/>
                  <a:t>. This would result in zero inhomogeneous broadening.</a:t>
                </a:r>
              </a:p>
              <a:p>
                <a:pPr marL="457200" indent="-457200">
                  <a:buFont typeface="Arial" panose="020B0604020202020204" pitchFamily="34" charset="0"/>
                  <a:buChar char="•"/>
                </a:pPr>
                <a:r>
                  <a:rPr lang="en-US" sz="3000" dirty="0"/>
                  <a:t>However, neighboring spins can interact and shift each other’s energy. This interaction is largely through magnetic interactions.</a:t>
                </a:r>
              </a:p>
              <a:p>
                <a:pPr marL="457200" indent="-457200">
                  <a:buFont typeface="Arial" panose="020B0604020202020204" pitchFamily="34" charset="0"/>
                  <a:buChar char="•"/>
                </a:pPr>
                <a:r>
                  <a:rPr lang="en-US" sz="3000" dirty="0"/>
                  <a:t>Model spins as dipole magnets (like a bar magnet)</a:t>
                </a:r>
              </a:p>
            </p:txBody>
          </p:sp>
        </mc:Choice>
        <mc:Fallback>
          <p:sp>
            <p:nvSpPr>
              <p:cNvPr id="1027" name="TextBox 1026">
                <a:extLst>
                  <a:ext uri="{FF2B5EF4-FFF2-40B4-BE49-F238E27FC236}">
                    <a16:creationId xmlns:a16="http://schemas.microsoft.com/office/drawing/2014/main" id="{6DAFBB26-1FA2-72BB-B0ED-12AAA9FDEDAB}"/>
                  </a:ext>
                </a:extLst>
              </p:cNvPr>
              <p:cNvSpPr txBox="1">
                <a:spLocks noRot="1" noChangeAspect="1" noMove="1" noResize="1" noEditPoints="1" noAdjustHandles="1" noChangeArrowheads="1" noChangeShapeType="1" noTextEdit="1"/>
              </p:cNvSpPr>
              <p:nvPr/>
            </p:nvSpPr>
            <p:spPr>
              <a:xfrm>
                <a:off x="313612" y="17519143"/>
                <a:ext cx="13605756" cy="2400657"/>
              </a:xfrm>
              <a:prstGeom prst="rect">
                <a:avLst/>
              </a:prstGeom>
              <a:blipFill>
                <a:blip r:embed="rId25"/>
                <a:stretch>
                  <a:fillRect l="-896" t="-3046" r="-896" b="-7107"/>
                </a:stretch>
              </a:blipFill>
            </p:spPr>
            <p:txBody>
              <a:bodyPr/>
              <a:lstStyle/>
              <a:p>
                <a:r>
                  <a:rPr lang="en-US">
                    <a:noFill/>
                  </a:rPr>
                  <a:t> </a:t>
                </a:r>
              </a:p>
            </p:txBody>
          </p:sp>
        </mc:Fallback>
      </mc:AlternateContent>
      <p:pic>
        <p:nvPicPr>
          <p:cNvPr id="1031" name="Picture 1030" descr="plot - Matplotlib Wavy Arrow - Stack Overflow">
            <a:extLst>
              <a:ext uri="{FF2B5EF4-FFF2-40B4-BE49-F238E27FC236}">
                <a16:creationId xmlns:a16="http://schemas.microsoft.com/office/drawing/2014/main" id="{0C06E859-0D3A-FF38-E74A-95C6BA23C2B2}"/>
              </a:ext>
            </a:extLst>
          </p:cNvPr>
          <p:cNvPicPr>
            <a:picLocks noChangeAspect="1"/>
          </p:cNvPicPr>
          <p:nvPr/>
        </p:nvPicPr>
        <p:blipFill>
          <a:blip r:embed="rId23"/>
          <a:srcRect l="31023" t="39494" r="10939" b="38801"/>
          <a:stretch>
            <a:fillRect/>
          </a:stretch>
        </p:blipFill>
        <p:spPr>
          <a:xfrm rot="10800000">
            <a:off x="9305943" y="29365754"/>
            <a:ext cx="3538489" cy="587230"/>
          </a:xfrm>
          <a:prstGeom prst="rect">
            <a:avLst/>
          </a:prstGeom>
        </p:spPr>
      </p:pic>
      <mc:AlternateContent xmlns:mc="http://schemas.openxmlformats.org/markup-compatibility/2006">
        <mc:Choice xmlns:a14="http://schemas.microsoft.com/office/drawing/2010/main" Requires="a14">
          <p:sp>
            <p:nvSpPr>
              <p:cNvPr id="1034" name="TextBox 1033">
                <a:extLst>
                  <a:ext uri="{FF2B5EF4-FFF2-40B4-BE49-F238E27FC236}">
                    <a16:creationId xmlns:a16="http://schemas.microsoft.com/office/drawing/2014/main" id="{0B98913F-5CC5-A237-8A1F-7A6FB7A811C1}"/>
                  </a:ext>
                </a:extLst>
              </p:cNvPr>
              <p:cNvSpPr txBox="1"/>
              <p:nvPr/>
            </p:nvSpPr>
            <p:spPr>
              <a:xfrm>
                <a:off x="10523954" y="29936984"/>
                <a:ext cx="1964526" cy="492443"/>
              </a:xfrm>
              <a:prstGeom prst="rect">
                <a:avLst/>
              </a:prstGeom>
              <a:noFill/>
            </p:spPr>
            <p:txBody>
              <a:bodyPr wrap="square" lIns="0" tIns="0" rIns="0" bIns="0" rtlCol="0">
                <a:spAutoFit/>
              </a:bodyPr>
              <a:lstStyle/>
              <a:p>
                <a14:m>
                  <m:oMath xmlns:m="http://schemas.openxmlformats.org/officeDocument/2006/math">
                    <m:r>
                      <a:rPr lang="en-US" sz="3200" b="0" i="1" smtClean="0">
                        <a:latin typeface="Cambria Math" panose="02040503050406030204" pitchFamily="18" charset="0"/>
                      </a:rPr>
                      <m:t>h</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r>
                          <a:rPr lang="en-US" sz="3200" b="0" i="1" smtClean="0">
                            <a:latin typeface="Cambria Math" panose="02040503050406030204" pitchFamily="18" charset="0"/>
                          </a:rPr>
                          <m:t>𝜈</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r>
                      <m:rPr>
                        <m:sty m:val="p"/>
                      </m:rPr>
                      <a:rPr lang="en-US" sz="3200" b="0" i="0" smtClean="0">
                        <a:latin typeface="Cambria Math" panose="02040503050406030204" pitchFamily="18" charset="0"/>
                      </a:rPr>
                      <m:t>Δ</m:t>
                    </m:r>
                    <m:r>
                      <a:rPr lang="en-US" sz="3200" b="0" i="1" smtClean="0">
                        <a:latin typeface="Cambria Math" panose="02040503050406030204" pitchFamily="18" charset="0"/>
                      </a:rPr>
                      <m:t>𝜈</m:t>
                    </m:r>
                    <m:r>
                      <a:rPr lang="en-US" sz="3200" b="0" i="1" smtClean="0">
                        <a:latin typeface="Cambria Math" panose="02040503050406030204" pitchFamily="18" charset="0"/>
                      </a:rPr>
                      <m:t>)</m:t>
                    </m:r>
                  </m:oMath>
                </a14:m>
                <a:r>
                  <a:rPr lang="en-US" sz="3200" dirty="0"/>
                  <a:t> </a:t>
                </a:r>
              </a:p>
            </p:txBody>
          </p:sp>
        </mc:Choice>
        <mc:Fallback>
          <p:sp>
            <p:nvSpPr>
              <p:cNvPr id="1034" name="TextBox 1033">
                <a:extLst>
                  <a:ext uri="{FF2B5EF4-FFF2-40B4-BE49-F238E27FC236}">
                    <a16:creationId xmlns:a16="http://schemas.microsoft.com/office/drawing/2014/main" id="{0B98913F-5CC5-A237-8A1F-7A6FB7A811C1}"/>
                  </a:ext>
                </a:extLst>
              </p:cNvPr>
              <p:cNvSpPr txBox="1">
                <a:spLocks noRot="1" noChangeAspect="1" noMove="1" noResize="1" noEditPoints="1" noAdjustHandles="1" noChangeArrowheads="1" noChangeShapeType="1" noTextEdit="1"/>
              </p:cNvSpPr>
              <p:nvPr/>
            </p:nvSpPr>
            <p:spPr>
              <a:xfrm>
                <a:off x="10523954" y="29936984"/>
                <a:ext cx="1964526" cy="492443"/>
              </a:xfrm>
              <a:prstGeom prst="rect">
                <a:avLst/>
              </a:prstGeom>
              <a:blipFill>
                <a:blip r:embed="rId26"/>
                <a:stretch>
                  <a:fillRect/>
                </a:stretch>
              </a:blipFill>
            </p:spPr>
            <p:txBody>
              <a:bodyPr/>
              <a:lstStyle/>
              <a:p>
                <a:r>
                  <a:rPr lang="en-US">
                    <a:noFill/>
                  </a:rPr>
                  <a:t> </a:t>
                </a:r>
              </a:p>
            </p:txBody>
          </p:sp>
        </mc:Fallback>
      </mc:AlternateContent>
      <p:cxnSp>
        <p:nvCxnSpPr>
          <p:cNvPr id="1040" name="Straight Arrow Connector 1039">
            <a:extLst>
              <a:ext uri="{FF2B5EF4-FFF2-40B4-BE49-F238E27FC236}">
                <a16:creationId xmlns:a16="http://schemas.microsoft.com/office/drawing/2014/main" id="{296967FB-B1DA-E660-83E3-F3DD57D44F99}"/>
              </a:ext>
            </a:extLst>
          </p:cNvPr>
          <p:cNvCxnSpPr>
            <a:cxnSpLocks/>
          </p:cNvCxnSpPr>
          <p:nvPr/>
        </p:nvCxnSpPr>
        <p:spPr>
          <a:xfrm flipV="1">
            <a:off x="7138375" y="15764044"/>
            <a:ext cx="0" cy="1289019"/>
          </a:xfrm>
          <a:prstGeom prst="straightConnector1">
            <a:avLst/>
          </a:prstGeom>
          <a:ln w="571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052" name="Straight Arrow Connector 1051">
            <a:extLst>
              <a:ext uri="{FF2B5EF4-FFF2-40B4-BE49-F238E27FC236}">
                <a16:creationId xmlns:a16="http://schemas.microsoft.com/office/drawing/2014/main" id="{EA162359-3A26-6369-711A-E1FEF922CF98}"/>
              </a:ext>
            </a:extLst>
          </p:cNvPr>
          <p:cNvCxnSpPr>
            <a:cxnSpLocks/>
          </p:cNvCxnSpPr>
          <p:nvPr/>
        </p:nvCxnSpPr>
        <p:spPr>
          <a:xfrm flipH="1" flipV="1">
            <a:off x="8886690" y="28751933"/>
            <a:ext cx="26086" cy="1941642"/>
          </a:xfrm>
          <a:prstGeom prst="straightConnector1">
            <a:avLst/>
          </a:prstGeom>
          <a:ln w="571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056" name="Arrow: Down 1055">
            <a:extLst>
              <a:ext uri="{FF2B5EF4-FFF2-40B4-BE49-F238E27FC236}">
                <a16:creationId xmlns:a16="http://schemas.microsoft.com/office/drawing/2014/main" id="{AB758B9D-1380-ED72-5C00-B4B54B2C31C5}"/>
              </a:ext>
            </a:extLst>
          </p:cNvPr>
          <p:cNvSpPr/>
          <p:nvPr/>
        </p:nvSpPr>
        <p:spPr>
          <a:xfrm rot="10800000">
            <a:off x="2332501" y="28712437"/>
            <a:ext cx="690689" cy="1830763"/>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57" name="TextBox 1056">
            <a:extLst>
              <a:ext uri="{FF2B5EF4-FFF2-40B4-BE49-F238E27FC236}">
                <a16:creationId xmlns:a16="http://schemas.microsoft.com/office/drawing/2014/main" id="{043EA40C-C4ED-F4DE-0569-8A7E523BAF30}"/>
              </a:ext>
            </a:extLst>
          </p:cNvPr>
          <p:cNvSpPr txBox="1"/>
          <p:nvPr/>
        </p:nvSpPr>
        <p:spPr>
          <a:xfrm>
            <a:off x="925350" y="29250162"/>
            <a:ext cx="1828015" cy="553998"/>
          </a:xfrm>
          <a:prstGeom prst="rect">
            <a:avLst/>
          </a:prstGeom>
          <a:noFill/>
        </p:spPr>
        <p:txBody>
          <a:bodyPr wrap="square" rtlCol="0">
            <a:spAutoFit/>
          </a:bodyPr>
          <a:lstStyle/>
          <a:p>
            <a:r>
              <a:rPr lang="en-US" sz="3000" dirty="0"/>
              <a:t>Energy</a:t>
            </a:r>
          </a:p>
        </p:txBody>
      </p:sp>
      <p:cxnSp>
        <p:nvCxnSpPr>
          <p:cNvPr id="1060" name="Straight Connector 1059">
            <a:extLst>
              <a:ext uri="{FF2B5EF4-FFF2-40B4-BE49-F238E27FC236}">
                <a16:creationId xmlns:a16="http://schemas.microsoft.com/office/drawing/2014/main" id="{71ACCC32-EAC1-95D4-5438-E67EE2552509}"/>
              </a:ext>
            </a:extLst>
          </p:cNvPr>
          <p:cNvCxnSpPr>
            <a:cxnSpLocks/>
          </p:cNvCxnSpPr>
          <p:nvPr/>
        </p:nvCxnSpPr>
        <p:spPr>
          <a:xfrm flipV="1">
            <a:off x="7331378" y="30714288"/>
            <a:ext cx="1795203" cy="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BDF75837-DC6F-FD5D-C210-82CDA7194DA6}"/>
              </a:ext>
            </a:extLst>
          </p:cNvPr>
          <p:cNvCxnSpPr>
            <a:cxnSpLocks/>
          </p:cNvCxnSpPr>
          <p:nvPr/>
        </p:nvCxnSpPr>
        <p:spPr>
          <a:xfrm flipV="1">
            <a:off x="4833028" y="29006219"/>
            <a:ext cx="1795203" cy="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5A10EF26-BC28-A240-33BE-BFA4BCDCD28A}"/>
              </a:ext>
            </a:extLst>
          </p:cNvPr>
          <p:cNvCxnSpPr>
            <a:cxnSpLocks/>
          </p:cNvCxnSpPr>
          <p:nvPr/>
        </p:nvCxnSpPr>
        <p:spPr>
          <a:xfrm flipV="1">
            <a:off x="4904731" y="30322772"/>
            <a:ext cx="1795203" cy="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74" name="TextBox 1073">
                <a:extLst>
                  <a:ext uri="{FF2B5EF4-FFF2-40B4-BE49-F238E27FC236}">
                    <a16:creationId xmlns:a16="http://schemas.microsoft.com/office/drawing/2014/main" id="{7AD620B4-225F-96C9-847C-B8F1B53EA9D9}"/>
                  </a:ext>
                </a:extLst>
              </p:cNvPr>
              <p:cNvSpPr txBox="1"/>
              <p:nvPr/>
            </p:nvSpPr>
            <p:spPr>
              <a:xfrm>
                <a:off x="15044054" y="6844385"/>
                <a:ext cx="13729362" cy="2899833"/>
              </a:xfrm>
              <a:prstGeom prst="rect">
                <a:avLst/>
              </a:prstGeom>
              <a:noFill/>
            </p:spPr>
            <p:txBody>
              <a:bodyPr wrap="square" rtlCol="0">
                <a:spAutoFit/>
              </a:bodyPr>
              <a:lstStyle/>
              <a:p>
                <a:pPr marL="457200" indent="-457200">
                  <a:buFont typeface="Arial" panose="020B0604020202020204" pitchFamily="34" charset="0"/>
                  <a:buChar char="•"/>
                </a:pPr>
                <a:r>
                  <a:rPr lang="en-US" sz="3000" dirty="0"/>
                  <a:t>Inhomogeneous broadening can be thought of as the distribution of </a:t>
                </a:r>
                <a14:m>
                  <m:oMath xmlns:m="http://schemas.openxmlformats.org/officeDocument/2006/math">
                    <m:r>
                      <m:rPr>
                        <m:sty m:val="p"/>
                      </m:rPr>
                      <a:rPr lang="en-US" sz="3000">
                        <a:latin typeface="Cambria Math" panose="02040503050406030204" pitchFamily="18" charset="0"/>
                      </a:rPr>
                      <m:t>Δ</m:t>
                    </m:r>
                    <m:r>
                      <a:rPr lang="en-US" sz="3000" i="1">
                        <a:latin typeface="Cambria Math" panose="02040503050406030204" pitchFamily="18" charset="0"/>
                      </a:rPr>
                      <m:t>𝜈</m:t>
                    </m:r>
                  </m:oMath>
                </a14:m>
                <a:r>
                  <a:rPr lang="en-US" sz="3000" dirty="0"/>
                  <a:t> in an ensemble of atoms (dopants).</a:t>
                </a:r>
              </a:p>
              <a:p>
                <a:pPr marL="457200" indent="-457200">
                  <a:buFont typeface="Arial" panose="020B0604020202020204" pitchFamily="34" charset="0"/>
                  <a:buChar char="•"/>
                </a:pPr>
                <a:r>
                  <a:rPr lang="en-US" sz="3000" dirty="0"/>
                  <a:t>To estimate this distribution, we use a Monte Carlo method </a:t>
                </a:r>
              </a:p>
              <a:p>
                <a:pPr marL="457200" indent="-457200">
                  <a:buFont typeface="Arial" panose="020B0604020202020204" pitchFamily="34" charset="0"/>
                  <a:buChar char="•"/>
                </a:pPr>
                <a:r>
                  <a:rPr lang="en-US" sz="3000" dirty="0"/>
                  <a:t>We start by defining a test cell with side length </a:t>
                </a:r>
                <a14:m>
                  <m:oMath xmlns:m="http://schemas.openxmlformats.org/officeDocument/2006/math">
                    <m:r>
                      <a:rPr lang="en-US" sz="3000" b="0" i="1" smtClean="0">
                        <a:latin typeface="Cambria Math" panose="02040503050406030204" pitchFamily="18" charset="0"/>
                      </a:rPr>
                      <m:t>𝐿</m:t>
                    </m:r>
                  </m:oMath>
                </a14:m>
                <a:r>
                  <a:rPr lang="en-US" sz="3000" dirty="0"/>
                  <a:t>. We place a test atom at the origin and distribute </a:t>
                </a:r>
                <a14:m>
                  <m:oMath xmlns:m="http://schemas.openxmlformats.org/officeDocument/2006/math">
                    <m:sSub>
                      <m:sSubPr>
                        <m:ctrlPr>
                          <a:rPr lang="en-US" sz="3000" b="0" i="1" dirty="0" smtClean="0">
                            <a:latin typeface="Cambria Math" panose="02040503050406030204" pitchFamily="18" charset="0"/>
                          </a:rPr>
                        </m:ctrlPr>
                      </m:sSubPr>
                      <m:e>
                        <m:r>
                          <a:rPr lang="en-US" sz="3000" i="1" dirty="0">
                            <a:latin typeface="Cambria Math" panose="02040503050406030204" pitchFamily="18" charset="0"/>
                          </a:rPr>
                          <m:t>𝑁</m:t>
                        </m:r>
                      </m:e>
                      <m:sub>
                        <m:r>
                          <a:rPr lang="en-US" sz="3000" b="0" i="1" dirty="0" smtClean="0">
                            <a:latin typeface="Cambria Math" panose="02040503050406030204" pitchFamily="18" charset="0"/>
                          </a:rPr>
                          <m:t>𝑛𝑒𝑖𝑔h𝑏𝑜𝑟𝑠</m:t>
                        </m:r>
                      </m:sub>
                    </m:sSub>
                    <m:r>
                      <a:rPr lang="en-US" sz="3000" i="1">
                        <a:latin typeface="Cambria Math" panose="02040503050406030204" pitchFamily="18" charset="0"/>
                      </a:rPr>
                      <m:t> </m:t>
                    </m:r>
                  </m:oMath>
                </a14:m>
                <a:r>
                  <a:rPr lang="en-US" sz="3000" dirty="0"/>
                  <a:t>dopants, located at </a:t>
                </a:r>
                <a14:m>
                  <m:oMath xmlns:m="http://schemas.openxmlformats.org/officeDocument/2006/math">
                    <m:sSub>
                      <m:sSubPr>
                        <m:ctrlPr>
                          <a:rPr lang="en-US" sz="2800" b="1" i="1">
                            <a:latin typeface="Cambria Math" panose="02040503050406030204" pitchFamily="18" charset="0"/>
                          </a:rPr>
                        </m:ctrlPr>
                      </m:sSubPr>
                      <m:e>
                        <m:r>
                          <a:rPr lang="en-US" sz="2800" b="1" i="1">
                            <a:latin typeface="Cambria Math" panose="02040503050406030204" pitchFamily="18" charset="0"/>
                          </a:rPr>
                          <m:t>𝒓</m:t>
                        </m:r>
                      </m:e>
                      <m:sub>
                        <m:r>
                          <a:rPr lang="en-US" sz="2800" i="1">
                            <a:latin typeface="Cambria Math" panose="02040503050406030204" pitchFamily="18" charset="0"/>
                          </a:rPr>
                          <m:t>𝑖</m:t>
                        </m:r>
                      </m:sub>
                    </m:sSub>
                  </m:oMath>
                </a14:m>
                <a:r>
                  <a:rPr lang="en-US" sz="3000" dirty="0"/>
                  <a:t>, in the cell corresponding to the atom density </a:t>
                </a:r>
                <a14:m>
                  <m:oMath xmlns:m="http://schemas.openxmlformats.org/officeDocument/2006/math">
                    <m:r>
                      <a:rPr lang="en-US" sz="3000" b="0" i="1" smtClean="0">
                        <a:latin typeface="Cambria Math" panose="02040503050406030204" pitchFamily="18" charset="0"/>
                      </a:rPr>
                      <m:t>𝜌</m:t>
                    </m:r>
                  </m:oMath>
                </a14:m>
                <a:r>
                  <a:rPr lang="en-US" sz="3000" dirty="0"/>
                  <a:t>.  </a:t>
                </a:r>
              </a:p>
            </p:txBody>
          </p:sp>
        </mc:Choice>
        <mc:Fallback>
          <p:sp>
            <p:nvSpPr>
              <p:cNvPr id="1074" name="TextBox 1073">
                <a:extLst>
                  <a:ext uri="{FF2B5EF4-FFF2-40B4-BE49-F238E27FC236}">
                    <a16:creationId xmlns:a16="http://schemas.microsoft.com/office/drawing/2014/main" id="{7AD620B4-225F-96C9-847C-B8F1B53EA9D9}"/>
                  </a:ext>
                </a:extLst>
              </p:cNvPr>
              <p:cNvSpPr txBox="1">
                <a:spLocks noRot="1" noChangeAspect="1" noMove="1" noResize="1" noEditPoints="1" noAdjustHandles="1" noChangeArrowheads="1" noChangeShapeType="1" noTextEdit="1"/>
              </p:cNvSpPr>
              <p:nvPr/>
            </p:nvSpPr>
            <p:spPr>
              <a:xfrm>
                <a:off x="15044054" y="6844385"/>
                <a:ext cx="13729362" cy="2899833"/>
              </a:xfrm>
              <a:prstGeom prst="rect">
                <a:avLst/>
              </a:prstGeom>
              <a:blipFill>
                <a:blip r:embed="rId27"/>
                <a:stretch>
                  <a:fillRect l="-933" t="-2526" r="-311" b="-5895"/>
                </a:stretch>
              </a:blipFill>
            </p:spPr>
            <p:txBody>
              <a:bodyPr/>
              <a:lstStyle/>
              <a:p>
                <a:r>
                  <a:rPr lang="en-US">
                    <a:noFill/>
                  </a:rPr>
                  <a:t> </a:t>
                </a:r>
              </a:p>
            </p:txBody>
          </p:sp>
        </mc:Fallback>
      </mc:AlternateContent>
      <p:sp>
        <p:nvSpPr>
          <p:cNvPr id="1078" name="Arrow: Down 1077">
            <a:extLst>
              <a:ext uri="{FF2B5EF4-FFF2-40B4-BE49-F238E27FC236}">
                <a16:creationId xmlns:a16="http://schemas.microsoft.com/office/drawing/2014/main" id="{E69EC59E-ECE7-07DC-D366-DFE395523E16}"/>
              </a:ext>
            </a:extLst>
          </p:cNvPr>
          <p:cNvSpPr/>
          <p:nvPr/>
        </p:nvSpPr>
        <p:spPr>
          <a:xfrm rot="10800000">
            <a:off x="12738050" y="20519616"/>
            <a:ext cx="361620" cy="3515691"/>
          </a:xfrm>
          <a:prstGeom prst="downArrow">
            <a:avLst/>
          </a:prstGeom>
          <a:solidFill>
            <a:srgbClr val="401F6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7CB60683-8569-5630-7778-155117507AC3}"/>
              </a:ext>
            </a:extLst>
          </p:cNvPr>
          <p:cNvSpPr/>
          <p:nvPr/>
        </p:nvSpPr>
        <p:spPr>
          <a:xfrm>
            <a:off x="12584117" y="21291312"/>
            <a:ext cx="687887" cy="1140777"/>
          </a:xfrm>
          <a:prstGeom prst="rect">
            <a:avLst/>
          </a:prstGeom>
          <a:solidFill>
            <a:srgbClr val="FF000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N</a:t>
            </a:r>
          </a:p>
        </p:txBody>
      </p:sp>
      <p:sp>
        <p:nvSpPr>
          <p:cNvPr id="1077" name="Rectangle 1076">
            <a:extLst>
              <a:ext uri="{FF2B5EF4-FFF2-40B4-BE49-F238E27FC236}">
                <a16:creationId xmlns:a16="http://schemas.microsoft.com/office/drawing/2014/main" id="{2333BF4E-0F07-E336-CF7D-C21A35195D56}"/>
              </a:ext>
            </a:extLst>
          </p:cNvPr>
          <p:cNvSpPr/>
          <p:nvPr/>
        </p:nvSpPr>
        <p:spPr>
          <a:xfrm>
            <a:off x="12574915" y="22434330"/>
            <a:ext cx="687887" cy="1140777"/>
          </a:xfrm>
          <a:prstGeom prst="rect">
            <a:avLst/>
          </a:prstGeom>
          <a:solidFill>
            <a:schemeClr val="bg1">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S</a:t>
            </a:r>
          </a:p>
        </p:txBody>
      </p:sp>
      <mc:AlternateContent xmlns:mc="http://schemas.openxmlformats.org/markup-compatibility/2006">
        <mc:Choice xmlns:a14="http://schemas.microsoft.com/office/drawing/2010/main" Requires="a14">
          <p:sp>
            <p:nvSpPr>
              <p:cNvPr id="1080" name="TextBox 1079">
                <a:extLst>
                  <a:ext uri="{FF2B5EF4-FFF2-40B4-BE49-F238E27FC236}">
                    <a16:creationId xmlns:a16="http://schemas.microsoft.com/office/drawing/2014/main" id="{1087A275-7047-5450-E0F7-167C03E0E16D}"/>
                  </a:ext>
                </a:extLst>
              </p:cNvPr>
              <p:cNvSpPr txBox="1"/>
              <p:nvPr/>
            </p:nvSpPr>
            <p:spPr>
              <a:xfrm>
                <a:off x="12274005" y="20059141"/>
                <a:ext cx="1964526" cy="492443"/>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sz="3200" b="1" i="1" smtClean="0">
                          <a:latin typeface="Cambria Math" panose="02040503050406030204" pitchFamily="18" charset="0"/>
                        </a:rPr>
                        <m:t>𝒎</m:t>
                      </m:r>
                    </m:oMath>
                  </m:oMathPara>
                </a14:m>
                <a:endParaRPr lang="en-US" sz="3200" b="1" dirty="0"/>
              </a:p>
            </p:txBody>
          </p:sp>
        </mc:Choice>
        <mc:Fallback>
          <p:sp>
            <p:nvSpPr>
              <p:cNvPr id="1080" name="TextBox 1079">
                <a:extLst>
                  <a:ext uri="{FF2B5EF4-FFF2-40B4-BE49-F238E27FC236}">
                    <a16:creationId xmlns:a16="http://schemas.microsoft.com/office/drawing/2014/main" id="{1087A275-7047-5450-E0F7-167C03E0E16D}"/>
                  </a:ext>
                </a:extLst>
              </p:cNvPr>
              <p:cNvSpPr txBox="1">
                <a:spLocks noRot="1" noChangeAspect="1" noMove="1" noResize="1" noEditPoints="1" noAdjustHandles="1" noChangeArrowheads="1" noChangeShapeType="1" noTextEdit="1"/>
              </p:cNvSpPr>
              <p:nvPr/>
            </p:nvSpPr>
            <p:spPr>
              <a:xfrm>
                <a:off x="12274005" y="20059141"/>
                <a:ext cx="1964526" cy="492443"/>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82" name="TextBox 1081">
                <a:extLst>
                  <a:ext uri="{FF2B5EF4-FFF2-40B4-BE49-F238E27FC236}">
                    <a16:creationId xmlns:a16="http://schemas.microsoft.com/office/drawing/2014/main" id="{4F848A64-9783-DB56-D353-83310502619F}"/>
                  </a:ext>
                </a:extLst>
              </p:cNvPr>
              <p:cNvSpPr txBox="1"/>
              <p:nvPr/>
            </p:nvSpPr>
            <p:spPr>
              <a:xfrm>
                <a:off x="15044054" y="21840279"/>
                <a:ext cx="13791618" cy="3807261"/>
              </a:xfrm>
              <a:prstGeom prst="rect">
                <a:avLst/>
              </a:prstGeom>
              <a:noFill/>
            </p:spPr>
            <p:txBody>
              <a:bodyPr wrap="square" rtlCol="0">
                <a:spAutoFit/>
              </a:bodyPr>
              <a:lstStyle/>
              <a:p>
                <a:r>
                  <a:rPr lang="en-US" sz="3000" b="1" dirty="0"/>
                  <a:t>Determining Broadening:</a:t>
                </a:r>
              </a:p>
              <a:p>
                <a:pPr marL="457200" indent="-457200">
                  <a:buFont typeface="Arial" panose="020B0604020202020204" pitchFamily="34" charset="0"/>
                  <a:buChar char="•"/>
                </a:pPr>
                <a:r>
                  <a:rPr lang="en-US" sz="3000" dirty="0"/>
                  <a:t>Using the distribution of spins in our test cell we determine the total magnetic field at the origin and corresponding frequency shift:</a:t>
                </a:r>
              </a:p>
              <a:p>
                <a14:m>
                  <m:oMathPara xmlns:m="http://schemas.openxmlformats.org/officeDocument/2006/math">
                    <m:oMathParaPr>
                      <m:jc m:val="centerGroup"/>
                    </m:oMathParaPr>
                    <m:oMath xmlns:m="http://schemas.openxmlformats.org/officeDocument/2006/math">
                      <m:sSub>
                        <m:sSubPr>
                          <m:ctrlPr>
                            <a:rPr lang="en-US" sz="3000" b="0" i="1" dirty="0" smtClean="0">
                              <a:latin typeface="Cambria Math" panose="02040503050406030204" pitchFamily="18" charset="0"/>
                            </a:rPr>
                          </m:ctrlPr>
                        </m:sSubPr>
                        <m:e>
                          <m:r>
                            <a:rPr lang="en-US" sz="3000" i="1" dirty="0" smtClean="0">
                              <a:latin typeface="Cambria Math" panose="02040503050406030204" pitchFamily="18" charset="0"/>
                            </a:rPr>
                            <m:t>𝐵</m:t>
                          </m:r>
                        </m:e>
                        <m:sub>
                          <m:r>
                            <a:rPr lang="en-US" sz="3000" b="0" i="1" dirty="0" smtClean="0">
                              <a:latin typeface="Cambria Math" panose="02040503050406030204" pitchFamily="18" charset="0"/>
                            </a:rPr>
                            <m:t>𝑧</m:t>
                          </m:r>
                        </m:sub>
                      </m:sSub>
                      <m:d>
                        <m:dPr>
                          <m:ctrlPr>
                            <a:rPr lang="en-US" sz="3000" b="0" i="1" dirty="0" smtClean="0">
                              <a:latin typeface="Cambria Math" panose="02040503050406030204" pitchFamily="18" charset="0"/>
                            </a:rPr>
                          </m:ctrlPr>
                        </m:dPr>
                        <m:e>
                          <m:r>
                            <a:rPr lang="en-US" sz="3000" b="0" i="1" dirty="0" smtClean="0">
                              <a:latin typeface="Cambria Math" panose="02040503050406030204" pitchFamily="18" charset="0"/>
                            </a:rPr>
                            <m:t>0,0,0</m:t>
                          </m:r>
                        </m:e>
                      </m:d>
                      <m:r>
                        <a:rPr lang="en-US" sz="3000" i="1">
                          <a:latin typeface="Cambria Math" panose="02040503050406030204" pitchFamily="18" charset="0"/>
                        </a:rPr>
                        <m:t>=</m:t>
                      </m:r>
                      <m:acc>
                        <m:accPr>
                          <m:chr m:val="̂"/>
                          <m:ctrlPr>
                            <a:rPr lang="en-US" sz="3000" i="1">
                              <a:latin typeface="Cambria Math" panose="02040503050406030204" pitchFamily="18" charset="0"/>
                            </a:rPr>
                          </m:ctrlPr>
                        </m:accPr>
                        <m:e>
                          <m:r>
                            <a:rPr lang="en-US" sz="3000" b="1" i="1">
                              <a:latin typeface="Cambria Math" panose="02040503050406030204" pitchFamily="18" charset="0"/>
                            </a:rPr>
                            <m:t>𝒛</m:t>
                          </m:r>
                        </m:e>
                      </m:acc>
                      <m:r>
                        <a:rPr lang="en-US" sz="3000" i="1">
                          <a:latin typeface="Cambria Math" panose="02040503050406030204" pitchFamily="18" charset="0"/>
                        </a:rPr>
                        <m:t>⋅</m:t>
                      </m:r>
                      <m:nary>
                        <m:naryPr>
                          <m:chr m:val="∑"/>
                          <m:limLoc m:val="subSup"/>
                          <m:ctrlPr>
                            <a:rPr lang="en-US" sz="3000" i="1">
                              <a:latin typeface="Cambria Math" panose="02040503050406030204" pitchFamily="18" charset="0"/>
                            </a:rPr>
                          </m:ctrlPr>
                        </m:naryPr>
                        <m:sub>
                          <m:r>
                            <m:rPr>
                              <m:brk m:alnAt="25"/>
                            </m:rPr>
                            <a:rPr lang="en-US" sz="3000" i="1">
                              <a:latin typeface="Cambria Math" panose="02040503050406030204" pitchFamily="18" charset="0"/>
                            </a:rPr>
                            <m:t>𝑖</m:t>
                          </m:r>
                          <m:r>
                            <a:rPr lang="en-US" sz="3000" i="1">
                              <a:latin typeface="Cambria Math" panose="02040503050406030204" pitchFamily="18" charset="0"/>
                            </a:rPr>
                            <m:t>=1</m:t>
                          </m:r>
                        </m:sub>
                        <m:sup>
                          <m:sSub>
                            <m:sSubPr>
                              <m:ctrlPr>
                                <a:rPr lang="en-US" sz="3000" i="1">
                                  <a:latin typeface="Cambria Math" panose="02040503050406030204" pitchFamily="18" charset="0"/>
                                </a:rPr>
                              </m:ctrlPr>
                            </m:sSubPr>
                            <m:e>
                              <m:r>
                                <a:rPr lang="en-US" sz="3000" i="1">
                                  <a:latin typeface="Cambria Math" panose="02040503050406030204" pitchFamily="18" charset="0"/>
                                </a:rPr>
                                <m:t>𝑁</m:t>
                              </m:r>
                            </m:e>
                            <m:sub>
                              <m:r>
                                <a:rPr lang="en-US" sz="3000" b="0" i="1" smtClean="0">
                                  <a:latin typeface="Cambria Math" panose="02040503050406030204" pitchFamily="18" charset="0"/>
                                </a:rPr>
                                <m:t>𝑛𝑒𝑖𝑔h𝑏𝑜𝑟𝑠</m:t>
                              </m:r>
                            </m:sub>
                          </m:sSub>
                        </m:sup>
                        <m:e>
                          <m:r>
                            <a:rPr lang="en-US" sz="3000" b="1" i="1">
                              <a:latin typeface="Cambria Math" panose="02040503050406030204" pitchFamily="18" charset="0"/>
                            </a:rPr>
                            <m:t>𝑩</m:t>
                          </m:r>
                          <m:d>
                            <m:dPr>
                              <m:ctrlPr>
                                <a:rPr lang="en-US" sz="3000" b="1" i="1">
                                  <a:latin typeface="Cambria Math" panose="02040503050406030204" pitchFamily="18" charset="0"/>
                                </a:rPr>
                              </m:ctrlPr>
                            </m:dPr>
                            <m:e>
                              <m:sSub>
                                <m:sSubPr>
                                  <m:ctrlPr>
                                    <a:rPr lang="en-US" sz="3000" b="1" i="1">
                                      <a:latin typeface="Cambria Math" panose="02040503050406030204" pitchFamily="18" charset="0"/>
                                    </a:rPr>
                                  </m:ctrlPr>
                                </m:sSubPr>
                                <m:e>
                                  <m:r>
                                    <a:rPr lang="en-US" sz="3000" b="1" i="1" smtClean="0">
                                      <a:latin typeface="Cambria Math" panose="02040503050406030204" pitchFamily="18" charset="0"/>
                                    </a:rPr>
                                    <m:t>−</m:t>
                                  </m:r>
                                  <m:r>
                                    <a:rPr lang="en-US" sz="3000" b="1" i="1">
                                      <a:latin typeface="Cambria Math" panose="02040503050406030204" pitchFamily="18" charset="0"/>
                                    </a:rPr>
                                    <m:t>𝒓</m:t>
                                  </m:r>
                                </m:e>
                                <m:sub>
                                  <m:r>
                                    <a:rPr lang="en-US" sz="3000" i="1">
                                      <a:latin typeface="Cambria Math" panose="02040503050406030204" pitchFamily="18" charset="0"/>
                                    </a:rPr>
                                    <m:t>𝑖</m:t>
                                  </m:r>
                                </m:sub>
                              </m:sSub>
                              <m:r>
                                <a:rPr lang="en-US" sz="3000" b="1" i="1" smtClean="0">
                                  <a:latin typeface="Cambria Math" panose="02040503050406030204" pitchFamily="18" charset="0"/>
                                </a:rPr>
                                <m:t>,</m:t>
                              </m:r>
                              <m:sSub>
                                <m:sSubPr>
                                  <m:ctrlPr>
                                    <a:rPr lang="en-US" sz="3000" b="1" i="1" smtClean="0">
                                      <a:latin typeface="Cambria Math" panose="02040503050406030204" pitchFamily="18" charset="0"/>
                                    </a:rPr>
                                  </m:ctrlPr>
                                </m:sSubPr>
                                <m:e>
                                  <m:r>
                                    <a:rPr lang="en-US" sz="3000" b="1" i="1" smtClean="0">
                                      <a:latin typeface="Cambria Math" panose="02040503050406030204" pitchFamily="18" charset="0"/>
                                    </a:rPr>
                                    <m:t>𝒎</m:t>
                                  </m:r>
                                </m:e>
                                <m:sub>
                                  <m:r>
                                    <a:rPr lang="en-US" sz="3000" b="1" i="0" smtClean="0">
                                      <a:latin typeface="Cambria Math" panose="02040503050406030204" pitchFamily="18" charset="0"/>
                                    </a:rPr>
                                    <m:t>𝐢</m:t>
                                  </m:r>
                                </m:sub>
                              </m:sSub>
                            </m:e>
                          </m:d>
                        </m:e>
                      </m:nary>
                      <m:r>
                        <a:rPr lang="en-US" sz="3000" b="0" i="0" smtClean="0">
                          <a:latin typeface="Cambria Math" panose="02040503050406030204" pitchFamily="18" charset="0"/>
                        </a:rPr>
                        <m:t>       </m:t>
                      </m:r>
                      <m:r>
                        <m:rPr>
                          <m:sty m:val="p"/>
                        </m:rPr>
                        <a:rPr lang="en-US" sz="3000">
                          <a:latin typeface="Cambria Math" panose="02040503050406030204" pitchFamily="18" charset="0"/>
                        </a:rPr>
                        <m:t>Δ</m:t>
                      </m:r>
                      <m:r>
                        <a:rPr lang="en-US" sz="3000" b="0" i="1" smtClean="0">
                          <a:latin typeface="Cambria Math" panose="02040503050406030204" pitchFamily="18" charset="0"/>
                        </a:rPr>
                        <m:t>𝜈</m:t>
                      </m:r>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𝛾</m:t>
                          </m:r>
                        </m:e>
                        <m:sub>
                          <m:r>
                            <m:rPr>
                              <m:sty m:val="p"/>
                            </m:rPr>
                            <a:rPr lang="en-US" sz="3000">
                              <a:latin typeface="Cambria Math" panose="02040503050406030204" pitchFamily="18" charset="0"/>
                            </a:rPr>
                            <m:t>eff</m:t>
                          </m:r>
                        </m:sub>
                      </m:sSub>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𝐵</m:t>
                          </m:r>
                        </m:e>
                        <m:sub>
                          <m:r>
                            <a:rPr lang="en-US" sz="3000" b="0" i="1" smtClean="0">
                              <a:latin typeface="Cambria Math" panose="02040503050406030204" pitchFamily="18" charset="0"/>
                            </a:rPr>
                            <m:t>𝑧</m:t>
                          </m:r>
                        </m:sub>
                      </m:sSub>
                      <m:r>
                        <a:rPr lang="en-US" sz="3000" b="0" i="1" smtClean="0">
                          <a:latin typeface="Cambria Math" panose="02040503050406030204" pitchFamily="18" charset="0"/>
                        </a:rPr>
                        <m:t>(0,0,0)</m:t>
                      </m:r>
                    </m:oMath>
                  </m:oMathPara>
                </a14:m>
                <a:endParaRPr lang="en-US" sz="3000" dirty="0"/>
              </a:p>
              <a:p>
                <a:pPr marL="457200" indent="-457200">
                  <a:buFont typeface="Arial" panose="020B0604020202020204" pitchFamily="34" charset="0"/>
                  <a:buChar char="•"/>
                </a:pPr>
                <a:r>
                  <a:rPr lang="en-US" sz="3000" dirty="0"/>
                  <a:t>By generating multiple test cells and collecting </a:t>
                </a:r>
                <a14:m>
                  <m:oMath xmlns:m="http://schemas.openxmlformats.org/officeDocument/2006/math">
                    <m:r>
                      <m:rPr>
                        <m:sty m:val="p"/>
                      </m:rPr>
                      <a:rPr lang="en-US" sz="3000" b="0" i="0" smtClean="0">
                        <a:latin typeface="Cambria Math" panose="02040503050406030204" pitchFamily="18" charset="0"/>
                      </a:rPr>
                      <m:t>Δ</m:t>
                    </m:r>
                    <m:r>
                      <a:rPr lang="en-US" sz="3000" b="0" i="1" smtClean="0">
                        <a:latin typeface="Cambria Math" panose="02040503050406030204" pitchFamily="18" charset="0"/>
                      </a:rPr>
                      <m:t>𝜈</m:t>
                    </m:r>
                  </m:oMath>
                </a14:m>
                <a:r>
                  <a:rPr lang="en-US" sz="3000" dirty="0"/>
                  <a:t> each time, we can create a distribution of how often certain </a:t>
                </a:r>
                <a14:m>
                  <m:oMath xmlns:m="http://schemas.openxmlformats.org/officeDocument/2006/math">
                    <m:r>
                      <m:rPr>
                        <m:sty m:val="p"/>
                      </m:rPr>
                      <a:rPr lang="en-US" sz="3000">
                        <a:latin typeface="Cambria Math" panose="02040503050406030204" pitchFamily="18" charset="0"/>
                      </a:rPr>
                      <m:t>Δ</m:t>
                    </m:r>
                    <m:r>
                      <a:rPr lang="en-US" sz="3000" i="1">
                        <a:latin typeface="Cambria Math" panose="02040503050406030204" pitchFamily="18" charset="0"/>
                      </a:rPr>
                      <m:t>𝜈</m:t>
                    </m:r>
                  </m:oMath>
                </a14:m>
                <a:r>
                  <a:rPr lang="en-US" sz="3000" dirty="0"/>
                  <a:t>’s occur. Extracting inhomogeneous broadening</a:t>
                </a:r>
              </a:p>
              <a:p>
                <a:r>
                  <a:rPr lang="en-US" sz="3000" dirty="0"/>
                  <a:t> </a:t>
                </a:r>
              </a:p>
            </p:txBody>
          </p:sp>
        </mc:Choice>
        <mc:Fallback>
          <p:sp>
            <p:nvSpPr>
              <p:cNvPr id="1082" name="TextBox 1081">
                <a:extLst>
                  <a:ext uri="{FF2B5EF4-FFF2-40B4-BE49-F238E27FC236}">
                    <a16:creationId xmlns:a16="http://schemas.microsoft.com/office/drawing/2014/main" id="{4F848A64-9783-DB56-D353-83310502619F}"/>
                  </a:ext>
                </a:extLst>
              </p:cNvPr>
              <p:cNvSpPr txBox="1">
                <a:spLocks noRot="1" noChangeAspect="1" noMove="1" noResize="1" noEditPoints="1" noAdjustHandles="1" noChangeArrowheads="1" noChangeShapeType="1" noTextEdit="1"/>
              </p:cNvSpPr>
              <p:nvPr/>
            </p:nvSpPr>
            <p:spPr>
              <a:xfrm>
                <a:off x="15044054" y="21840279"/>
                <a:ext cx="13791618" cy="3807261"/>
              </a:xfrm>
              <a:prstGeom prst="rect">
                <a:avLst/>
              </a:prstGeom>
              <a:blipFill>
                <a:blip r:embed="rId29"/>
                <a:stretch>
                  <a:fillRect l="-1061" t="-192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83" name="TextBox 1082">
                <a:extLst>
                  <a:ext uri="{FF2B5EF4-FFF2-40B4-BE49-F238E27FC236}">
                    <a16:creationId xmlns:a16="http://schemas.microsoft.com/office/drawing/2014/main" id="{ED834086-C09A-E7BA-8BF6-D6098EB4A544}"/>
                  </a:ext>
                </a:extLst>
              </p:cNvPr>
              <p:cNvSpPr txBox="1"/>
              <p:nvPr/>
            </p:nvSpPr>
            <p:spPr>
              <a:xfrm>
                <a:off x="23370625" y="25699511"/>
                <a:ext cx="5303834" cy="1477328"/>
              </a:xfrm>
              <a:prstGeom prst="rect">
                <a:avLst/>
              </a:prstGeom>
              <a:noFill/>
            </p:spPr>
            <p:txBody>
              <a:bodyPr wrap="square" rtlCol="0">
                <a:spAutoFit/>
              </a:bodyPr>
              <a:lstStyle/>
              <a:p>
                <a:r>
                  <a:rPr lang="en-US" sz="3000" dirty="0"/>
                  <a:t>Fit with Lorentzian to extract inhomogeneous broadening linewidth </a:t>
                </a:r>
                <a14:m>
                  <m:oMath xmlns:m="http://schemas.openxmlformats.org/officeDocument/2006/math">
                    <m:r>
                      <m:rPr>
                        <m:sty m:val="p"/>
                      </m:rPr>
                      <a:rPr lang="en-US" sz="3000" b="0" i="0" smtClean="0">
                        <a:latin typeface="Cambria Math" panose="02040503050406030204" pitchFamily="18" charset="0"/>
                      </a:rPr>
                      <m:t>Γ</m:t>
                    </m:r>
                  </m:oMath>
                </a14:m>
                <a:r>
                  <a:rPr lang="en-US" sz="3000" dirty="0"/>
                  <a:t>:  </a:t>
                </a:r>
              </a:p>
            </p:txBody>
          </p:sp>
        </mc:Choice>
        <mc:Fallback>
          <p:sp>
            <p:nvSpPr>
              <p:cNvPr id="1083" name="TextBox 1082">
                <a:extLst>
                  <a:ext uri="{FF2B5EF4-FFF2-40B4-BE49-F238E27FC236}">
                    <a16:creationId xmlns:a16="http://schemas.microsoft.com/office/drawing/2014/main" id="{ED834086-C09A-E7BA-8BF6-D6098EB4A544}"/>
                  </a:ext>
                </a:extLst>
              </p:cNvPr>
              <p:cNvSpPr txBox="1">
                <a:spLocks noRot="1" noChangeAspect="1" noMove="1" noResize="1" noEditPoints="1" noAdjustHandles="1" noChangeArrowheads="1" noChangeShapeType="1" noTextEdit="1"/>
              </p:cNvSpPr>
              <p:nvPr/>
            </p:nvSpPr>
            <p:spPr>
              <a:xfrm>
                <a:off x="23370625" y="25699511"/>
                <a:ext cx="5303834" cy="1477328"/>
              </a:xfrm>
              <a:prstGeom prst="rect">
                <a:avLst/>
              </a:prstGeom>
              <a:blipFill>
                <a:blip r:embed="rId30"/>
                <a:stretch>
                  <a:fillRect l="-2759" t="-4959" b="-12397"/>
                </a:stretch>
              </a:blipFill>
            </p:spPr>
            <p:txBody>
              <a:bodyPr/>
              <a:lstStyle/>
              <a:p>
                <a:r>
                  <a:rPr lang="en-US">
                    <a:noFill/>
                  </a:rPr>
                  <a:t> </a:t>
                </a:r>
              </a:p>
            </p:txBody>
          </p:sp>
        </mc:Fallback>
      </mc:AlternateContent>
      <p:sp>
        <p:nvSpPr>
          <p:cNvPr id="1085" name="TextBox 1084">
            <a:extLst>
              <a:ext uri="{FF2B5EF4-FFF2-40B4-BE49-F238E27FC236}">
                <a16:creationId xmlns:a16="http://schemas.microsoft.com/office/drawing/2014/main" id="{EC4E2DAF-F01F-A28E-9092-5741EB0A2724}"/>
              </a:ext>
            </a:extLst>
          </p:cNvPr>
          <p:cNvSpPr txBox="1"/>
          <p:nvPr/>
        </p:nvSpPr>
        <p:spPr>
          <a:xfrm>
            <a:off x="23373481" y="28750857"/>
            <a:ext cx="5519387" cy="553998"/>
          </a:xfrm>
          <a:prstGeom prst="rect">
            <a:avLst/>
          </a:prstGeom>
          <a:noFill/>
        </p:spPr>
        <p:txBody>
          <a:bodyPr wrap="square" rtlCol="0">
            <a:spAutoFit/>
          </a:bodyPr>
          <a:lstStyle/>
          <a:p>
            <a:r>
              <a:rPr lang="en-US" sz="3000" dirty="0"/>
              <a:t>Coherence time: </a:t>
            </a:r>
          </a:p>
        </p:txBody>
      </p:sp>
      <mc:AlternateContent xmlns:mc="http://schemas.openxmlformats.org/markup-compatibility/2006">
        <mc:Choice xmlns:a14="http://schemas.microsoft.com/office/drawing/2010/main" Requires="a14">
          <p:sp>
            <p:nvSpPr>
              <p:cNvPr id="1099" name="TextBox 1098">
                <a:extLst>
                  <a:ext uri="{FF2B5EF4-FFF2-40B4-BE49-F238E27FC236}">
                    <a16:creationId xmlns:a16="http://schemas.microsoft.com/office/drawing/2014/main" id="{7DDFBBAC-3C6B-36DB-79C4-FA14C061D1BF}"/>
                  </a:ext>
                </a:extLst>
              </p:cNvPr>
              <p:cNvSpPr txBox="1"/>
              <p:nvPr/>
            </p:nvSpPr>
            <p:spPr>
              <a:xfrm>
                <a:off x="15142098" y="14884164"/>
                <a:ext cx="13716001" cy="3944285"/>
              </a:xfrm>
              <a:prstGeom prst="rect">
                <a:avLst/>
              </a:prstGeom>
              <a:noFill/>
            </p:spPr>
            <p:txBody>
              <a:bodyPr wrap="square" rtlCol="0">
                <a:spAutoFit/>
              </a:bodyPr>
              <a:lstStyle/>
              <a:p>
                <a:r>
                  <a:rPr lang="en-US" sz="3000" b="1" dirty="0"/>
                  <a:t>Test Cell Spin States Model:</a:t>
                </a:r>
              </a:p>
              <a:p>
                <a:pPr marL="457200" indent="-457200">
                  <a:buFont typeface="Arial" panose="020B0604020202020204" pitchFamily="34" charset="0"/>
                  <a:buChar char="•"/>
                </a:pPr>
                <a:r>
                  <a:rPr lang="en-US" sz="3000" dirty="0"/>
                  <a:t>We choose an atomic transition to model at the central test atom </a:t>
                </a:r>
              </a:p>
              <a:p>
                <a14:m>
                  <m:oMathPara xmlns:m="http://schemas.openxmlformats.org/officeDocument/2006/math">
                    <m:oMathParaPr>
                      <m:jc m:val="centerGroup"/>
                    </m:oMathParaPr>
                    <m:oMath xmlns:m="http://schemas.openxmlformats.org/officeDocument/2006/math">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b="0" i="1" smtClean="0">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i="1">
                                  <a:latin typeface="Cambria Math" panose="02040503050406030204" pitchFamily="18" charset="0"/>
                                </a:rPr>
                                <m:t>,</m:t>
                              </m:r>
                              <m:r>
                                <a:rPr lang="en-US" sz="3000" b="0" i="1" smtClean="0">
                                  <a:latin typeface="Cambria Math" panose="02040503050406030204" pitchFamily="18" charset="0"/>
                                </a:rPr>
                                <m:t>1</m:t>
                              </m:r>
                            </m:sub>
                          </m:sSub>
                        </m:e>
                      </m:d>
                      <m:r>
                        <a:rPr lang="en-US" sz="3000" i="1">
                          <a:latin typeface="Cambria Math" panose="02040503050406030204" pitchFamily="18" charset="0"/>
                          <a:ea typeface="Cambria Math" panose="02040503050406030204" pitchFamily="18" charset="0"/>
                        </a:rPr>
                        <m:t>→</m:t>
                      </m:r>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b="0" i="1" smtClean="0">
                                  <a:latin typeface="Cambria Math" panose="02040503050406030204" pitchFamily="18" charset="0"/>
                                </a:rPr>
                                <m:t>2</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i="1">
                                  <a:latin typeface="Cambria Math" panose="02040503050406030204" pitchFamily="18" charset="0"/>
                                </a:rPr>
                                <m:t>,</m:t>
                              </m:r>
                              <m:r>
                                <a:rPr lang="en-US" sz="3000" b="0" i="1" smtClean="0">
                                  <a:latin typeface="Cambria Math" panose="02040503050406030204" pitchFamily="18" charset="0"/>
                                </a:rPr>
                                <m:t>2</m:t>
                              </m:r>
                            </m:sub>
                          </m:sSub>
                        </m:e>
                      </m:d>
                    </m:oMath>
                  </m:oMathPara>
                </a14:m>
                <a:endParaRPr lang="en-US" sz="3000" dirty="0"/>
              </a:p>
              <a:p>
                <a:pPr marL="457200" indent="-457200">
                  <a:buFont typeface="Arial" panose="020B0604020202020204" pitchFamily="34" charset="0"/>
                  <a:buChar char="•"/>
                </a:pPr>
                <a:r>
                  <a:rPr lang="en-US" sz="3000" dirty="0"/>
                  <a:t>Surrounding atoms are prepared into </a:t>
                </a:r>
                <a14:m>
                  <m:oMath xmlns:m="http://schemas.openxmlformats.org/officeDocument/2006/math">
                    <m:d>
                      <m:dPr>
                        <m:begChr m:val="|"/>
                        <m:endChr m:val="⟩"/>
                        <m:ctrlPr>
                          <a:rPr lang="en-US" sz="3000" i="1">
                            <a:latin typeface="Cambria Math" panose="02040503050406030204" pitchFamily="18" charset="0"/>
                          </a:rPr>
                        </m:ctrlPr>
                      </m:dPr>
                      <m:e>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i="1">
                                <a:latin typeface="Cambria Math" panose="02040503050406030204" pitchFamily="18" charset="0"/>
                              </a:rPr>
                              <m:t>,1</m:t>
                            </m:r>
                          </m:sub>
                        </m:sSub>
                      </m:e>
                    </m:d>
                  </m:oMath>
                </a14:m>
                <a:r>
                  <a:rPr lang="en-US" sz="3000" dirty="0"/>
                  <a:t> using two “pumping efficiencies” </a:t>
                </a:r>
              </a:p>
              <a:p>
                <a:pPr marL="2651760" lvl="1" indent="-457200">
                  <a:buFont typeface="Arial" panose="020B0604020202020204" pitchFamily="34" charset="0"/>
                  <a:buChar char="•"/>
                </a:pPr>
                <a14:m>
                  <m:oMath xmlns:m="http://schemas.openxmlformats.org/officeDocument/2006/math">
                    <m:r>
                      <a:rPr lang="en-US" sz="3000" b="0" i="1" smtClean="0">
                        <a:latin typeface="Cambria Math" panose="02040503050406030204" pitchFamily="18" charset="0"/>
                      </a:rPr>
                      <m:t>𝐹</m:t>
                    </m:r>
                  </m:oMath>
                </a14:m>
                <a:r>
                  <a:rPr lang="en-US" sz="3000" dirty="0"/>
                  <a:t> efficiency </a:t>
                </a:r>
                <a14:m>
                  <m:oMath xmlns:m="http://schemas.openxmlformats.org/officeDocument/2006/math">
                    <m:sSub>
                      <m:sSubPr>
                        <m:ctrlPr>
                          <a:rPr lang="en-US" sz="3000" b="0" i="0" smtClean="0">
                            <a:latin typeface="Cambria Math" panose="02040503050406030204" pitchFamily="18" charset="0"/>
                          </a:rPr>
                        </m:ctrlPr>
                      </m:sSubPr>
                      <m:e>
                        <m:r>
                          <m:rPr>
                            <m:sty m:val="p"/>
                          </m:rPr>
                          <a:rPr lang="en-US" sz="3000" b="0" i="0" smtClean="0">
                            <a:latin typeface="Cambria Math" panose="02040503050406030204" pitchFamily="18" charset="0"/>
                          </a:rPr>
                          <m:t>p</m:t>
                        </m:r>
                      </m:e>
                      <m:sub>
                        <m:r>
                          <m:rPr>
                            <m:sty m:val="p"/>
                          </m:rPr>
                          <a:rPr lang="en-US" sz="3000" b="0" i="0" smtClean="0">
                            <a:latin typeface="Cambria Math" panose="02040503050406030204" pitchFamily="18" charset="0"/>
                          </a:rPr>
                          <m:t>F</m:t>
                        </m:r>
                      </m:sub>
                    </m:sSub>
                    <m:r>
                      <a:rPr lang="en-US" sz="3000" i="1">
                        <a:latin typeface="Cambria Math" panose="02040503050406030204" pitchFamily="18" charset="0"/>
                      </a:rPr>
                      <m:t> </m:t>
                    </m:r>
                  </m:oMath>
                </a14:m>
                <a:r>
                  <a:rPr lang="en-US" sz="3000" dirty="0"/>
                  <a:t>: fraction atoms forced into </a:t>
                </a:r>
                <a14:m>
                  <m:oMath xmlns:m="http://schemas.openxmlformats.org/officeDocument/2006/math">
                    <m:sSub>
                      <m:sSubPr>
                        <m:ctrlPr>
                          <a:rPr lang="en-US" sz="3000" b="0" i="1" smtClean="0">
                            <a:latin typeface="Cambria Math" panose="02040503050406030204" pitchFamily="18" charset="0"/>
                          </a:rPr>
                        </m:ctrlPr>
                      </m:sSubPr>
                      <m:e>
                        <m:r>
                          <a:rPr lang="en-US" sz="3000" i="1">
                            <a:latin typeface="Cambria Math" panose="02040503050406030204" pitchFamily="18" charset="0"/>
                          </a:rPr>
                          <m:t>𝐹</m:t>
                        </m:r>
                      </m:e>
                      <m:sub>
                        <m:r>
                          <a:rPr lang="en-US" sz="3000" b="0" i="1" smtClean="0">
                            <a:latin typeface="Cambria Math" panose="02040503050406030204" pitchFamily="18" charset="0"/>
                          </a:rPr>
                          <m:t>1</m:t>
                        </m:r>
                      </m:sub>
                    </m:sSub>
                  </m:oMath>
                </a14:m>
                <a:r>
                  <a:rPr lang="en-US" sz="3000" dirty="0"/>
                  <a:t>; remaining assigned randomly to </a:t>
                </a:r>
                <a14:m>
                  <m:oMath xmlns:m="http://schemas.openxmlformats.org/officeDocument/2006/math">
                    <m:sSub>
                      <m:sSubPr>
                        <m:ctrlPr>
                          <a:rPr lang="en-US" sz="3000" b="0" i="1" smtClean="0">
                            <a:latin typeface="Cambria Math" panose="02040503050406030204" pitchFamily="18" charset="0"/>
                          </a:rPr>
                        </m:ctrlPr>
                      </m:sSubPr>
                      <m:e>
                        <m:r>
                          <a:rPr lang="en-US" sz="3000" i="1">
                            <a:latin typeface="Cambria Math" panose="02040503050406030204" pitchFamily="18" charset="0"/>
                          </a:rPr>
                          <m:t>𝐹</m:t>
                        </m:r>
                      </m:e>
                      <m:sub>
                        <m:r>
                          <a:rPr lang="en-US" sz="3000" b="0" i="1" smtClean="0">
                            <a:latin typeface="Cambria Math" panose="02040503050406030204" pitchFamily="18" charset="0"/>
                          </a:rPr>
                          <m:t>1</m:t>
                        </m:r>
                      </m:sub>
                    </m:sSub>
                  </m:oMath>
                </a14:m>
                <a:r>
                  <a:rPr lang="en-US" sz="3000" dirty="0"/>
                  <a:t> or </a:t>
                </a:r>
                <a14:m>
                  <m:oMath xmlns:m="http://schemas.openxmlformats.org/officeDocument/2006/math">
                    <m:sSub>
                      <m:sSubPr>
                        <m:ctrlPr>
                          <a:rPr lang="en-US" sz="3000" b="0" i="1" smtClean="0">
                            <a:latin typeface="Cambria Math" panose="02040503050406030204" pitchFamily="18" charset="0"/>
                          </a:rPr>
                        </m:ctrlPr>
                      </m:sSubPr>
                      <m:e>
                        <m:r>
                          <a:rPr lang="en-US" sz="3000" i="1">
                            <a:latin typeface="Cambria Math" panose="02040503050406030204" pitchFamily="18" charset="0"/>
                          </a:rPr>
                          <m:t>𝐹</m:t>
                        </m:r>
                      </m:e>
                      <m:sub>
                        <m:r>
                          <a:rPr lang="en-US" sz="3000" b="0" i="1" smtClean="0">
                            <a:latin typeface="Cambria Math" panose="02040503050406030204" pitchFamily="18" charset="0"/>
                          </a:rPr>
                          <m:t>2</m:t>
                        </m:r>
                      </m:sub>
                    </m:sSub>
                  </m:oMath>
                </a14:m>
                <a:r>
                  <a:rPr lang="en-US" sz="3000" dirty="0"/>
                  <a:t> </a:t>
                </a:r>
              </a:p>
              <a:p>
                <a:pPr marL="2651760" lvl="1" indent="-457200">
                  <a:buFont typeface="Arial" panose="020B0604020202020204" pitchFamily="34" charset="0"/>
                  <a:buChar char="•"/>
                </a:pPr>
                <a:r>
                  <a:rPr lang="en-US" sz="3000" dirty="0"/>
                  <a:t> </a:t>
                </a:r>
                <a14:m>
                  <m:oMath xmlns:m="http://schemas.openxmlformats.org/officeDocument/2006/math">
                    <m:sSub>
                      <m:sSubPr>
                        <m:ctrlPr>
                          <a:rPr lang="en-US" sz="3000" b="0" i="0" smtClean="0">
                            <a:latin typeface="Cambria Math" panose="02040503050406030204" pitchFamily="18" charset="0"/>
                          </a:rPr>
                        </m:ctrlPr>
                      </m:sSubPr>
                      <m:e>
                        <m:r>
                          <a:rPr lang="en-US" sz="3000" b="0" i="1" smtClean="0">
                            <a:latin typeface="Cambria Math" panose="02040503050406030204" pitchFamily="18" charset="0"/>
                          </a:rPr>
                          <m:t>𝑚</m:t>
                        </m:r>
                      </m:e>
                      <m:sub>
                        <m:r>
                          <a:rPr lang="en-US" sz="3000" i="1">
                            <a:latin typeface="Cambria Math" panose="02040503050406030204" pitchFamily="18" charset="0"/>
                          </a:rPr>
                          <m:t>𝐹</m:t>
                        </m:r>
                      </m:sub>
                    </m:sSub>
                  </m:oMath>
                </a14:m>
                <a:r>
                  <a:rPr lang="en-US" sz="3000" dirty="0"/>
                  <a:t> efficiency </a:t>
                </a:r>
                <a14:m>
                  <m:oMath xmlns:m="http://schemas.openxmlformats.org/officeDocument/2006/math">
                    <m:sSub>
                      <m:sSubPr>
                        <m:ctrlPr>
                          <a:rPr lang="en-US" sz="3000" i="1">
                            <a:latin typeface="Cambria Math" panose="02040503050406030204" pitchFamily="18" charset="0"/>
                          </a:rPr>
                        </m:ctrlPr>
                      </m:sSubPr>
                      <m:e>
                        <m:r>
                          <m:rPr>
                            <m:sty m:val="p"/>
                          </m:rPr>
                          <a:rPr lang="en-US" sz="3000">
                            <a:latin typeface="Cambria Math" panose="02040503050406030204" pitchFamily="18" charset="0"/>
                          </a:rPr>
                          <m:t>p</m:t>
                        </m:r>
                      </m:e>
                      <m:sub>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𝑚</m:t>
                            </m:r>
                          </m:e>
                          <m:sub>
                            <m:r>
                              <m:rPr>
                                <m:sty m:val="p"/>
                              </m:rPr>
                              <a:rPr lang="en-US" sz="3000">
                                <a:latin typeface="Cambria Math" panose="02040503050406030204" pitchFamily="18" charset="0"/>
                              </a:rPr>
                              <m:t>F</m:t>
                            </m:r>
                          </m:sub>
                        </m:sSub>
                      </m:sub>
                    </m:sSub>
                    <m:r>
                      <a:rPr lang="en-US" sz="3000" i="1">
                        <a:latin typeface="Cambria Math" panose="02040503050406030204" pitchFamily="18" charset="0"/>
                      </a:rPr>
                      <m:t> </m:t>
                    </m:r>
                  </m:oMath>
                </a14:m>
                <a:r>
                  <a:rPr lang="en-US" sz="3000" dirty="0"/>
                  <a:t>: fraction atoms forced into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r>
                          <a:rPr lang="en-US" sz="3000" b="0" i="1" smtClean="0">
                            <a:latin typeface="Cambria Math" panose="02040503050406030204" pitchFamily="18" charset="0"/>
                          </a:rPr>
                          <m:t>,1</m:t>
                        </m:r>
                      </m:sub>
                    </m:sSub>
                  </m:oMath>
                </a14:m>
                <a:r>
                  <a:rPr lang="en-US" sz="3000" dirty="0"/>
                  <a:t>; remaining assigned randomly over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𝑚</m:t>
                        </m:r>
                      </m:e>
                      <m:sub>
                        <m:r>
                          <a:rPr lang="en-US" sz="3000" i="1">
                            <a:latin typeface="Cambria Math" panose="02040503050406030204" pitchFamily="18" charset="0"/>
                          </a:rPr>
                          <m:t>𝐹</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𝐹</m:t>
                        </m:r>
                      </m:e>
                      <m:sub>
                        <m:r>
                          <a:rPr lang="en-US" sz="3000" b="0" i="1" smtClean="0">
                            <a:latin typeface="Cambria Math" panose="02040503050406030204" pitchFamily="18" charset="0"/>
                          </a:rPr>
                          <m:t>1</m:t>
                        </m:r>
                      </m:sub>
                    </m:sSub>
                  </m:oMath>
                </a14:m>
                <a:endParaRPr lang="en-US" sz="3000" dirty="0"/>
              </a:p>
            </p:txBody>
          </p:sp>
        </mc:Choice>
        <mc:Fallback>
          <p:sp>
            <p:nvSpPr>
              <p:cNvPr id="1099" name="TextBox 1098">
                <a:extLst>
                  <a:ext uri="{FF2B5EF4-FFF2-40B4-BE49-F238E27FC236}">
                    <a16:creationId xmlns:a16="http://schemas.microsoft.com/office/drawing/2014/main" id="{7DDFBBAC-3C6B-36DB-79C4-FA14C061D1BF}"/>
                  </a:ext>
                </a:extLst>
              </p:cNvPr>
              <p:cNvSpPr txBox="1">
                <a:spLocks noRot="1" noChangeAspect="1" noMove="1" noResize="1" noEditPoints="1" noAdjustHandles="1" noChangeArrowheads="1" noChangeShapeType="1" noTextEdit="1"/>
              </p:cNvSpPr>
              <p:nvPr/>
            </p:nvSpPr>
            <p:spPr>
              <a:xfrm>
                <a:off x="15142098" y="14884164"/>
                <a:ext cx="13716001" cy="3944285"/>
              </a:xfrm>
              <a:prstGeom prst="rect">
                <a:avLst/>
              </a:prstGeom>
              <a:blipFill>
                <a:blip r:embed="rId31"/>
                <a:stretch>
                  <a:fillRect l="-1067" t="-1855" b="-38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0" name="TextBox 1099">
                <a:extLst>
                  <a:ext uri="{FF2B5EF4-FFF2-40B4-BE49-F238E27FC236}">
                    <a16:creationId xmlns:a16="http://schemas.microsoft.com/office/drawing/2014/main" id="{898AEC56-E7CF-E107-8675-20340F1CC189}"/>
                  </a:ext>
                </a:extLst>
              </p:cNvPr>
              <p:cNvSpPr txBox="1"/>
              <p:nvPr/>
            </p:nvSpPr>
            <p:spPr>
              <a:xfrm>
                <a:off x="15084245" y="18690624"/>
                <a:ext cx="13716001" cy="2899833"/>
              </a:xfrm>
              <a:prstGeom prst="rect">
                <a:avLst/>
              </a:prstGeom>
              <a:noFill/>
            </p:spPr>
            <p:txBody>
              <a:bodyPr wrap="square" rtlCol="0">
                <a:spAutoFit/>
              </a:bodyPr>
              <a:lstStyle/>
              <a:p>
                <a:r>
                  <a:rPr lang="en-US" sz="3000" b="1" dirty="0"/>
                  <a:t>Spin Magnetization Model:</a:t>
                </a:r>
              </a:p>
              <a:p>
                <a:pPr marL="457200" indent="-457200">
                  <a:buFont typeface="Arial" panose="020B0604020202020204" pitchFamily="34" charset="0"/>
                  <a:buChar char="•"/>
                </a:pPr>
                <a:r>
                  <a:rPr lang="en-US" sz="3000" dirty="0"/>
                  <a:t>Experiments typically apply a static magnetic field, </a:t>
                </a:r>
                <a14:m>
                  <m:oMath xmlns:m="http://schemas.openxmlformats.org/officeDocument/2006/math">
                    <m:sSub>
                      <m:sSubPr>
                        <m:ctrlPr>
                          <a:rPr lang="en-US" sz="3000" b="1" i="1">
                            <a:latin typeface="Cambria Math" panose="02040503050406030204" pitchFamily="18" charset="0"/>
                          </a:rPr>
                        </m:ctrlPr>
                      </m:sSubPr>
                      <m:e>
                        <m:r>
                          <a:rPr lang="en-US" sz="3000" b="1" i="1">
                            <a:latin typeface="Cambria Math" panose="02040503050406030204" pitchFamily="18" charset="0"/>
                          </a:rPr>
                          <m:t>𝑩</m:t>
                        </m:r>
                      </m:e>
                      <m:sub>
                        <m:r>
                          <a:rPr lang="en-US" sz="3000" b="1" i="1">
                            <a:latin typeface="Cambria Math" panose="02040503050406030204" pitchFamily="18" charset="0"/>
                          </a:rPr>
                          <m:t>𝟎</m:t>
                        </m:r>
                      </m:sub>
                    </m:sSub>
                  </m:oMath>
                </a14:m>
                <a:r>
                  <a:rPr lang="en-US" sz="3000" dirty="0"/>
                  <a:t>, along the z-axes, which aligns the magnetic moments of our spins along z. </a:t>
                </a:r>
              </a:p>
              <a:p>
                <a:pPr marL="457200" indent="-457200">
                  <a:buFont typeface="Arial" panose="020B0604020202020204" pitchFamily="34" charset="0"/>
                  <a:buChar char="•"/>
                </a:pPr>
                <a:r>
                  <a:rPr lang="en-US" sz="3000" dirty="0"/>
                  <a:t>To model variation in this alignment, we add alignment efficiency </a:t>
                </a:r>
                <a14:m>
                  <m:oMath xmlns:m="http://schemas.openxmlformats.org/officeDocument/2006/math">
                    <m:sSub>
                      <m:sSubPr>
                        <m:ctrlPr>
                          <a:rPr lang="en-US" sz="3000" i="1">
                            <a:latin typeface="Cambria Math" panose="02040503050406030204" pitchFamily="18" charset="0"/>
                          </a:rPr>
                        </m:ctrlPr>
                      </m:sSubPr>
                      <m:e>
                        <m:r>
                          <m:rPr>
                            <m:sty m:val="p"/>
                          </m:rPr>
                          <a:rPr lang="en-US" sz="3000">
                            <a:latin typeface="Cambria Math" panose="02040503050406030204" pitchFamily="18" charset="0"/>
                          </a:rPr>
                          <m:t>p</m:t>
                        </m:r>
                      </m:e>
                      <m:sub>
                        <m:r>
                          <a:rPr lang="en-US" sz="3000" b="0" i="1" smtClean="0">
                            <a:latin typeface="Cambria Math" panose="02040503050406030204" pitchFamily="18" charset="0"/>
                          </a:rPr>
                          <m:t>𝑎𝑙𝑖𝑔𝑛</m:t>
                        </m:r>
                      </m:sub>
                    </m:sSub>
                  </m:oMath>
                </a14:m>
                <a:r>
                  <a:rPr lang="en-US" sz="3000" dirty="0"/>
                  <a:t>: fraction of spins with magnetization set along z; remaining assigned random orientation on unit sphere. </a:t>
                </a:r>
              </a:p>
            </p:txBody>
          </p:sp>
        </mc:Choice>
        <mc:Fallback>
          <p:sp>
            <p:nvSpPr>
              <p:cNvPr id="1100" name="TextBox 1099">
                <a:extLst>
                  <a:ext uri="{FF2B5EF4-FFF2-40B4-BE49-F238E27FC236}">
                    <a16:creationId xmlns:a16="http://schemas.microsoft.com/office/drawing/2014/main" id="{898AEC56-E7CF-E107-8675-20340F1CC189}"/>
                  </a:ext>
                </a:extLst>
              </p:cNvPr>
              <p:cNvSpPr txBox="1">
                <a:spLocks noRot="1" noChangeAspect="1" noMove="1" noResize="1" noEditPoints="1" noAdjustHandles="1" noChangeArrowheads="1" noChangeShapeType="1" noTextEdit="1"/>
              </p:cNvSpPr>
              <p:nvPr/>
            </p:nvSpPr>
            <p:spPr>
              <a:xfrm>
                <a:off x="15084245" y="18690624"/>
                <a:ext cx="13716001" cy="2899833"/>
              </a:xfrm>
              <a:prstGeom prst="rect">
                <a:avLst/>
              </a:prstGeom>
              <a:blipFill>
                <a:blip r:embed="rId32"/>
                <a:stretch>
                  <a:fillRect l="-1022" t="-2521" r="-1422" b="-56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2" name="TextBox 1101">
                <a:extLst>
                  <a:ext uri="{FF2B5EF4-FFF2-40B4-BE49-F238E27FC236}">
                    <a16:creationId xmlns:a16="http://schemas.microsoft.com/office/drawing/2014/main" id="{C35FB712-C87B-0FFA-E33A-3787C0A7D8C6}"/>
                  </a:ext>
                </a:extLst>
              </p:cNvPr>
              <p:cNvSpPr txBox="1"/>
              <p:nvPr/>
            </p:nvSpPr>
            <p:spPr>
              <a:xfrm>
                <a:off x="29862875" y="6669412"/>
                <a:ext cx="13716001" cy="1998432"/>
              </a:xfrm>
              <a:prstGeom prst="rect">
                <a:avLst/>
              </a:prstGeom>
              <a:noFill/>
            </p:spPr>
            <p:txBody>
              <a:bodyPr wrap="square" rtlCol="0">
                <a:spAutoFit/>
              </a:bodyPr>
              <a:lstStyle/>
              <a:p>
                <a:r>
                  <a:rPr lang="en-US" sz="3000" b="1" dirty="0"/>
                  <a:t>How Broadening Model Scales With Key Inputs:</a:t>
                </a:r>
              </a:p>
              <a:p>
                <a:pPr marL="457200" indent="-457200">
                  <a:buFont typeface="Arial" panose="020B0604020202020204" pitchFamily="34" charset="0"/>
                  <a:buChar char="•"/>
                </a:pPr>
                <a:r>
                  <a:rPr lang="en-US" sz="3000" dirty="0"/>
                  <a:t>Comparing </a:t>
                </a:r>
                <a14:m>
                  <m:oMath xmlns:m="http://schemas.openxmlformats.org/officeDocument/2006/math">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𝑇</m:t>
                        </m:r>
                      </m:e>
                      <m:sub>
                        <m:r>
                          <a:rPr lang="en-US" sz="3000" b="0" i="1" smtClean="0">
                            <a:latin typeface="Cambria Math" panose="02040503050406030204" pitchFamily="18" charset="0"/>
                          </a:rPr>
                          <m:t>2</m:t>
                        </m:r>
                      </m:sub>
                      <m:sup>
                        <m:r>
                          <a:rPr lang="en-US" sz="3000" b="0" i="1" smtClean="0">
                            <a:latin typeface="Cambria Math" panose="02040503050406030204" pitchFamily="18" charset="0"/>
                          </a:rPr>
                          <m:t>∗</m:t>
                        </m:r>
                      </m:sup>
                    </m:sSubSup>
                  </m:oMath>
                </a14:m>
                <a:r>
                  <a:rPr lang="en-US" sz="3000" dirty="0"/>
                  <a:t> times as we vary dopant density and change our pumping and alignment efficiencies.</a:t>
                </a:r>
              </a:p>
              <a:p>
                <a:pPr marL="457200" indent="-457200">
                  <a:buFont typeface="Arial" panose="020B0604020202020204" pitchFamily="34" charset="0"/>
                  <a:buChar char="•"/>
                </a:pPr>
                <a:r>
                  <a:rPr lang="en-US" sz="3000" dirty="0"/>
                  <a:t>Modeling Rubidium-85 (</a:t>
                </a:r>
                <a14:m>
                  <m:oMath xmlns:m="http://schemas.openxmlformats.org/officeDocument/2006/math">
                    <m:r>
                      <a:rPr lang="en-US" sz="3000" b="0" i="1" smtClean="0">
                        <a:latin typeface="Cambria Math" panose="02040503050406030204" pitchFamily="18" charset="0"/>
                      </a:rPr>
                      <m:t>𝐼</m:t>
                    </m:r>
                    <m:r>
                      <a:rPr lang="en-US" sz="3000" b="0" i="1" smtClean="0">
                        <a:latin typeface="Cambria Math" panose="02040503050406030204" pitchFamily="18" charset="0"/>
                      </a:rPr>
                      <m:t>=5/2</m:t>
                    </m:r>
                  </m:oMath>
                </a14:m>
                <a:r>
                  <a:rPr lang="en-US" sz="3000" dirty="0"/>
                  <a:t>, </a:t>
                </a:r>
                <a14:m>
                  <m:oMath xmlns:m="http://schemas.openxmlformats.org/officeDocument/2006/math">
                    <m:r>
                      <a:rPr lang="en-US" sz="3000" b="0" i="1" dirty="0" smtClean="0">
                        <a:latin typeface="Cambria Math" panose="02040503050406030204" pitchFamily="18" charset="0"/>
                      </a:rPr>
                      <m:t>𝐽</m:t>
                    </m:r>
                    <m:r>
                      <a:rPr lang="en-US" sz="3000" b="0" i="1" dirty="0" smtClean="0">
                        <a:latin typeface="Cambria Math" panose="02040503050406030204" pitchFamily="18" charset="0"/>
                      </a:rPr>
                      <m:t>=1/2</m:t>
                    </m:r>
                  </m:oMath>
                </a14:m>
                <a:r>
                  <a:rPr lang="en-US" sz="3000" dirty="0"/>
                  <a:t>), transition: </a:t>
                </a:r>
                <a14:m>
                  <m:oMath xmlns:m="http://schemas.openxmlformats.org/officeDocument/2006/math">
                    <m:d>
                      <m:dPr>
                        <m:begChr m:val="|"/>
                        <m:endChr m:val="⟩"/>
                        <m:ctrlPr>
                          <a:rPr lang="en-US" sz="3000" i="1">
                            <a:latin typeface="Cambria Math" panose="02040503050406030204" pitchFamily="18" charset="0"/>
                          </a:rPr>
                        </m:ctrlPr>
                      </m:dPr>
                      <m:e>
                        <m:r>
                          <a:rPr lang="en-US" sz="3000" b="0" i="1" smtClean="0">
                            <a:latin typeface="Cambria Math" panose="02040503050406030204" pitchFamily="18" charset="0"/>
                          </a:rPr>
                          <m:t>2</m:t>
                        </m:r>
                        <m:r>
                          <a:rPr lang="en-US" sz="3000" i="1">
                            <a:latin typeface="Cambria Math" panose="02040503050406030204" pitchFamily="18" charset="0"/>
                          </a:rPr>
                          <m:t>,</m:t>
                        </m:r>
                        <m:r>
                          <a:rPr lang="en-US" sz="3000" b="0" i="1" smtClean="0">
                            <a:latin typeface="Cambria Math" panose="02040503050406030204" pitchFamily="18" charset="0"/>
                          </a:rPr>
                          <m:t>2</m:t>
                        </m:r>
                      </m:e>
                    </m:d>
                    <m:r>
                      <a:rPr lang="en-US" sz="3000" i="1">
                        <a:latin typeface="Cambria Math" panose="02040503050406030204" pitchFamily="18" charset="0"/>
                        <a:ea typeface="Cambria Math" panose="02040503050406030204" pitchFamily="18" charset="0"/>
                      </a:rPr>
                      <m:t>→</m:t>
                    </m:r>
                    <m:d>
                      <m:dPr>
                        <m:begChr m:val="|"/>
                        <m:endChr m:val="⟩"/>
                        <m:ctrlPr>
                          <a:rPr lang="en-US" sz="3000" i="1">
                            <a:latin typeface="Cambria Math" panose="02040503050406030204" pitchFamily="18" charset="0"/>
                          </a:rPr>
                        </m:ctrlPr>
                      </m:dPr>
                      <m:e>
                        <m:r>
                          <a:rPr lang="en-US" sz="3000" b="0" i="1" smtClean="0">
                            <a:latin typeface="Cambria Math" panose="02040503050406030204" pitchFamily="18" charset="0"/>
                          </a:rPr>
                          <m:t>3</m:t>
                        </m:r>
                        <m:r>
                          <a:rPr lang="en-US" sz="3000" i="1">
                            <a:latin typeface="Cambria Math" panose="02040503050406030204" pitchFamily="18" charset="0"/>
                          </a:rPr>
                          <m:t>,</m:t>
                        </m:r>
                        <m:r>
                          <a:rPr lang="en-US" sz="3000" b="0" i="1" smtClean="0">
                            <a:latin typeface="Cambria Math" panose="02040503050406030204" pitchFamily="18" charset="0"/>
                          </a:rPr>
                          <m:t>3</m:t>
                        </m:r>
                        <m:r>
                          <a:rPr lang="en-US" sz="3000" i="1" smtClean="0">
                            <a:latin typeface="Cambria Math" panose="02040503050406030204" pitchFamily="18" charset="0"/>
                          </a:rPr>
                          <m:t> </m:t>
                        </m:r>
                      </m:e>
                    </m:d>
                  </m:oMath>
                </a14:m>
                <a:endParaRPr lang="en-US" sz="3000" dirty="0"/>
              </a:p>
            </p:txBody>
          </p:sp>
        </mc:Choice>
        <mc:Fallback>
          <p:sp>
            <p:nvSpPr>
              <p:cNvPr id="1102" name="TextBox 1101">
                <a:extLst>
                  <a:ext uri="{FF2B5EF4-FFF2-40B4-BE49-F238E27FC236}">
                    <a16:creationId xmlns:a16="http://schemas.microsoft.com/office/drawing/2014/main" id="{C35FB712-C87B-0FFA-E33A-3787C0A7D8C6}"/>
                  </a:ext>
                </a:extLst>
              </p:cNvPr>
              <p:cNvSpPr txBox="1">
                <a:spLocks noRot="1" noChangeAspect="1" noMove="1" noResize="1" noEditPoints="1" noAdjustHandles="1" noChangeArrowheads="1" noChangeShapeType="1" noTextEdit="1"/>
              </p:cNvSpPr>
              <p:nvPr/>
            </p:nvSpPr>
            <p:spPr>
              <a:xfrm>
                <a:off x="29862875" y="6669412"/>
                <a:ext cx="13716001" cy="1998432"/>
              </a:xfrm>
              <a:prstGeom prst="rect">
                <a:avLst/>
              </a:prstGeom>
              <a:blipFill>
                <a:blip r:embed="rId33"/>
                <a:stretch>
                  <a:fillRect l="-1067" t="-3659" b="-57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5" name="TextBox 1104">
                <a:extLst>
                  <a:ext uri="{FF2B5EF4-FFF2-40B4-BE49-F238E27FC236}">
                    <a16:creationId xmlns:a16="http://schemas.microsoft.com/office/drawing/2014/main" id="{073A8FC8-433D-7D09-7EF6-3808520820AA}"/>
                  </a:ext>
                </a:extLst>
              </p:cNvPr>
              <p:cNvSpPr txBox="1"/>
              <p:nvPr/>
            </p:nvSpPr>
            <p:spPr>
              <a:xfrm>
                <a:off x="29944733" y="12657237"/>
                <a:ext cx="13716001" cy="1477328"/>
              </a:xfrm>
              <a:prstGeom prst="rect">
                <a:avLst/>
              </a:prstGeom>
              <a:noFill/>
            </p:spPr>
            <p:txBody>
              <a:bodyPr wrap="square" rtlCol="0">
                <a:spAutoFit/>
              </a:bodyPr>
              <a:lstStyle/>
              <a:p>
                <a:r>
                  <a:rPr lang="en-US" sz="3000" b="1" dirty="0"/>
                  <a:t>Compare to Experimental Results, High Dopant Density:</a:t>
                </a:r>
              </a:p>
              <a:p>
                <a:r>
                  <a:rPr lang="en-US" sz="3000" dirty="0"/>
                  <a:t>From [1]. Linewidths reported for K-39 </a:t>
                </a:r>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=5×</m:t>
                    </m:r>
                    <m:sSup>
                      <m:sSupPr>
                        <m:ctrlPr>
                          <a:rPr lang="en-US" sz="3000" i="1">
                            <a:latin typeface="Cambria Math" panose="02040503050406030204" pitchFamily="18" charset="0"/>
                            <a:ea typeface="Cambria Math" panose="02040503050406030204" pitchFamily="18" charset="0"/>
                          </a:rPr>
                        </m:ctrlPr>
                      </m:sSupPr>
                      <m:e>
                        <m:r>
                          <a:rPr lang="en-US" sz="3000" i="1">
                            <a:latin typeface="Cambria Math" panose="02040503050406030204" pitchFamily="18" charset="0"/>
                            <a:ea typeface="Cambria Math" panose="02040503050406030204" pitchFamily="18" charset="0"/>
                          </a:rPr>
                          <m:t>10</m:t>
                        </m:r>
                      </m:e>
                      <m:sup>
                        <m:r>
                          <a:rPr lang="en-US" sz="3000" i="1">
                            <a:latin typeface="Cambria Math" panose="02040503050406030204" pitchFamily="18" charset="0"/>
                            <a:ea typeface="Cambria Math" panose="02040503050406030204" pitchFamily="18" charset="0"/>
                          </a:rPr>
                          <m:t>16</m:t>
                        </m:r>
                      </m:sup>
                    </m:sSup>
                    <m:r>
                      <m:rPr>
                        <m:sty m:val="p"/>
                      </m:rPr>
                      <a:rPr lang="en-US" sz="3000">
                        <a:latin typeface="Cambria Math" panose="02040503050406030204" pitchFamily="18" charset="0"/>
                        <a:ea typeface="Cambria Math" panose="02040503050406030204" pitchFamily="18" charset="0"/>
                      </a:rPr>
                      <m:t>c</m:t>
                    </m:r>
                    <m:sSup>
                      <m:sSupPr>
                        <m:ctrlPr>
                          <a:rPr lang="en-US" sz="3000" i="1">
                            <a:latin typeface="Cambria Math" panose="02040503050406030204" pitchFamily="18" charset="0"/>
                            <a:ea typeface="Cambria Math" panose="02040503050406030204" pitchFamily="18" charset="0"/>
                          </a:rPr>
                        </m:ctrlPr>
                      </m:sSupPr>
                      <m:e>
                        <m:r>
                          <m:rPr>
                            <m:sty m:val="p"/>
                          </m:rPr>
                          <a:rPr lang="en-US" sz="3000">
                            <a:latin typeface="Cambria Math" panose="02040503050406030204" pitchFamily="18" charset="0"/>
                            <a:ea typeface="Cambria Math" panose="02040503050406030204" pitchFamily="18" charset="0"/>
                          </a:rPr>
                          <m:t>m</m:t>
                        </m:r>
                      </m:e>
                      <m:sup>
                        <m:r>
                          <a:rPr lang="en-US" sz="3000">
                            <a:latin typeface="Cambria Math" panose="02040503050406030204" pitchFamily="18" charset="0"/>
                            <a:ea typeface="Cambria Math" panose="02040503050406030204" pitchFamily="18" charset="0"/>
                          </a:rPr>
                          <m:t>−3</m:t>
                        </m:r>
                      </m:sup>
                    </m:sSup>
                  </m:oMath>
                </a14:m>
                <a:r>
                  <a:rPr lang="en-US" sz="3000" dirty="0"/>
                  <a:t>, Rb-85/87 </a:t>
                </a:r>
              </a:p>
              <a:p>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=1×</m:t>
                    </m:r>
                    <m:sSup>
                      <m:sSupPr>
                        <m:ctrlPr>
                          <a:rPr lang="en-US" sz="3000" i="1">
                            <a:latin typeface="Cambria Math" panose="02040503050406030204" pitchFamily="18" charset="0"/>
                            <a:ea typeface="Cambria Math" panose="02040503050406030204" pitchFamily="18" charset="0"/>
                          </a:rPr>
                        </m:ctrlPr>
                      </m:sSupPr>
                      <m:e>
                        <m:r>
                          <a:rPr lang="en-US" sz="3000" i="1">
                            <a:latin typeface="Cambria Math" panose="02040503050406030204" pitchFamily="18" charset="0"/>
                            <a:ea typeface="Cambria Math" panose="02040503050406030204" pitchFamily="18" charset="0"/>
                          </a:rPr>
                          <m:t>10</m:t>
                        </m:r>
                      </m:e>
                      <m:sup>
                        <m:r>
                          <a:rPr lang="en-US" sz="3000" i="1">
                            <a:latin typeface="Cambria Math" panose="02040503050406030204" pitchFamily="18" charset="0"/>
                            <a:ea typeface="Cambria Math" panose="02040503050406030204" pitchFamily="18" charset="0"/>
                          </a:rPr>
                          <m:t>1</m:t>
                        </m:r>
                        <m:r>
                          <a:rPr lang="en-US" sz="3000" b="0" i="1" smtClean="0">
                            <a:latin typeface="Cambria Math" panose="02040503050406030204" pitchFamily="18" charset="0"/>
                            <a:ea typeface="Cambria Math" panose="02040503050406030204" pitchFamily="18" charset="0"/>
                          </a:rPr>
                          <m:t>8</m:t>
                        </m:r>
                      </m:sup>
                    </m:sSup>
                    <m:r>
                      <m:rPr>
                        <m:sty m:val="p"/>
                      </m:rPr>
                      <a:rPr lang="en-US" sz="3000">
                        <a:latin typeface="Cambria Math" panose="02040503050406030204" pitchFamily="18" charset="0"/>
                        <a:ea typeface="Cambria Math" panose="02040503050406030204" pitchFamily="18" charset="0"/>
                      </a:rPr>
                      <m:t>c</m:t>
                    </m:r>
                    <m:sSup>
                      <m:sSupPr>
                        <m:ctrlPr>
                          <a:rPr lang="en-US" sz="3000" i="1">
                            <a:latin typeface="Cambria Math" panose="02040503050406030204" pitchFamily="18" charset="0"/>
                            <a:ea typeface="Cambria Math" panose="02040503050406030204" pitchFamily="18" charset="0"/>
                          </a:rPr>
                        </m:ctrlPr>
                      </m:sSupPr>
                      <m:e>
                        <m:r>
                          <m:rPr>
                            <m:sty m:val="p"/>
                          </m:rPr>
                          <a:rPr lang="en-US" sz="3000">
                            <a:latin typeface="Cambria Math" panose="02040503050406030204" pitchFamily="18" charset="0"/>
                            <a:ea typeface="Cambria Math" panose="02040503050406030204" pitchFamily="18" charset="0"/>
                          </a:rPr>
                          <m:t>m</m:t>
                        </m:r>
                      </m:e>
                      <m:sup>
                        <m:r>
                          <a:rPr lang="en-US" sz="3000">
                            <a:latin typeface="Cambria Math" panose="02040503050406030204" pitchFamily="18" charset="0"/>
                            <a:ea typeface="Cambria Math" panose="02040503050406030204" pitchFamily="18" charset="0"/>
                          </a:rPr>
                          <m:t>−3</m:t>
                        </m:r>
                      </m:sup>
                    </m:sSup>
                  </m:oMath>
                </a14:m>
                <a:r>
                  <a:rPr lang="en-US" sz="3000" dirty="0"/>
                  <a:t>, and Cs-133 </a:t>
                </a:r>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=1×</m:t>
                    </m:r>
                    <m:sSup>
                      <m:sSupPr>
                        <m:ctrlPr>
                          <a:rPr lang="en-US" sz="3000" i="1">
                            <a:latin typeface="Cambria Math" panose="02040503050406030204" pitchFamily="18" charset="0"/>
                            <a:ea typeface="Cambria Math" panose="02040503050406030204" pitchFamily="18" charset="0"/>
                          </a:rPr>
                        </m:ctrlPr>
                      </m:sSupPr>
                      <m:e>
                        <m:r>
                          <a:rPr lang="en-US" sz="3000" i="1">
                            <a:latin typeface="Cambria Math" panose="02040503050406030204" pitchFamily="18" charset="0"/>
                            <a:ea typeface="Cambria Math" panose="02040503050406030204" pitchFamily="18" charset="0"/>
                          </a:rPr>
                          <m:t>10</m:t>
                        </m:r>
                      </m:e>
                      <m:sup>
                        <m:r>
                          <a:rPr lang="en-US" sz="3000" i="1">
                            <a:latin typeface="Cambria Math" panose="02040503050406030204" pitchFamily="18" charset="0"/>
                            <a:ea typeface="Cambria Math" panose="02040503050406030204" pitchFamily="18" charset="0"/>
                          </a:rPr>
                          <m:t>1</m:t>
                        </m:r>
                        <m:r>
                          <a:rPr lang="en-US" sz="3000" b="0" i="1" smtClean="0">
                            <a:latin typeface="Cambria Math" panose="02040503050406030204" pitchFamily="18" charset="0"/>
                            <a:ea typeface="Cambria Math" panose="02040503050406030204" pitchFamily="18" charset="0"/>
                          </a:rPr>
                          <m:t>7</m:t>
                        </m:r>
                      </m:sup>
                    </m:sSup>
                    <m:r>
                      <m:rPr>
                        <m:sty m:val="p"/>
                      </m:rPr>
                      <a:rPr lang="en-US" sz="3000">
                        <a:latin typeface="Cambria Math" panose="02040503050406030204" pitchFamily="18" charset="0"/>
                        <a:ea typeface="Cambria Math" panose="02040503050406030204" pitchFamily="18" charset="0"/>
                      </a:rPr>
                      <m:t>c</m:t>
                    </m:r>
                    <m:sSup>
                      <m:sSupPr>
                        <m:ctrlPr>
                          <a:rPr lang="en-US" sz="3000" i="1">
                            <a:latin typeface="Cambria Math" panose="02040503050406030204" pitchFamily="18" charset="0"/>
                            <a:ea typeface="Cambria Math" panose="02040503050406030204" pitchFamily="18" charset="0"/>
                          </a:rPr>
                        </m:ctrlPr>
                      </m:sSupPr>
                      <m:e>
                        <m:r>
                          <m:rPr>
                            <m:sty m:val="p"/>
                          </m:rPr>
                          <a:rPr lang="en-US" sz="3000">
                            <a:latin typeface="Cambria Math" panose="02040503050406030204" pitchFamily="18" charset="0"/>
                            <a:ea typeface="Cambria Math" panose="02040503050406030204" pitchFamily="18" charset="0"/>
                          </a:rPr>
                          <m:t>m</m:t>
                        </m:r>
                      </m:e>
                      <m:sup>
                        <m:r>
                          <a:rPr lang="en-US" sz="3000">
                            <a:latin typeface="Cambria Math" panose="02040503050406030204" pitchFamily="18" charset="0"/>
                            <a:ea typeface="Cambria Math" panose="02040503050406030204" pitchFamily="18" charset="0"/>
                          </a:rPr>
                          <m:t>−3</m:t>
                        </m:r>
                      </m:sup>
                    </m:sSup>
                  </m:oMath>
                </a14:m>
                <a:endParaRPr lang="en-US" sz="3000" dirty="0"/>
              </a:p>
            </p:txBody>
          </p:sp>
        </mc:Choice>
        <mc:Fallback>
          <p:sp>
            <p:nvSpPr>
              <p:cNvPr id="1105" name="TextBox 1104">
                <a:extLst>
                  <a:ext uri="{FF2B5EF4-FFF2-40B4-BE49-F238E27FC236}">
                    <a16:creationId xmlns:a16="http://schemas.microsoft.com/office/drawing/2014/main" id="{073A8FC8-433D-7D09-7EF6-3808520820AA}"/>
                  </a:ext>
                </a:extLst>
              </p:cNvPr>
              <p:cNvSpPr txBox="1">
                <a:spLocks noRot="1" noChangeAspect="1" noMove="1" noResize="1" noEditPoints="1" noAdjustHandles="1" noChangeArrowheads="1" noChangeShapeType="1" noTextEdit="1"/>
              </p:cNvSpPr>
              <p:nvPr/>
            </p:nvSpPr>
            <p:spPr>
              <a:xfrm>
                <a:off x="29944733" y="12657237"/>
                <a:ext cx="13716001" cy="1477328"/>
              </a:xfrm>
              <a:prstGeom prst="rect">
                <a:avLst/>
              </a:prstGeom>
              <a:blipFill>
                <a:blip r:embed="rId34"/>
                <a:stretch>
                  <a:fillRect l="-1022" t="-4938" b="-1193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2" name="TextBox 1111">
                <a:extLst>
                  <a:ext uri="{FF2B5EF4-FFF2-40B4-BE49-F238E27FC236}">
                    <a16:creationId xmlns:a16="http://schemas.microsoft.com/office/drawing/2014/main" id="{2D3D19D6-A45D-DAF8-C289-478E8C359232}"/>
                  </a:ext>
                </a:extLst>
              </p:cNvPr>
              <p:cNvSpPr txBox="1"/>
              <p:nvPr/>
            </p:nvSpPr>
            <p:spPr>
              <a:xfrm>
                <a:off x="29870399" y="18506837"/>
                <a:ext cx="13602382" cy="1015663"/>
              </a:xfrm>
              <a:prstGeom prst="rect">
                <a:avLst/>
              </a:prstGeom>
              <a:noFill/>
            </p:spPr>
            <p:txBody>
              <a:bodyPr wrap="square" rtlCol="0">
                <a:spAutoFit/>
              </a:bodyPr>
              <a:lstStyle/>
              <a:p>
                <a:r>
                  <a:rPr lang="en-US" sz="3000" b="1" dirty="0"/>
                  <a:t>Compare to Experimental Results, Low Dopant Density:</a:t>
                </a:r>
              </a:p>
              <a:p>
                <a:r>
                  <a:rPr lang="en-US" sz="3000" dirty="0"/>
                  <a:t>From [2]. Rb-85 F=3, </a:t>
                </a:r>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=1.5×</m:t>
                    </m:r>
                    <m:sSup>
                      <m:sSupPr>
                        <m:ctrlPr>
                          <a:rPr lang="en-US" sz="3000" i="1">
                            <a:latin typeface="Cambria Math" panose="02040503050406030204" pitchFamily="18" charset="0"/>
                            <a:ea typeface="Cambria Math" panose="02040503050406030204" pitchFamily="18" charset="0"/>
                          </a:rPr>
                        </m:ctrlPr>
                      </m:sSupPr>
                      <m:e>
                        <m:r>
                          <a:rPr lang="en-US" sz="3000" i="1">
                            <a:latin typeface="Cambria Math" panose="02040503050406030204" pitchFamily="18" charset="0"/>
                            <a:ea typeface="Cambria Math" panose="02040503050406030204" pitchFamily="18" charset="0"/>
                          </a:rPr>
                          <m:t>10</m:t>
                        </m:r>
                      </m:e>
                      <m:sup>
                        <m:r>
                          <a:rPr lang="en-US" sz="3000" i="1">
                            <a:latin typeface="Cambria Math" panose="02040503050406030204" pitchFamily="18" charset="0"/>
                            <a:ea typeface="Cambria Math" panose="02040503050406030204" pitchFamily="18" charset="0"/>
                          </a:rPr>
                          <m:t>1</m:t>
                        </m:r>
                        <m:r>
                          <a:rPr lang="en-US" sz="3000" b="0" i="1" smtClean="0">
                            <a:latin typeface="Cambria Math" panose="02040503050406030204" pitchFamily="18" charset="0"/>
                            <a:ea typeface="Cambria Math" panose="02040503050406030204" pitchFamily="18" charset="0"/>
                          </a:rPr>
                          <m:t>6</m:t>
                        </m:r>
                      </m:sup>
                    </m:sSup>
                    <m:r>
                      <m:rPr>
                        <m:sty m:val="p"/>
                      </m:rPr>
                      <a:rPr lang="en-US" sz="3000">
                        <a:latin typeface="Cambria Math" panose="02040503050406030204" pitchFamily="18" charset="0"/>
                        <a:ea typeface="Cambria Math" panose="02040503050406030204" pitchFamily="18" charset="0"/>
                      </a:rPr>
                      <m:t>c</m:t>
                    </m:r>
                    <m:sSup>
                      <m:sSupPr>
                        <m:ctrlPr>
                          <a:rPr lang="en-US" sz="3000" i="1">
                            <a:latin typeface="Cambria Math" panose="02040503050406030204" pitchFamily="18" charset="0"/>
                            <a:ea typeface="Cambria Math" panose="02040503050406030204" pitchFamily="18" charset="0"/>
                          </a:rPr>
                        </m:ctrlPr>
                      </m:sSupPr>
                      <m:e>
                        <m:r>
                          <m:rPr>
                            <m:sty m:val="p"/>
                          </m:rPr>
                          <a:rPr lang="en-US" sz="3000">
                            <a:latin typeface="Cambria Math" panose="02040503050406030204" pitchFamily="18" charset="0"/>
                            <a:ea typeface="Cambria Math" panose="02040503050406030204" pitchFamily="18" charset="0"/>
                          </a:rPr>
                          <m:t>m</m:t>
                        </m:r>
                      </m:e>
                      <m:sup>
                        <m:r>
                          <a:rPr lang="en-US" sz="3000">
                            <a:latin typeface="Cambria Math" panose="02040503050406030204" pitchFamily="18" charset="0"/>
                            <a:ea typeface="Cambria Math" panose="02040503050406030204" pitchFamily="18" charset="0"/>
                          </a:rPr>
                          <m:t>−3</m:t>
                        </m:r>
                      </m:sup>
                    </m:sSup>
                  </m:oMath>
                </a14:m>
                <a:r>
                  <a:rPr lang="en-US" sz="3000" dirty="0"/>
                  <a:t> </a:t>
                </a:r>
              </a:p>
            </p:txBody>
          </p:sp>
        </mc:Choice>
        <mc:Fallback>
          <p:sp>
            <p:nvSpPr>
              <p:cNvPr id="1112" name="TextBox 1111">
                <a:extLst>
                  <a:ext uri="{FF2B5EF4-FFF2-40B4-BE49-F238E27FC236}">
                    <a16:creationId xmlns:a16="http://schemas.microsoft.com/office/drawing/2014/main" id="{2D3D19D6-A45D-DAF8-C289-478E8C359232}"/>
                  </a:ext>
                </a:extLst>
              </p:cNvPr>
              <p:cNvSpPr txBox="1">
                <a:spLocks noRot="1" noChangeAspect="1" noMove="1" noResize="1" noEditPoints="1" noAdjustHandles="1" noChangeArrowheads="1" noChangeShapeType="1" noTextEdit="1"/>
              </p:cNvSpPr>
              <p:nvPr/>
            </p:nvSpPr>
            <p:spPr>
              <a:xfrm>
                <a:off x="29870399" y="18506837"/>
                <a:ext cx="13602382" cy="1015663"/>
              </a:xfrm>
              <a:prstGeom prst="rect">
                <a:avLst/>
              </a:prstGeom>
              <a:blipFill>
                <a:blip r:embed="rId35"/>
                <a:stretch>
                  <a:fillRect l="-1031" t="-7186" b="-17964"/>
                </a:stretch>
              </a:blipFill>
            </p:spPr>
            <p:txBody>
              <a:bodyPr/>
              <a:lstStyle/>
              <a:p>
                <a:r>
                  <a:rPr lang="en-US">
                    <a:noFill/>
                  </a:rPr>
                  <a:t> </a:t>
                </a:r>
              </a:p>
            </p:txBody>
          </p:sp>
        </mc:Fallback>
      </mc:AlternateContent>
      <p:pic>
        <p:nvPicPr>
          <p:cNvPr id="1114" name="Picture 1113">
            <a:extLst>
              <a:ext uri="{FF2B5EF4-FFF2-40B4-BE49-F238E27FC236}">
                <a16:creationId xmlns:a16="http://schemas.microsoft.com/office/drawing/2014/main" id="{ADCB1DD3-4C4B-21D5-C9D7-D9CBAE09B658}"/>
              </a:ext>
            </a:extLst>
          </p:cNvPr>
          <p:cNvPicPr>
            <a:picLocks noChangeAspect="1"/>
          </p:cNvPicPr>
          <p:nvPr/>
        </p:nvPicPr>
        <p:blipFill>
          <a:blip r:embed="rId36"/>
          <a:srcRect t="9901"/>
          <a:stretch>
            <a:fillRect/>
          </a:stretch>
        </p:blipFill>
        <p:spPr>
          <a:xfrm>
            <a:off x="30327600" y="19610822"/>
            <a:ext cx="6092841" cy="4092876"/>
          </a:xfrm>
          <a:prstGeom prst="rect">
            <a:avLst/>
          </a:prstGeom>
        </p:spPr>
      </p:pic>
      <mc:AlternateContent xmlns:mc="http://schemas.openxmlformats.org/markup-compatibility/2006">
        <mc:Choice xmlns:a14="http://schemas.microsoft.com/office/drawing/2010/main" Requires="a14">
          <p:sp>
            <p:nvSpPr>
              <p:cNvPr id="1116" name="TextBox 1115">
                <a:extLst>
                  <a:ext uri="{FF2B5EF4-FFF2-40B4-BE49-F238E27FC236}">
                    <a16:creationId xmlns:a16="http://schemas.microsoft.com/office/drawing/2014/main" id="{378E76FD-0C0B-FF05-0D03-5ACDAD49BBB0}"/>
                  </a:ext>
                </a:extLst>
              </p:cNvPr>
              <p:cNvSpPr txBox="1"/>
              <p:nvPr/>
            </p:nvSpPr>
            <p:spPr>
              <a:xfrm>
                <a:off x="37181573" y="20025336"/>
                <a:ext cx="6615227" cy="2400657"/>
              </a:xfrm>
              <a:prstGeom prst="rect">
                <a:avLst/>
              </a:prstGeom>
              <a:noFill/>
            </p:spPr>
            <p:txBody>
              <a:bodyPr wrap="square" rtlCol="0">
                <a:spAutoFit/>
              </a:bodyPr>
              <a:lstStyle/>
              <a:p>
                <a:r>
                  <a:rPr lang="en-US" sz="3000" dirty="0"/>
                  <a:t>From [3] </a:t>
                </a:r>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=3×</m:t>
                    </m:r>
                    <m:sSup>
                      <m:sSupPr>
                        <m:ctrlPr>
                          <a:rPr lang="en-US" sz="3000" i="1">
                            <a:latin typeface="Cambria Math" panose="02040503050406030204" pitchFamily="18" charset="0"/>
                            <a:ea typeface="Cambria Math" panose="02040503050406030204" pitchFamily="18" charset="0"/>
                          </a:rPr>
                        </m:ctrlPr>
                      </m:sSupPr>
                      <m:e>
                        <m:r>
                          <a:rPr lang="en-US" sz="3000" i="1">
                            <a:latin typeface="Cambria Math" panose="02040503050406030204" pitchFamily="18" charset="0"/>
                            <a:ea typeface="Cambria Math" panose="02040503050406030204" pitchFamily="18" charset="0"/>
                          </a:rPr>
                          <m:t>10</m:t>
                        </m:r>
                      </m:e>
                      <m:sup>
                        <m:r>
                          <a:rPr lang="en-US" sz="3000" i="1">
                            <a:latin typeface="Cambria Math" panose="02040503050406030204" pitchFamily="18" charset="0"/>
                            <a:ea typeface="Cambria Math" panose="02040503050406030204" pitchFamily="18" charset="0"/>
                          </a:rPr>
                          <m:t>16</m:t>
                        </m:r>
                      </m:sup>
                    </m:sSup>
                    <m:r>
                      <m:rPr>
                        <m:sty m:val="p"/>
                      </m:rPr>
                      <a:rPr lang="en-US" sz="3000">
                        <a:latin typeface="Cambria Math" panose="02040503050406030204" pitchFamily="18" charset="0"/>
                        <a:ea typeface="Cambria Math" panose="02040503050406030204" pitchFamily="18" charset="0"/>
                      </a:rPr>
                      <m:t>c</m:t>
                    </m:r>
                    <m:sSup>
                      <m:sSupPr>
                        <m:ctrlPr>
                          <a:rPr lang="en-US" sz="3000" i="1">
                            <a:latin typeface="Cambria Math" panose="02040503050406030204" pitchFamily="18" charset="0"/>
                            <a:ea typeface="Cambria Math" panose="02040503050406030204" pitchFamily="18" charset="0"/>
                          </a:rPr>
                        </m:ctrlPr>
                      </m:sSupPr>
                      <m:e>
                        <m:r>
                          <m:rPr>
                            <m:sty m:val="p"/>
                          </m:rPr>
                          <a:rPr lang="en-US" sz="3000">
                            <a:latin typeface="Cambria Math" panose="02040503050406030204" pitchFamily="18" charset="0"/>
                            <a:ea typeface="Cambria Math" panose="02040503050406030204" pitchFamily="18" charset="0"/>
                          </a:rPr>
                          <m:t>m</m:t>
                        </m:r>
                      </m:e>
                      <m:sup>
                        <m:r>
                          <a:rPr lang="en-US" sz="3000">
                            <a:latin typeface="Cambria Math" panose="02040503050406030204" pitchFamily="18" charset="0"/>
                            <a:ea typeface="Cambria Math" panose="02040503050406030204" pitchFamily="18" charset="0"/>
                          </a:rPr>
                          <m:t>−3</m:t>
                        </m:r>
                      </m:sup>
                    </m:sSup>
                  </m:oMath>
                </a14:m>
                <a:r>
                  <a:rPr lang="en-US" sz="3000" dirty="0"/>
                  <a:t>:</a:t>
                </a:r>
              </a:p>
              <a:p>
                <a:r>
                  <a:rPr lang="en-US" sz="3000" dirty="0"/>
                  <a:t>Sodium-23 (</a:t>
                </a:r>
                <a14:m>
                  <m:oMath xmlns:m="http://schemas.openxmlformats.org/officeDocument/2006/math">
                    <m:r>
                      <a:rPr lang="en-US" sz="3000" b="0" i="1" smtClean="0">
                        <a:latin typeface="Cambria Math" panose="02040503050406030204" pitchFamily="18" charset="0"/>
                      </a:rPr>
                      <m:t>𝐼</m:t>
                    </m:r>
                    <m:r>
                      <a:rPr lang="en-US" sz="3000" b="0" i="1" smtClean="0">
                        <a:latin typeface="Cambria Math" panose="02040503050406030204" pitchFamily="18" charset="0"/>
                      </a:rPr>
                      <m:t>=3/2</m:t>
                    </m:r>
                  </m:oMath>
                </a14:m>
                <a:r>
                  <a:rPr lang="en-US" sz="3000" dirty="0"/>
                  <a:t>, </a:t>
                </a:r>
                <a14:m>
                  <m:oMath xmlns:m="http://schemas.openxmlformats.org/officeDocument/2006/math">
                    <m:r>
                      <a:rPr lang="en-US" sz="3000" b="0" i="1" dirty="0" smtClean="0">
                        <a:latin typeface="Cambria Math" panose="02040503050406030204" pitchFamily="18" charset="0"/>
                      </a:rPr>
                      <m:t>𝐽</m:t>
                    </m:r>
                    <m:r>
                      <a:rPr lang="en-US" sz="3000" b="0" i="1" dirty="0" smtClean="0">
                        <a:latin typeface="Cambria Math" panose="02040503050406030204" pitchFamily="18" charset="0"/>
                      </a:rPr>
                      <m:t>=1/2</m:t>
                    </m:r>
                  </m:oMath>
                </a14:m>
                <a:r>
                  <a:rPr lang="en-US" sz="3000" dirty="0"/>
                  <a:t>), transition: </a:t>
                </a:r>
                <a14:m>
                  <m:oMath xmlns:m="http://schemas.openxmlformats.org/officeDocument/2006/math">
                    <m:d>
                      <m:dPr>
                        <m:begChr m:val="|"/>
                        <m:endChr m:val="⟩"/>
                        <m:ctrlPr>
                          <a:rPr lang="en-US" sz="3000" i="1">
                            <a:latin typeface="Cambria Math" panose="02040503050406030204" pitchFamily="18" charset="0"/>
                          </a:rPr>
                        </m:ctrlPr>
                      </m:dPr>
                      <m:e>
                        <m:r>
                          <a:rPr lang="en-US" sz="3000" b="0" i="1" smtClean="0">
                            <a:latin typeface="Cambria Math" panose="02040503050406030204" pitchFamily="18" charset="0"/>
                          </a:rPr>
                          <m:t>1</m:t>
                        </m:r>
                        <m:r>
                          <a:rPr lang="en-US" sz="3000" i="1">
                            <a:latin typeface="Cambria Math" panose="02040503050406030204" pitchFamily="18" charset="0"/>
                          </a:rPr>
                          <m:t>,</m:t>
                        </m:r>
                        <m:r>
                          <a:rPr lang="en-US" sz="3000" b="0" i="1" smtClean="0">
                            <a:latin typeface="Cambria Math" panose="02040503050406030204" pitchFamily="18" charset="0"/>
                          </a:rPr>
                          <m:t>1</m:t>
                        </m:r>
                      </m:e>
                    </m:d>
                    <m:r>
                      <a:rPr lang="en-US" sz="3000" i="1">
                        <a:latin typeface="Cambria Math" panose="02040503050406030204" pitchFamily="18" charset="0"/>
                        <a:ea typeface="Cambria Math" panose="02040503050406030204" pitchFamily="18" charset="0"/>
                      </a:rPr>
                      <m:t>→</m:t>
                    </m:r>
                    <m:d>
                      <m:dPr>
                        <m:begChr m:val="|"/>
                        <m:endChr m:val="⟩"/>
                        <m:ctrlPr>
                          <a:rPr lang="en-US" sz="3000" i="1">
                            <a:latin typeface="Cambria Math" panose="02040503050406030204" pitchFamily="18" charset="0"/>
                          </a:rPr>
                        </m:ctrlPr>
                      </m:dPr>
                      <m:e>
                        <m:r>
                          <a:rPr lang="en-US" sz="3000" b="0" i="1" smtClean="0">
                            <a:latin typeface="Cambria Math" panose="02040503050406030204" pitchFamily="18" charset="0"/>
                          </a:rPr>
                          <m:t>2</m:t>
                        </m:r>
                        <m:r>
                          <a:rPr lang="en-US" sz="3000" i="1">
                            <a:latin typeface="Cambria Math" panose="02040503050406030204" pitchFamily="18" charset="0"/>
                          </a:rPr>
                          <m:t>,</m:t>
                        </m:r>
                        <m:r>
                          <a:rPr lang="en-US" sz="3000" b="0" i="1" smtClean="0">
                            <a:latin typeface="Cambria Math" panose="02040503050406030204" pitchFamily="18" charset="0"/>
                          </a:rPr>
                          <m:t>2</m:t>
                        </m:r>
                        <m:r>
                          <a:rPr lang="en-US" sz="3000" i="1" smtClean="0">
                            <a:latin typeface="Cambria Math" panose="02040503050406030204" pitchFamily="18" charset="0"/>
                          </a:rPr>
                          <m:t> </m:t>
                        </m:r>
                      </m:e>
                    </m:d>
                  </m:oMath>
                </a14:m>
                <a:endParaRPr lang="en-US" sz="3000" dirty="0"/>
              </a:p>
              <a:p>
                <a:pPr marL="457200" indent="-457200">
                  <a:buFont typeface="Arial" panose="020B0604020202020204" pitchFamily="34" charset="0"/>
                  <a:buChar char="•"/>
                </a:pPr>
                <a:r>
                  <a:rPr lang="en-US" sz="3000" dirty="0"/>
                  <a:t>Experimental Result: 989 kHz</a:t>
                </a:r>
              </a:p>
              <a:p>
                <a:pPr marL="457200" indent="-457200">
                  <a:buFont typeface="Arial" panose="020B0604020202020204" pitchFamily="34" charset="0"/>
                  <a:buChar char="•"/>
                </a:pPr>
                <a:r>
                  <a:rPr lang="en-US" sz="3000" dirty="0"/>
                  <a:t>Model Result: 2.29 kHz</a:t>
                </a:r>
              </a:p>
            </p:txBody>
          </p:sp>
        </mc:Choice>
        <mc:Fallback>
          <p:sp>
            <p:nvSpPr>
              <p:cNvPr id="1116" name="TextBox 1115">
                <a:extLst>
                  <a:ext uri="{FF2B5EF4-FFF2-40B4-BE49-F238E27FC236}">
                    <a16:creationId xmlns:a16="http://schemas.microsoft.com/office/drawing/2014/main" id="{378E76FD-0C0B-FF05-0D03-5ACDAD49BBB0}"/>
                  </a:ext>
                </a:extLst>
              </p:cNvPr>
              <p:cNvSpPr txBox="1">
                <a:spLocks noRot="1" noChangeAspect="1" noMove="1" noResize="1" noEditPoints="1" noAdjustHandles="1" noChangeArrowheads="1" noChangeShapeType="1" noTextEdit="1"/>
              </p:cNvSpPr>
              <p:nvPr/>
            </p:nvSpPr>
            <p:spPr>
              <a:xfrm>
                <a:off x="37181573" y="20025336"/>
                <a:ext cx="6615227" cy="2400657"/>
              </a:xfrm>
              <a:prstGeom prst="rect">
                <a:avLst/>
              </a:prstGeom>
              <a:blipFill>
                <a:blip r:embed="rId37"/>
                <a:stretch>
                  <a:fillRect l="-2118" t="-3046" b="-7107"/>
                </a:stretch>
              </a:blipFill>
            </p:spPr>
            <p:txBody>
              <a:bodyPr/>
              <a:lstStyle/>
              <a:p>
                <a:r>
                  <a:rPr lang="en-US">
                    <a:noFill/>
                  </a:rPr>
                  <a:t> </a:t>
                </a:r>
              </a:p>
            </p:txBody>
          </p:sp>
        </mc:Fallback>
      </mc:AlternateContent>
      <p:pic>
        <p:nvPicPr>
          <p:cNvPr id="1122" name="Picture 1121">
            <a:extLst>
              <a:ext uri="{FF2B5EF4-FFF2-40B4-BE49-F238E27FC236}">
                <a16:creationId xmlns:a16="http://schemas.microsoft.com/office/drawing/2014/main" id="{8F6041A7-3D29-4C63-409A-10484C255D99}"/>
              </a:ext>
            </a:extLst>
          </p:cNvPr>
          <p:cNvPicPr>
            <a:picLocks noChangeAspect="1"/>
          </p:cNvPicPr>
          <p:nvPr/>
        </p:nvPicPr>
        <p:blipFill>
          <a:blip r:embed="rId38"/>
          <a:srcRect t="8103"/>
          <a:stretch>
            <a:fillRect/>
          </a:stretch>
        </p:blipFill>
        <p:spPr>
          <a:xfrm>
            <a:off x="30116502" y="14338759"/>
            <a:ext cx="6572250" cy="4289077"/>
          </a:xfrm>
          <a:prstGeom prst="rect">
            <a:avLst/>
          </a:prstGeom>
        </p:spPr>
      </p:pic>
      <p:pic>
        <p:nvPicPr>
          <p:cNvPr id="1124" name="Picture 1123">
            <a:extLst>
              <a:ext uri="{FF2B5EF4-FFF2-40B4-BE49-F238E27FC236}">
                <a16:creationId xmlns:a16="http://schemas.microsoft.com/office/drawing/2014/main" id="{7A5958FC-3561-5C65-34D6-EEC051E4D08C}"/>
              </a:ext>
            </a:extLst>
          </p:cNvPr>
          <p:cNvPicPr>
            <a:picLocks noChangeAspect="1"/>
          </p:cNvPicPr>
          <p:nvPr/>
        </p:nvPicPr>
        <p:blipFill>
          <a:blip r:embed="rId39"/>
          <a:stretch>
            <a:fillRect/>
          </a:stretch>
        </p:blipFill>
        <p:spPr>
          <a:xfrm>
            <a:off x="36956197" y="13913055"/>
            <a:ext cx="6263311" cy="4683591"/>
          </a:xfrm>
          <a:prstGeom prst="rect">
            <a:avLst/>
          </a:prstGeom>
        </p:spPr>
      </p:pic>
      <p:pic>
        <p:nvPicPr>
          <p:cNvPr id="1129" name="Picture 1128">
            <a:extLst>
              <a:ext uri="{FF2B5EF4-FFF2-40B4-BE49-F238E27FC236}">
                <a16:creationId xmlns:a16="http://schemas.microsoft.com/office/drawing/2014/main" id="{E83C81A2-2CA6-62BA-CB46-706E5873FB2D}"/>
              </a:ext>
            </a:extLst>
          </p:cNvPr>
          <p:cNvPicPr>
            <a:picLocks noChangeAspect="1"/>
          </p:cNvPicPr>
          <p:nvPr/>
        </p:nvPicPr>
        <p:blipFill>
          <a:blip r:embed="rId40"/>
          <a:srcRect t="9189" r="55532" b="8517"/>
          <a:stretch>
            <a:fillRect/>
          </a:stretch>
        </p:blipFill>
        <p:spPr>
          <a:xfrm>
            <a:off x="15633691" y="9809797"/>
            <a:ext cx="5722662" cy="4870173"/>
          </a:xfrm>
          <a:prstGeom prst="rect">
            <a:avLst/>
          </a:prstGeom>
        </p:spPr>
      </p:pic>
      <mc:AlternateContent xmlns:mc="http://schemas.openxmlformats.org/markup-compatibility/2006">
        <mc:Choice xmlns:a14="http://schemas.microsoft.com/office/drawing/2010/main" Requires="a14">
          <p:sp>
            <p:nvSpPr>
              <p:cNvPr id="1131" name="TextBox 1130">
                <a:extLst>
                  <a:ext uri="{FF2B5EF4-FFF2-40B4-BE49-F238E27FC236}">
                    <a16:creationId xmlns:a16="http://schemas.microsoft.com/office/drawing/2014/main" id="{DDB4C5DB-1924-2B5B-0D6F-28D517946C80}"/>
                  </a:ext>
                </a:extLst>
              </p:cNvPr>
              <p:cNvSpPr txBox="1"/>
              <p:nvPr/>
            </p:nvSpPr>
            <p:spPr>
              <a:xfrm>
                <a:off x="833769" y="20225275"/>
                <a:ext cx="7562267" cy="553998"/>
              </a:xfrm>
              <a:prstGeom prst="rect">
                <a:avLst/>
              </a:prstGeom>
              <a:noFill/>
            </p:spPr>
            <p:txBody>
              <a:bodyPr wrap="square" rtlCol="0">
                <a:spAutoFit/>
              </a:bodyPr>
              <a:lstStyle/>
              <a:p>
                <a:r>
                  <a:rPr lang="en-US" sz="3000" dirty="0"/>
                  <a:t>Magnetic field at </a:t>
                </a:r>
                <a14:m>
                  <m:oMath xmlns:m="http://schemas.openxmlformats.org/officeDocument/2006/math">
                    <m:r>
                      <a:rPr lang="en-US" sz="3000" b="1" i="1" smtClean="0">
                        <a:latin typeface="Cambria Math" panose="02040503050406030204" pitchFamily="18" charset="0"/>
                      </a:rPr>
                      <m:t>𝒓</m:t>
                    </m:r>
                  </m:oMath>
                </a14:m>
                <a:r>
                  <a:rPr lang="en-US" sz="3000" b="1" dirty="0"/>
                  <a:t> </a:t>
                </a:r>
                <a:r>
                  <a:rPr lang="en-US" sz="3000" dirty="0"/>
                  <a:t>relative to magnetic dipole:</a:t>
                </a:r>
              </a:p>
            </p:txBody>
          </p:sp>
        </mc:Choice>
        <mc:Fallback>
          <p:sp>
            <p:nvSpPr>
              <p:cNvPr id="1131" name="TextBox 1130">
                <a:extLst>
                  <a:ext uri="{FF2B5EF4-FFF2-40B4-BE49-F238E27FC236}">
                    <a16:creationId xmlns:a16="http://schemas.microsoft.com/office/drawing/2014/main" id="{DDB4C5DB-1924-2B5B-0D6F-28D517946C80}"/>
                  </a:ext>
                </a:extLst>
              </p:cNvPr>
              <p:cNvSpPr txBox="1">
                <a:spLocks noRot="1" noChangeAspect="1" noMove="1" noResize="1" noEditPoints="1" noAdjustHandles="1" noChangeArrowheads="1" noChangeShapeType="1" noTextEdit="1"/>
              </p:cNvSpPr>
              <p:nvPr/>
            </p:nvSpPr>
            <p:spPr>
              <a:xfrm>
                <a:off x="833769" y="20225275"/>
                <a:ext cx="7562267" cy="553998"/>
              </a:xfrm>
              <a:prstGeom prst="rect">
                <a:avLst/>
              </a:prstGeom>
              <a:blipFill>
                <a:blip r:embed="rId41"/>
                <a:stretch>
                  <a:fillRect l="-1935" t="-13187" b="-34066"/>
                </a:stretch>
              </a:blipFill>
            </p:spPr>
            <p:txBody>
              <a:bodyPr/>
              <a:lstStyle/>
              <a:p>
                <a:r>
                  <a:rPr lang="en-US">
                    <a:noFill/>
                  </a:rPr>
                  <a:t> </a:t>
                </a:r>
              </a:p>
            </p:txBody>
          </p:sp>
        </mc:Fallback>
      </mc:AlternateContent>
      <p:sp>
        <p:nvSpPr>
          <p:cNvPr id="1132" name="TextBox 1131">
            <a:extLst>
              <a:ext uri="{FF2B5EF4-FFF2-40B4-BE49-F238E27FC236}">
                <a16:creationId xmlns:a16="http://schemas.microsoft.com/office/drawing/2014/main" id="{F1E13885-D6A1-2BF3-A318-A64D342708E8}"/>
              </a:ext>
            </a:extLst>
          </p:cNvPr>
          <p:cNvSpPr txBox="1"/>
          <p:nvPr/>
        </p:nvSpPr>
        <p:spPr>
          <a:xfrm>
            <a:off x="833281" y="21607834"/>
            <a:ext cx="7562267" cy="553998"/>
          </a:xfrm>
          <a:prstGeom prst="rect">
            <a:avLst/>
          </a:prstGeom>
          <a:noFill/>
        </p:spPr>
        <p:txBody>
          <a:bodyPr wrap="square" rtlCol="0">
            <a:spAutoFit/>
          </a:bodyPr>
          <a:lstStyle/>
          <a:p>
            <a:r>
              <a:rPr lang="en-US" sz="3000" dirty="0"/>
              <a:t>Dipole “magnetic moment”:</a:t>
            </a:r>
          </a:p>
        </p:txBody>
      </p:sp>
      <p:sp>
        <p:nvSpPr>
          <p:cNvPr id="1135" name="TextBox 1134">
            <a:extLst>
              <a:ext uri="{FF2B5EF4-FFF2-40B4-BE49-F238E27FC236}">
                <a16:creationId xmlns:a16="http://schemas.microsoft.com/office/drawing/2014/main" id="{959B5747-3929-7459-E327-B28D01D4388B}"/>
              </a:ext>
            </a:extLst>
          </p:cNvPr>
          <p:cNvSpPr txBox="1"/>
          <p:nvPr/>
        </p:nvSpPr>
        <p:spPr>
          <a:xfrm>
            <a:off x="868972" y="22881081"/>
            <a:ext cx="7562267" cy="584775"/>
          </a:xfrm>
          <a:prstGeom prst="rect">
            <a:avLst/>
          </a:prstGeom>
          <a:noFill/>
        </p:spPr>
        <p:txBody>
          <a:bodyPr wrap="square" rtlCol="0">
            <a:spAutoFit/>
          </a:bodyPr>
          <a:lstStyle/>
          <a:p>
            <a:r>
              <a:rPr lang="en-US" sz="3000" dirty="0"/>
              <a:t>Hyperfine </a:t>
            </a:r>
            <a:r>
              <a:rPr lang="en-US" sz="3000" dirty="0" err="1"/>
              <a:t>Land</a:t>
            </a:r>
            <a:r>
              <a:rPr lang="en-US" sz="3200" dirty="0" err="1"/>
              <a:t>é</a:t>
            </a:r>
            <a:r>
              <a:rPr lang="en-US" sz="3000" dirty="0"/>
              <a:t> g-factor:</a:t>
            </a:r>
          </a:p>
        </p:txBody>
      </p:sp>
      <mc:AlternateContent xmlns:mc="http://schemas.openxmlformats.org/markup-compatibility/2006">
        <mc:Choice xmlns:a14="http://schemas.microsoft.com/office/drawing/2010/main" Requires="a14">
          <p:sp>
            <p:nvSpPr>
              <p:cNvPr id="1136" name="TextBox 1135">
                <a:extLst>
                  <a:ext uri="{FF2B5EF4-FFF2-40B4-BE49-F238E27FC236}">
                    <a16:creationId xmlns:a16="http://schemas.microsoft.com/office/drawing/2014/main" id="{1E395614-3426-D49C-DF7B-BA69E4FB4BE9}"/>
                  </a:ext>
                </a:extLst>
              </p:cNvPr>
              <p:cNvSpPr txBox="1"/>
              <p:nvPr/>
            </p:nvSpPr>
            <p:spPr>
              <a:xfrm>
                <a:off x="956814" y="24460934"/>
                <a:ext cx="12995896" cy="1477328"/>
              </a:xfrm>
              <a:prstGeom prst="rect">
                <a:avLst/>
              </a:prstGeom>
              <a:noFill/>
            </p:spPr>
            <p:txBody>
              <a:bodyPr wrap="square" rtlCol="0">
                <a:spAutoFit/>
              </a:bodyPr>
              <a:lstStyle/>
              <a:p>
                <a:r>
                  <a:rPr lang="en-US" sz="3000" dirty="0"/>
                  <a:t>For the sake of this project, </a:t>
                </a:r>
                <a14:m>
                  <m:oMath xmlns:m="http://schemas.openxmlformats.org/officeDocument/2006/math">
                    <m:r>
                      <a:rPr lang="en-US" sz="3000" b="0" i="1" smtClean="0">
                        <a:latin typeface="Cambria Math" panose="02040503050406030204" pitchFamily="18" charset="0"/>
                      </a:rPr>
                      <m:t>𝐼</m:t>
                    </m:r>
                    <m:r>
                      <a:rPr lang="en-US" sz="3000" b="0" i="0" smtClean="0">
                        <a:latin typeface="Cambria Math" panose="02040503050406030204" pitchFamily="18" charset="0"/>
                      </a:rPr>
                      <m:t>,</m:t>
                    </m:r>
                    <m:r>
                      <a:rPr lang="en-US" sz="3000" i="1">
                        <a:latin typeface="Cambria Math" panose="02040503050406030204" pitchFamily="18" charset="0"/>
                      </a:rPr>
                      <m:t>𝐽</m:t>
                    </m:r>
                    <m:r>
                      <a:rPr lang="en-US" sz="3000" b="0" i="1" smtClean="0">
                        <a:latin typeface="Cambria Math" panose="02040503050406030204" pitchFamily="18" charset="0"/>
                      </a:rPr>
                      <m:t>,</m:t>
                    </m:r>
                    <m:r>
                      <a:rPr lang="en-US" sz="3000" b="0" i="1" smtClean="0">
                        <a:latin typeface="Cambria Math" panose="02040503050406030204" pitchFamily="18" charset="0"/>
                      </a:rPr>
                      <m:t>𝐹</m:t>
                    </m:r>
                    <m:r>
                      <a:rPr lang="en-US" sz="3000" b="0" i="1" smtClean="0">
                        <a:latin typeface="Cambria Math" panose="02040503050406030204" pitchFamily="18" charset="0"/>
                      </a:rPr>
                      <m:t>,</m:t>
                    </m:r>
                  </m:oMath>
                </a14:m>
                <a:r>
                  <a:rPr lang="en-US" sz="3000" dirty="0"/>
                  <a:t> and </a:t>
                </a:r>
                <a14:m>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𝑚</m:t>
                        </m:r>
                      </m:e>
                      <m:sub>
                        <m:r>
                          <a:rPr lang="en-US" sz="3000" b="0" i="1" smtClean="0">
                            <a:latin typeface="Cambria Math" panose="02040503050406030204" pitchFamily="18" charset="0"/>
                          </a:rPr>
                          <m:t>𝐹</m:t>
                        </m:r>
                      </m:sub>
                    </m:sSub>
                  </m:oMath>
                </a14:m>
                <a:r>
                  <a:rPr lang="en-US" sz="3000" dirty="0"/>
                  <a:t> can all be thought of as input parameters defined by the atom and transition we are modeling. </a:t>
                </a:r>
              </a:p>
              <a:p>
                <a:r>
                  <a:rPr lang="en-US" sz="3000" dirty="0"/>
                  <a:t>Look at [4] if you want a physical understanding.    </a:t>
                </a:r>
              </a:p>
            </p:txBody>
          </p:sp>
        </mc:Choice>
        <mc:Fallback>
          <p:sp>
            <p:nvSpPr>
              <p:cNvPr id="1136" name="TextBox 1135">
                <a:extLst>
                  <a:ext uri="{FF2B5EF4-FFF2-40B4-BE49-F238E27FC236}">
                    <a16:creationId xmlns:a16="http://schemas.microsoft.com/office/drawing/2014/main" id="{1E395614-3426-D49C-DF7B-BA69E4FB4BE9}"/>
                  </a:ext>
                </a:extLst>
              </p:cNvPr>
              <p:cNvSpPr txBox="1">
                <a:spLocks noRot="1" noChangeAspect="1" noMove="1" noResize="1" noEditPoints="1" noAdjustHandles="1" noChangeArrowheads="1" noChangeShapeType="1" noTextEdit="1"/>
              </p:cNvSpPr>
              <p:nvPr/>
            </p:nvSpPr>
            <p:spPr>
              <a:xfrm>
                <a:off x="956814" y="24460934"/>
                <a:ext cx="12995896" cy="1477328"/>
              </a:xfrm>
              <a:prstGeom prst="rect">
                <a:avLst/>
              </a:prstGeom>
              <a:blipFill>
                <a:blip r:embed="rId42"/>
                <a:stretch>
                  <a:fillRect l="-1126" t="-4959" b="-1239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37" name="TextBox 1136">
                <a:extLst>
                  <a:ext uri="{FF2B5EF4-FFF2-40B4-BE49-F238E27FC236}">
                    <a16:creationId xmlns:a16="http://schemas.microsoft.com/office/drawing/2014/main" id="{3488F65D-5498-9901-4F4D-EA745B7CAE85}"/>
                  </a:ext>
                </a:extLst>
              </p:cNvPr>
              <p:cNvSpPr txBox="1"/>
              <p:nvPr/>
            </p:nvSpPr>
            <p:spPr>
              <a:xfrm>
                <a:off x="29838137" y="25003203"/>
                <a:ext cx="13791618" cy="4247317"/>
              </a:xfrm>
              <a:prstGeom prst="rect">
                <a:avLst/>
              </a:prstGeom>
              <a:noFill/>
            </p:spPr>
            <p:txBody>
              <a:bodyPr wrap="square" rtlCol="0">
                <a:spAutoFit/>
              </a:bodyPr>
              <a:lstStyle/>
              <a:p>
                <a:r>
                  <a:rPr lang="en-US" sz="3000" dirty="0"/>
                  <a:t>My inhomogeneous broadening simulation implies that while there is a regime where spin-spin interactions between atoms (</a:t>
                </a:r>
                <a14:m>
                  <m:oMath xmlns:m="http://schemas.openxmlformats.org/officeDocument/2006/math">
                    <m:r>
                      <a:rPr lang="en-US" sz="3000" i="1">
                        <a:latin typeface="Cambria Math" panose="02040503050406030204" pitchFamily="18" charset="0"/>
                      </a:rPr>
                      <m:t>𝜌</m:t>
                    </m:r>
                    <m:r>
                      <a:rPr lang="en-US" sz="300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10</m:t>
                        </m:r>
                      </m:e>
                      <m:sup>
                        <m:r>
                          <a:rPr lang="en-US" sz="3000" b="0" i="1" smtClean="0">
                            <a:latin typeface="Cambria Math" panose="02040503050406030204" pitchFamily="18" charset="0"/>
                          </a:rPr>
                          <m:t>18</m:t>
                        </m:r>
                      </m:sup>
                    </m:sSup>
                    <m:r>
                      <m:rPr>
                        <m:sty m:val="p"/>
                      </m:rPr>
                      <a:rPr lang="en-US" sz="3000" b="0" i="0" smtClean="0">
                        <a:latin typeface="Cambria Math" panose="02040503050406030204" pitchFamily="18" charset="0"/>
                      </a:rPr>
                      <m:t>atoms</m:t>
                    </m:r>
                    <m:r>
                      <a:rPr lang="en-US" sz="3000" b="0" i="0" smtClean="0">
                        <a:latin typeface="Cambria Math" panose="02040503050406030204" pitchFamily="18" charset="0"/>
                      </a:rPr>
                      <m:t>/</m:t>
                    </m:r>
                    <m:r>
                      <m:rPr>
                        <m:sty m:val="p"/>
                      </m:rPr>
                      <a:rPr lang="en-US" sz="3000" b="0" i="0" smtClean="0">
                        <a:latin typeface="Cambria Math" panose="02040503050406030204" pitchFamily="18" charset="0"/>
                      </a:rPr>
                      <m:t>c</m:t>
                    </m:r>
                    <m:sSup>
                      <m:sSupPr>
                        <m:ctrlPr>
                          <a:rPr lang="en-US" sz="3000" b="0" smtClean="0">
                            <a:latin typeface="Cambria Math" panose="02040503050406030204" pitchFamily="18" charset="0"/>
                          </a:rPr>
                        </m:ctrlPr>
                      </m:sSupPr>
                      <m:e>
                        <m:r>
                          <m:rPr>
                            <m:sty m:val="p"/>
                          </m:rPr>
                          <a:rPr lang="en-US" sz="3000" b="0" i="0" smtClean="0">
                            <a:latin typeface="Cambria Math" panose="02040503050406030204" pitchFamily="18" charset="0"/>
                          </a:rPr>
                          <m:t>m</m:t>
                        </m:r>
                      </m:e>
                      <m:sup>
                        <m:r>
                          <a:rPr lang="en-US" sz="3000" b="0" i="0" smtClean="0">
                            <a:latin typeface="Cambria Math" panose="02040503050406030204" pitchFamily="18" charset="0"/>
                          </a:rPr>
                          <m:t>3</m:t>
                        </m:r>
                      </m:sup>
                    </m:sSup>
                  </m:oMath>
                </a14:m>
                <a:r>
                  <a:rPr lang="en-US" sz="3000" dirty="0"/>
                  <a:t>, for Rb) becomes a dominant factor for inhomogeneous broadening, at lower densities (</a:t>
                </a:r>
                <a14:m>
                  <m:oMath xmlns:m="http://schemas.openxmlformats.org/officeDocument/2006/math">
                    <m:r>
                      <a:rPr lang="en-US" sz="3000" i="1">
                        <a:latin typeface="Cambria Math" panose="02040503050406030204" pitchFamily="18" charset="0"/>
                      </a:rPr>
                      <m:t>𝜌</m:t>
                    </m:r>
                    <m:r>
                      <a:rPr lang="en-US" sz="3000" b="0" i="1" smtClean="0">
                        <a:latin typeface="Cambria Math" panose="02040503050406030204" pitchFamily="18" charset="0"/>
                      </a:rPr>
                      <m:t>~</m:t>
                    </m:r>
                    <m:sSup>
                      <m:sSupPr>
                        <m:ctrlPr>
                          <a:rPr lang="en-US" sz="3000" b="0" i="0" smtClean="0">
                            <a:latin typeface="Cambria Math" panose="02040503050406030204" pitchFamily="18" charset="0"/>
                          </a:rPr>
                        </m:ctrlPr>
                      </m:sSupPr>
                      <m:e>
                        <m:r>
                          <a:rPr lang="en-US" sz="3000" b="0" i="0" smtClean="0">
                            <a:latin typeface="Cambria Math" panose="02040503050406030204" pitchFamily="18" charset="0"/>
                          </a:rPr>
                          <m:t>10</m:t>
                        </m:r>
                      </m:e>
                      <m:sup>
                        <m:r>
                          <a:rPr lang="en-US" sz="3000" b="0" i="0" smtClean="0">
                            <a:latin typeface="Cambria Math" panose="02040503050406030204" pitchFamily="18" charset="0"/>
                          </a:rPr>
                          <m:t>16</m:t>
                        </m:r>
                      </m:sup>
                    </m:sSup>
                    <m:r>
                      <m:rPr>
                        <m:sty m:val="p"/>
                      </m:rPr>
                      <a:rPr lang="en-US" sz="3000">
                        <a:latin typeface="Cambria Math" panose="02040503050406030204" pitchFamily="18" charset="0"/>
                      </a:rPr>
                      <m:t>atoms</m:t>
                    </m:r>
                    <m:r>
                      <a:rPr lang="en-US" sz="3000">
                        <a:latin typeface="Cambria Math" panose="02040503050406030204" pitchFamily="18" charset="0"/>
                      </a:rPr>
                      <m:t>/</m:t>
                    </m:r>
                    <m:r>
                      <m:rPr>
                        <m:sty m:val="p"/>
                      </m:rPr>
                      <a:rPr lang="en-US" sz="3000">
                        <a:latin typeface="Cambria Math" panose="02040503050406030204" pitchFamily="18" charset="0"/>
                      </a:rPr>
                      <m:t>c</m:t>
                    </m:r>
                    <m:sSup>
                      <m:sSupPr>
                        <m:ctrlPr>
                          <a:rPr lang="en-US" sz="3000" i="1">
                            <a:latin typeface="Cambria Math" panose="02040503050406030204" pitchFamily="18" charset="0"/>
                          </a:rPr>
                        </m:ctrlPr>
                      </m:sSupPr>
                      <m:e>
                        <m:r>
                          <m:rPr>
                            <m:sty m:val="p"/>
                          </m:rPr>
                          <a:rPr lang="en-US" sz="3000">
                            <a:latin typeface="Cambria Math" panose="02040503050406030204" pitchFamily="18" charset="0"/>
                          </a:rPr>
                          <m:t>m</m:t>
                        </m:r>
                      </m:e>
                      <m:sup>
                        <m:r>
                          <a:rPr lang="en-US" sz="3000">
                            <a:latin typeface="Cambria Math" panose="02040503050406030204" pitchFamily="18" charset="0"/>
                          </a:rPr>
                          <m:t>3</m:t>
                        </m:r>
                      </m:sup>
                    </m:sSup>
                  </m:oMath>
                </a14:m>
                <a:r>
                  <a:rPr lang="en-US" sz="3000" dirty="0"/>
                  <a:t>) it’s subdominant. Most labs tend to grow around </a:t>
                </a:r>
                <a14:m>
                  <m:oMath xmlns:m="http://schemas.openxmlformats.org/officeDocument/2006/math">
                    <m:r>
                      <a:rPr lang="en-US" sz="3000" i="1">
                        <a:latin typeface="Cambria Math" panose="02040503050406030204" pitchFamily="18" charset="0"/>
                      </a:rPr>
                      <m:t>𝜌</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a:latin typeface="Cambria Math" panose="02040503050406030204" pitchFamily="18" charset="0"/>
                          </a:rPr>
                          <m:t>10</m:t>
                        </m:r>
                      </m:e>
                      <m:sup>
                        <m:r>
                          <a:rPr lang="en-US" sz="3000">
                            <a:latin typeface="Cambria Math" panose="02040503050406030204" pitchFamily="18" charset="0"/>
                          </a:rPr>
                          <m:t>16</m:t>
                        </m:r>
                      </m:sup>
                    </m:sSup>
                    <m:r>
                      <m:rPr>
                        <m:sty m:val="p"/>
                      </m:rPr>
                      <a:rPr lang="en-US" sz="3000">
                        <a:latin typeface="Cambria Math" panose="02040503050406030204" pitchFamily="18" charset="0"/>
                      </a:rPr>
                      <m:t>atoms</m:t>
                    </m:r>
                    <m:r>
                      <a:rPr lang="en-US" sz="3000">
                        <a:latin typeface="Cambria Math" panose="02040503050406030204" pitchFamily="18" charset="0"/>
                      </a:rPr>
                      <m:t>/</m:t>
                    </m:r>
                    <m:r>
                      <m:rPr>
                        <m:sty m:val="p"/>
                      </m:rPr>
                      <a:rPr lang="en-US" sz="3000">
                        <a:latin typeface="Cambria Math" panose="02040503050406030204" pitchFamily="18" charset="0"/>
                      </a:rPr>
                      <m:t>c</m:t>
                    </m:r>
                    <m:sSup>
                      <m:sSupPr>
                        <m:ctrlPr>
                          <a:rPr lang="en-US" sz="3000" i="1">
                            <a:latin typeface="Cambria Math" panose="02040503050406030204" pitchFamily="18" charset="0"/>
                          </a:rPr>
                        </m:ctrlPr>
                      </m:sSupPr>
                      <m:e>
                        <m:r>
                          <m:rPr>
                            <m:sty m:val="p"/>
                          </m:rPr>
                          <a:rPr lang="en-US" sz="3000">
                            <a:latin typeface="Cambria Math" panose="02040503050406030204" pitchFamily="18" charset="0"/>
                          </a:rPr>
                          <m:t>m</m:t>
                        </m:r>
                      </m:e>
                      <m:sup>
                        <m:r>
                          <a:rPr lang="en-US" sz="3000">
                            <a:latin typeface="Cambria Math" panose="02040503050406030204" pitchFamily="18" charset="0"/>
                          </a:rPr>
                          <m:t>3</m:t>
                        </m:r>
                      </m:sup>
                    </m:sSup>
                  </m:oMath>
                </a14:m>
                <a:r>
                  <a:rPr lang="en-US" sz="3000" dirty="0"/>
                  <a:t>, so in this regime my model does not accurately predict inhomogeneous broadening. It is possible, however, that it provides a lower limit on broadening, that if achieved, would provide more sensitive measurements. One improvement, is that some matrices, like Ne, can have spins that interact with our atoms. Adding this would be important as both low dopant density results were in crystals that may have small spin-spin interactions.  </a:t>
                </a:r>
              </a:p>
            </p:txBody>
          </p:sp>
        </mc:Choice>
        <mc:Fallback>
          <p:sp>
            <p:nvSpPr>
              <p:cNvPr id="1137" name="TextBox 1136">
                <a:extLst>
                  <a:ext uri="{FF2B5EF4-FFF2-40B4-BE49-F238E27FC236}">
                    <a16:creationId xmlns:a16="http://schemas.microsoft.com/office/drawing/2014/main" id="{3488F65D-5498-9901-4F4D-EA745B7CAE85}"/>
                  </a:ext>
                </a:extLst>
              </p:cNvPr>
              <p:cNvSpPr txBox="1">
                <a:spLocks noRot="1" noChangeAspect="1" noMove="1" noResize="1" noEditPoints="1" noAdjustHandles="1" noChangeArrowheads="1" noChangeShapeType="1" noTextEdit="1"/>
              </p:cNvSpPr>
              <p:nvPr/>
            </p:nvSpPr>
            <p:spPr>
              <a:xfrm>
                <a:off x="29838137" y="25003203"/>
                <a:ext cx="13791618" cy="4247317"/>
              </a:xfrm>
              <a:prstGeom prst="rect">
                <a:avLst/>
              </a:prstGeom>
              <a:blipFill>
                <a:blip r:embed="rId43"/>
                <a:stretch>
                  <a:fillRect l="-1061" t="-1724" r="-1547" b="-3736"/>
                </a:stretch>
              </a:blipFill>
            </p:spPr>
            <p:txBody>
              <a:bodyPr/>
              <a:lstStyle/>
              <a:p>
                <a:r>
                  <a:rPr lang="en-US">
                    <a:noFill/>
                  </a:rPr>
                  <a:t> </a:t>
                </a:r>
              </a:p>
            </p:txBody>
          </p:sp>
        </mc:Fallback>
      </mc:AlternateContent>
      <p:pic>
        <p:nvPicPr>
          <p:cNvPr id="1139" name="Picture 1138">
            <a:extLst>
              <a:ext uri="{FF2B5EF4-FFF2-40B4-BE49-F238E27FC236}">
                <a16:creationId xmlns:a16="http://schemas.microsoft.com/office/drawing/2014/main" id="{CDFF1273-2791-0C82-C405-37F7166D419A}"/>
              </a:ext>
            </a:extLst>
          </p:cNvPr>
          <p:cNvPicPr>
            <a:picLocks noChangeAspect="1"/>
          </p:cNvPicPr>
          <p:nvPr/>
        </p:nvPicPr>
        <p:blipFill>
          <a:blip r:embed="rId44"/>
          <a:srcRect l="44375"/>
          <a:stretch>
            <a:fillRect/>
          </a:stretch>
        </p:blipFill>
        <p:spPr>
          <a:xfrm>
            <a:off x="15249604" y="25273068"/>
            <a:ext cx="8153606" cy="6756499"/>
          </a:xfrm>
          <a:prstGeom prst="rect">
            <a:avLst/>
          </a:prstGeom>
        </p:spPr>
      </p:pic>
      <p:pic>
        <p:nvPicPr>
          <p:cNvPr id="1141" name="Picture 1140">
            <a:extLst>
              <a:ext uri="{FF2B5EF4-FFF2-40B4-BE49-F238E27FC236}">
                <a16:creationId xmlns:a16="http://schemas.microsoft.com/office/drawing/2014/main" id="{48CD237F-CE53-1F2E-D91C-B666DB615265}"/>
              </a:ext>
            </a:extLst>
          </p:cNvPr>
          <p:cNvPicPr>
            <a:picLocks noChangeAspect="1"/>
          </p:cNvPicPr>
          <p:nvPr/>
        </p:nvPicPr>
        <p:blipFill>
          <a:blip r:embed="rId45"/>
          <a:stretch>
            <a:fillRect/>
          </a:stretch>
        </p:blipFill>
        <p:spPr>
          <a:xfrm>
            <a:off x="36734338" y="8660035"/>
            <a:ext cx="5876925" cy="3987294"/>
          </a:xfrm>
          <a:prstGeom prst="rect">
            <a:avLst/>
          </a:prstGeom>
        </p:spPr>
      </p:pic>
      <p:pic>
        <p:nvPicPr>
          <p:cNvPr id="1143" name="Picture 1142">
            <a:extLst>
              <a:ext uri="{FF2B5EF4-FFF2-40B4-BE49-F238E27FC236}">
                <a16:creationId xmlns:a16="http://schemas.microsoft.com/office/drawing/2014/main" id="{D0194659-FDDB-F3FE-0788-1B7B2C94DD34}"/>
              </a:ext>
            </a:extLst>
          </p:cNvPr>
          <p:cNvPicPr>
            <a:picLocks noChangeAspect="1"/>
          </p:cNvPicPr>
          <p:nvPr/>
        </p:nvPicPr>
        <p:blipFill>
          <a:blip r:embed="rId46"/>
          <a:stretch>
            <a:fillRect/>
          </a:stretch>
        </p:blipFill>
        <p:spPr>
          <a:xfrm>
            <a:off x="30294943" y="8667844"/>
            <a:ext cx="5202640" cy="3910594"/>
          </a:xfrm>
          <a:prstGeom prst="rect">
            <a:avLst/>
          </a:prstGeom>
        </p:spPr>
      </p:pic>
    </p:spTree>
  </p:cSld>
  <p:clrMapOvr>
    <a:masterClrMapping/>
  </p:clrMapOvr>
</p:sld>
</file>

<file path=ppt/theme/theme1.xml><?xml version="1.0" encoding="utf-8"?>
<a:theme xmlns:a="http://schemas.openxmlformats.org/drawingml/2006/main" name="Office Them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26A4B32F3A5149A630672A0E35C747" ma:contentTypeVersion="11" ma:contentTypeDescription="Create a new document." ma:contentTypeScope="" ma:versionID="7da61ff4bddda6a87a07ebc6887ddc55">
  <xsd:schema xmlns:xsd="http://www.w3.org/2001/XMLSchema" xmlns:xs="http://www.w3.org/2001/XMLSchema" xmlns:p="http://schemas.microsoft.com/office/2006/metadata/properties" xmlns:ns3="a3b42213-2d2e-45ef-8677-fd035c7d6183" targetNamespace="http://schemas.microsoft.com/office/2006/metadata/properties" ma:root="true" ma:fieldsID="a169c306ff6d4dd337e48277a3831172" ns3:_="">
    <xsd:import namespace="a3b42213-2d2e-45ef-8677-fd035c7d618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b42213-2d2e-45ef-8677-fd035c7d61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0E3147-7B9E-4300-B056-E273546192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b42213-2d2e-45ef-8677-fd035c7d61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EC1E9C-5285-4826-A595-77846172A795}">
  <ds:schemaRefs>
    <ds:schemaRef ds:uri="http://schemas.microsoft.com/sharepoint/v3/contenttype/forms"/>
  </ds:schemaRefs>
</ds:datastoreItem>
</file>

<file path=customXml/itemProps3.xml><?xml version="1.0" encoding="utf-8"?>
<ds:datastoreItem xmlns:ds="http://schemas.openxmlformats.org/officeDocument/2006/customXml" ds:itemID="{3367A7D8-C24D-44B2-AD7E-95538B55A054}">
  <ds:schemaRefs>
    <ds:schemaRef ds:uri="http://purl.org/dc/elements/1.1/"/>
    <ds:schemaRef ds:uri="http://schemas.microsoft.com/office/2006/metadata/properties"/>
    <ds:schemaRef ds:uri="http://www.w3.org/XML/1998/namespace"/>
    <ds:schemaRef ds:uri="http://schemas.microsoft.com/office/2006/documentManagement/types"/>
    <ds:schemaRef ds:uri="http://purl.org/dc/dcmitype/"/>
    <ds:schemaRef ds:uri="http://purl.org/dc/terms/"/>
    <ds:schemaRef ds:uri="http://schemas.microsoft.com/office/infopath/2007/PartnerControls"/>
    <ds:schemaRef ds:uri="http://schemas.openxmlformats.org/package/2006/metadata/core-properties"/>
    <ds:schemaRef ds:uri="a3b42213-2d2e-45ef-8677-fd035c7d6183"/>
  </ds:schemaRefs>
</ds:datastoreItem>
</file>

<file path=docProps/app.xml><?xml version="1.0" encoding="utf-8"?>
<Properties xmlns="http://schemas.openxmlformats.org/officeDocument/2006/extended-properties" xmlns:vt="http://schemas.openxmlformats.org/officeDocument/2006/docPropsVTypes">
  <TotalTime>0</TotalTime>
  <Words>1274</Words>
  <Application>Microsoft Office PowerPoint</Application>
  <PresentationFormat>Custom</PresentationFormat>
  <Paragraphs>86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2017-09-15T21:10:20Z</dcterms:created>
  <dcterms:modified xsi:type="dcterms:W3CDTF">2025-12-01T17:59:22Z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0x0101001A26A4B32F3A5149A630672A0E35C747</vt:lpwstr>
  </property>
</Properties>
</file>