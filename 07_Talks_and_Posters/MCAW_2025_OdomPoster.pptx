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tif" ContentType="image/tif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48" r:id="rId4"/>
  </p:sldMasterIdLst>
  <p:notesMasterIdLst>
    <p:notesMasterId r:id="rId6"/>
  </p:notesMasterIdLst>
  <p:sldIdLst>
    <p:sldId id="262" r:id="rId5"/>
  </p:sldIdLst>
  <p:sldSz cx="43891200" cy="32918400"/>
  <p:notesSz cx="6858000" cy="9144000"/>
  <p:defaultTextStyle>
    <a:defPPr>
      <a:defRPr lang="en-US"/>
    </a:defPPr>
    <a:lvl1pPr marL="0" algn="l" defTabSz="4389120" rtl="0" eaLnBrk="1" latinLnBrk="0" hangingPunct="1">
      <a:defRPr sz="8600" kern="1200">
        <a:solidFill>
          <a:schemeClr val="tx1"/>
        </a:solidFill>
        <a:latin typeface="+mn-lt"/>
        <a:ea typeface="+mn-ea"/>
        <a:cs typeface="+mn-cs"/>
      </a:defRPr>
    </a:lvl1pPr>
    <a:lvl2pPr marL="2194560" algn="l" defTabSz="4389120" rtl="0" eaLnBrk="1" latinLnBrk="0" hangingPunct="1">
      <a:defRPr sz="8600" kern="1200">
        <a:solidFill>
          <a:schemeClr val="tx1"/>
        </a:solidFill>
        <a:latin typeface="+mn-lt"/>
        <a:ea typeface="+mn-ea"/>
        <a:cs typeface="+mn-cs"/>
      </a:defRPr>
    </a:lvl2pPr>
    <a:lvl3pPr marL="4389120" algn="l" defTabSz="4389120" rtl="0" eaLnBrk="1" latinLnBrk="0" hangingPunct="1">
      <a:defRPr sz="8600" kern="1200">
        <a:solidFill>
          <a:schemeClr val="tx1"/>
        </a:solidFill>
        <a:latin typeface="+mn-lt"/>
        <a:ea typeface="+mn-ea"/>
        <a:cs typeface="+mn-cs"/>
      </a:defRPr>
    </a:lvl3pPr>
    <a:lvl4pPr marL="6583680" algn="l" defTabSz="4389120" rtl="0" eaLnBrk="1" latinLnBrk="0" hangingPunct="1">
      <a:defRPr sz="8600" kern="1200">
        <a:solidFill>
          <a:schemeClr val="tx1"/>
        </a:solidFill>
        <a:latin typeface="+mn-lt"/>
        <a:ea typeface="+mn-ea"/>
        <a:cs typeface="+mn-cs"/>
      </a:defRPr>
    </a:lvl4pPr>
    <a:lvl5pPr marL="8778240" algn="l" defTabSz="4389120" rtl="0" eaLnBrk="1" latinLnBrk="0" hangingPunct="1">
      <a:defRPr sz="8600" kern="1200">
        <a:solidFill>
          <a:schemeClr val="tx1"/>
        </a:solidFill>
        <a:latin typeface="+mn-lt"/>
        <a:ea typeface="+mn-ea"/>
        <a:cs typeface="+mn-cs"/>
      </a:defRPr>
    </a:lvl5pPr>
    <a:lvl6pPr marL="10972800" algn="l" defTabSz="4389120" rtl="0" eaLnBrk="1" latinLnBrk="0" hangingPunct="1">
      <a:defRPr sz="8600" kern="1200">
        <a:solidFill>
          <a:schemeClr val="tx1"/>
        </a:solidFill>
        <a:latin typeface="+mn-lt"/>
        <a:ea typeface="+mn-ea"/>
        <a:cs typeface="+mn-cs"/>
      </a:defRPr>
    </a:lvl6pPr>
    <a:lvl7pPr marL="13167360" algn="l" defTabSz="4389120" rtl="0" eaLnBrk="1" latinLnBrk="0" hangingPunct="1">
      <a:defRPr sz="8600" kern="1200">
        <a:solidFill>
          <a:schemeClr val="tx1"/>
        </a:solidFill>
        <a:latin typeface="+mn-lt"/>
        <a:ea typeface="+mn-ea"/>
        <a:cs typeface="+mn-cs"/>
      </a:defRPr>
    </a:lvl7pPr>
    <a:lvl8pPr marL="15361920" algn="l" defTabSz="4389120" rtl="0" eaLnBrk="1" latinLnBrk="0" hangingPunct="1">
      <a:defRPr sz="8600" kern="1200">
        <a:solidFill>
          <a:schemeClr val="tx1"/>
        </a:solidFill>
        <a:latin typeface="+mn-lt"/>
        <a:ea typeface="+mn-ea"/>
        <a:cs typeface="+mn-cs"/>
      </a:defRPr>
    </a:lvl8pPr>
    <a:lvl9pPr marL="17556480" algn="l" defTabSz="4389120" rtl="0" eaLnBrk="1" latinLnBrk="0" hangingPunct="1">
      <a:defRPr sz="86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0368">
          <p15:clr>
            <a:srgbClr val="A4A3A4"/>
          </p15:clr>
        </p15:guide>
        <p15:guide id="2" pos="13824">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C8192"/>
    <a:srgbClr val="4E2A84"/>
    <a:srgbClr val="401F68"/>
    <a:srgbClr val="3E2979"/>
    <a:srgbClr val="571963"/>
    <a:srgbClr val="333399"/>
    <a:srgbClr val="3E296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3780D83-7210-4881-8968-BFCCEE4F3BB7}" v="952" dt="2025-11-06T07:15:07.465"/>
    <p1510:client id="{4E072090-A4F0-40A8-87AD-9E1015DBD4EC}" v="248" dt="2025-11-06T20:30:42.01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3" autoAdjust="0"/>
    <p:restoredTop sz="93277" autoAdjust="0"/>
  </p:normalViewPr>
  <p:slideViewPr>
    <p:cSldViewPr>
      <p:cViewPr varScale="1">
        <p:scale>
          <a:sx n="20" d="100"/>
          <a:sy n="20" d="100"/>
        </p:scale>
        <p:origin x="1392" y="55"/>
      </p:cViewPr>
      <p:guideLst>
        <p:guide orient="horz" pos="10368"/>
        <p:guide pos="13824"/>
      </p:guideLst>
    </p:cSldViewPr>
  </p:slideViewPr>
  <p:outlineViewPr>
    <p:cViewPr>
      <p:scale>
        <a:sx n="33" d="100"/>
        <a:sy n="33" d="100"/>
      </p:scale>
      <p:origin x="0" y="0"/>
    </p:cViewPr>
  </p:outlineViewPr>
  <p:notesTextViewPr>
    <p:cViewPr>
      <p:scale>
        <a:sx n="300" d="100"/>
        <a:sy n="3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presProps" Target="pres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microsoft.com/office/2015/10/relationships/revisionInfo" Target="revisionInfo.xml"/><Relationship Id="rId5" Type="http://schemas.openxmlformats.org/officeDocument/2006/relationships/slide" Target="slides/slide1.xml"/><Relationship Id="rId1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40D6441-FD58-430D-9AFC-321B0A8EDCEF}" type="datetimeFigureOut">
              <a:rPr lang="en-US" smtClean="0"/>
              <a:t>11/30/2025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AC78C0B-1BC5-4596-8939-30CDBFC1E44D}" type="slidenum">
              <a:rPr lang="en-US" smtClean="0"/>
              <a:t>‹#›</a:t>
            </a:fld>
            <a:endParaRPr lang="en-US"/>
          </a:p>
        </p:txBody>
      </p:sp>
    </p:spTree>
    <p:extLst>
      <p:ext uri="{BB962C8B-B14F-4D97-AF65-F5344CB8AC3E}">
        <p14:creationId xmlns:p14="http://schemas.microsoft.com/office/powerpoint/2010/main" val="1919998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AC78C0B-1BC5-4596-8939-30CDBFC1E44D}" type="slidenum">
              <a:rPr lang="en-US" smtClean="0"/>
              <a:t>1</a:t>
            </a:fld>
            <a:endParaRPr lang="en-US"/>
          </a:p>
        </p:txBody>
      </p:sp>
    </p:spTree>
    <p:extLst>
      <p:ext uri="{BB962C8B-B14F-4D97-AF65-F5344CB8AC3E}">
        <p14:creationId xmlns:p14="http://schemas.microsoft.com/office/powerpoint/2010/main" val="41697790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291840" y="10226042"/>
            <a:ext cx="37307520" cy="7056120"/>
          </a:xfrm>
        </p:spPr>
        <p:txBody>
          <a:bodyPr/>
          <a:lstStyle/>
          <a:p>
            <a:r>
              <a:rPr lang="en-US"/>
              <a:t>Click to edit Master title style</a:t>
            </a:r>
          </a:p>
        </p:txBody>
      </p:sp>
      <p:sp>
        <p:nvSpPr>
          <p:cNvPr id="3" name="Subtitle 2"/>
          <p:cNvSpPr>
            <a:spLocks noGrp="1"/>
          </p:cNvSpPr>
          <p:nvPr>
            <p:ph type="subTitle" idx="1"/>
          </p:nvPr>
        </p:nvSpPr>
        <p:spPr>
          <a:xfrm>
            <a:off x="6583680" y="18653760"/>
            <a:ext cx="30723840" cy="8412480"/>
          </a:xfrm>
        </p:spPr>
        <p:txBody>
          <a:bodyPr/>
          <a:lstStyle>
            <a:lvl1pPr marL="0" indent="0" algn="ctr">
              <a:buNone/>
              <a:defRPr>
                <a:solidFill>
                  <a:schemeClr val="tx1">
                    <a:tint val="75000"/>
                  </a:schemeClr>
                </a:solidFill>
              </a:defRPr>
            </a:lvl1pPr>
            <a:lvl2pPr marL="2194560" indent="0" algn="ctr">
              <a:buNone/>
              <a:defRPr>
                <a:solidFill>
                  <a:schemeClr val="tx1">
                    <a:tint val="75000"/>
                  </a:schemeClr>
                </a:solidFill>
              </a:defRPr>
            </a:lvl2pPr>
            <a:lvl3pPr marL="4389120" indent="0" algn="ctr">
              <a:buNone/>
              <a:defRPr>
                <a:solidFill>
                  <a:schemeClr val="tx1">
                    <a:tint val="75000"/>
                  </a:schemeClr>
                </a:solidFill>
              </a:defRPr>
            </a:lvl3pPr>
            <a:lvl4pPr marL="6583680" indent="0" algn="ctr">
              <a:buNone/>
              <a:defRPr>
                <a:solidFill>
                  <a:schemeClr val="tx1">
                    <a:tint val="75000"/>
                  </a:schemeClr>
                </a:solidFill>
              </a:defRPr>
            </a:lvl4pPr>
            <a:lvl5pPr marL="8778240" indent="0" algn="ctr">
              <a:buNone/>
              <a:defRPr>
                <a:solidFill>
                  <a:schemeClr val="tx1">
                    <a:tint val="75000"/>
                  </a:schemeClr>
                </a:solidFill>
              </a:defRPr>
            </a:lvl5pPr>
            <a:lvl6pPr marL="10972800" indent="0" algn="ctr">
              <a:buNone/>
              <a:defRPr>
                <a:solidFill>
                  <a:schemeClr val="tx1">
                    <a:tint val="75000"/>
                  </a:schemeClr>
                </a:solidFill>
              </a:defRPr>
            </a:lvl6pPr>
            <a:lvl7pPr marL="13167360" indent="0" algn="ctr">
              <a:buNone/>
              <a:defRPr>
                <a:solidFill>
                  <a:schemeClr val="tx1">
                    <a:tint val="75000"/>
                  </a:schemeClr>
                </a:solidFill>
              </a:defRPr>
            </a:lvl7pPr>
            <a:lvl8pPr marL="15361920" indent="0" algn="ctr">
              <a:buNone/>
              <a:defRPr>
                <a:solidFill>
                  <a:schemeClr val="tx1">
                    <a:tint val="75000"/>
                  </a:schemeClr>
                </a:solidFill>
              </a:defRPr>
            </a:lvl8pPr>
            <a:lvl9pPr marL="1755648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D26F417-977D-42A7-B6C5-BE487F3A6E0F}" type="datetimeFigureOut">
              <a:rPr lang="en-US" smtClean="0"/>
              <a:pPr/>
              <a:t>11/30/2025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6DBD394-3291-40BA-9345-7C4693277A14}"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D26F417-977D-42A7-B6C5-BE487F3A6E0F}" type="datetimeFigureOut">
              <a:rPr lang="en-US" smtClean="0"/>
              <a:pPr/>
              <a:t>11/30/2025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6DBD394-3291-40BA-9345-7C4693277A1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467102" y="21153122"/>
            <a:ext cx="37307520" cy="6537960"/>
          </a:xfrm>
        </p:spPr>
        <p:txBody>
          <a:bodyPr anchor="t"/>
          <a:lstStyle>
            <a:lvl1pPr algn="l">
              <a:defRPr sz="19200" b="1" cap="all"/>
            </a:lvl1pPr>
          </a:lstStyle>
          <a:p>
            <a:r>
              <a:rPr lang="en-US"/>
              <a:t>Click to edit Master title style</a:t>
            </a:r>
          </a:p>
        </p:txBody>
      </p:sp>
      <p:sp>
        <p:nvSpPr>
          <p:cNvPr id="3" name="Text Placeholder 2"/>
          <p:cNvSpPr>
            <a:spLocks noGrp="1"/>
          </p:cNvSpPr>
          <p:nvPr>
            <p:ph type="body" idx="1"/>
          </p:nvPr>
        </p:nvSpPr>
        <p:spPr>
          <a:xfrm>
            <a:off x="3467102" y="13952225"/>
            <a:ext cx="37307520" cy="7200898"/>
          </a:xfrm>
        </p:spPr>
        <p:txBody>
          <a:bodyPr anchor="b"/>
          <a:lstStyle>
            <a:lvl1pPr marL="0" indent="0">
              <a:buNone/>
              <a:defRPr sz="9600">
                <a:solidFill>
                  <a:schemeClr val="tx1">
                    <a:tint val="75000"/>
                  </a:schemeClr>
                </a:solidFill>
              </a:defRPr>
            </a:lvl1pPr>
            <a:lvl2pPr marL="2194560" indent="0">
              <a:buNone/>
              <a:defRPr sz="8600">
                <a:solidFill>
                  <a:schemeClr val="tx1">
                    <a:tint val="75000"/>
                  </a:schemeClr>
                </a:solidFill>
              </a:defRPr>
            </a:lvl2pPr>
            <a:lvl3pPr marL="4389120" indent="0">
              <a:buNone/>
              <a:defRPr sz="7700">
                <a:solidFill>
                  <a:schemeClr val="tx1">
                    <a:tint val="75000"/>
                  </a:schemeClr>
                </a:solidFill>
              </a:defRPr>
            </a:lvl3pPr>
            <a:lvl4pPr marL="6583680" indent="0">
              <a:buNone/>
              <a:defRPr sz="6700">
                <a:solidFill>
                  <a:schemeClr val="tx1">
                    <a:tint val="75000"/>
                  </a:schemeClr>
                </a:solidFill>
              </a:defRPr>
            </a:lvl4pPr>
            <a:lvl5pPr marL="8778240" indent="0">
              <a:buNone/>
              <a:defRPr sz="6700">
                <a:solidFill>
                  <a:schemeClr val="tx1">
                    <a:tint val="75000"/>
                  </a:schemeClr>
                </a:solidFill>
              </a:defRPr>
            </a:lvl5pPr>
            <a:lvl6pPr marL="10972800" indent="0">
              <a:buNone/>
              <a:defRPr sz="6700">
                <a:solidFill>
                  <a:schemeClr val="tx1">
                    <a:tint val="75000"/>
                  </a:schemeClr>
                </a:solidFill>
              </a:defRPr>
            </a:lvl6pPr>
            <a:lvl7pPr marL="13167360" indent="0">
              <a:buNone/>
              <a:defRPr sz="6700">
                <a:solidFill>
                  <a:schemeClr val="tx1">
                    <a:tint val="75000"/>
                  </a:schemeClr>
                </a:solidFill>
              </a:defRPr>
            </a:lvl7pPr>
            <a:lvl8pPr marL="15361920" indent="0">
              <a:buNone/>
              <a:defRPr sz="6700">
                <a:solidFill>
                  <a:schemeClr val="tx1">
                    <a:tint val="75000"/>
                  </a:schemeClr>
                </a:solidFill>
              </a:defRPr>
            </a:lvl8pPr>
            <a:lvl9pPr marL="17556480" indent="0">
              <a:buNone/>
              <a:defRPr sz="67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D26F417-977D-42A7-B6C5-BE487F3A6E0F}" type="datetimeFigureOut">
              <a:rPr lang="en-US" smtClean="0"/>
              <a:pPr/>
              <a:t>11/30/2025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6DBD394-3291-40BA-9345-7C4693277A1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0530842" y="36865560"/>
            <a:ext cx="94442280" cy="104279702"/>
          </a:xfrm>
        </p:spPr>
        <p:txBody>
          <a:bodyPr/>
          <a:lstStyle>
            <a:lvl1pPr>
              <a:defRPr sz="13400"/>
            </a:lvl1pPr>
            <a:lvl2pPr>
              <a:defRPr sz="11500"/>
            </a:lvl2pPr>
            <a:lvl3pPr>
              <a:defRPr sz="9600"/>
            </a:lvl3pPr>
            <a:lvl4pPr>
              <a:defRPr sz="8600"/>
            </a:lvl4pPr>
            <a:lvl5pPr>
              <a:defRPr sz="8600"/>
            </a:lvl5pPr>
            <a:lvl6pPr>
              <a:defRPr sz="8600"/>
            </a:lvl6pPr>
            <a:lvl7pPr>
              <a:defRPr sz="8600"/>
            </a:lvl7pPr>
            <a:lvl8pPr>
              <a:defRPr sz="8600"/>
            </a:lvl8pPr>
            <a:lvl9pPr>
              <a:defRPr sz="8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105704642" y="36865560"/>
            <a:ext cx="94442280" cy="104279702"/>
          </a:xfrm>
        </p:spPr>
        <p:txBody>
          <a:bodyPr/>
          <a:lstStyle>
            <a:lvl1pPr>
              <a:defRPr sz="13400"/>
            </a:lvl1pPr>
            <a:lvl2pPr>
              <a:defRPr sz="11500"/>
            </a:lvl2pPr>
            <a:lvl3pPr>
              <a:defRPr sz="9600"/>
            </a:lvl3pPr>
            <a:lvl4pPr>
              <a:defRPr sz="8600"/>
            </a:lvl4pPr>
            <a:lvl5pPr>
              <a:defRPr sz="8600"/>
            </a:lvl5pPr>
            <a:lvl6pPr>
              <a:defRPr sz="8600"/>
            </a:lvl6pPr>
            <a:lvl7pPr>
              <a:defRPr sz="8600"/>
            </a:lvl7pPr>
            <a:lvl8pPr>
              <a:defRPr sz="8600"/>
            </a:lvl8pPr>
            <a:lvl9pPr>
              <a:defRPr sz="8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D26F417-977D-42A7-B6C5-BE487F3A6E0F}" type="datetimeFigureOut">
              <a:rPr lang="en-US" smtClean="0"/>
              <a:pPr/>
              <a:t>11/30/2025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6DBD394-3291-40BA-9345-7C4693277A1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194560" y="1318262"/>
            <a:ext cx="39502080" cy="54864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2194560" y="7368542"/>
            <a:ext cx="19392902" cy="3070858"/>
          </a:xfrm>
        </p:spPr>
        <p:txBody>
          <a:bodyPr anchor="b"/>
          <a:lstStyle>
            <a:lvl1pPr marL="0" indent="0">
              <a:buNone/>
              <a:defRPr sz="11500" b="1"/>
            </a:lvl1pPr>
            <a:lvl2pPr marL="2194560" indent="0">
              <a:buNone/>
              <a:defRPr sz="9600" b="1"/>
            </a:lvl2pPr>
            <a:lvl3pPr marL="4389120" indent="0">
              <a:buNone/>
              <a:defRPr sz="8600" b="1"/>
            </a:lvl3pPr>
            <a:lvl4pPr marL="6583680" indent="0">
              <a:buNone/>
              <a:defRPr sz="7700" b="1"/>
            </a:lvl4pPr>
            <a:lvl5pPr marL="8778240" indent="0">
              <a:buNone/>
              <a:defRPr sz="7700" b="1"/>
            </a:lvl5pPr>
            <a:lvl6pPr marL="10972800" indent="0">
              <a:buNone/>
              <a:defRPr sz="7700" b="1"/>
            </a:lvl6pPr>
            <a:lvl7pPr marL="13167360" indent="0">
              <a:buNone/>
              <a:defRPr sz="7700" b="1"/>
            </a:lvl7pPr>
            <a:lvl8pPr marL="15361920" indent="0">
              <a:buNone/>
              <a:defRPr sz="7700" b="1"/>
            </a:lvl8pPr>
            <a:lvl9pPr marL="17556480" indent="0">
              <a:buNone/>
              <a:defRPr sz="7700" b="1"/>
            </a:lvl9pPr>
          </a:lstStyle>
          <a:p>
            <a:pPr lvl="0"/>
            <a:r>
              <a:rPr lang="en-US"/>
              <a:t>Click to edit Master text styles</a:t>
            </a:r>
          </a:p>
        </p:txBody>
      </p:sp>
      <p:sp>
        <p:nvSpPr>
          <p:cNvPr id="4" name="Content Placeholder 3"/>
          <p:cNvSpPr>
            <a:spLocks noGrp="1"/>
          </p:cNvSpPr>
          <p:nvPr>
            <p:ph sz="half" idx="2"/>
          </p:nvPr>
        </p:nvSpPr>
        <p:spPr>
          <a:xfrm>
            <a:off x="2194560" y="10439400"/>
            <a:ext cx="19392902" cy="18966182"/>
          </a:xfrm>
        </p:spPr>
        <p:txBody>
          <a:bodyPr/>
          <a:lstStyle>
            <a:lvl1pPr>
              <a:defRPr sz="11500"/>
            </a:lvl1pPr>
            <a:lvl2pPr>
              <a:defRPr sz="9600"/>
            </a:lvl2pPr>
            <a:lvl3pPr>
              <a:defRPr sz="8600"/>
            </a:lvl3pPr>
            <a:lvl4pPr>
              <a:defRPr sz="7700"/>
            </a:lvl4pPr>
            <a:lvl5pPr>
              <a:defRPr sz="7700"/>
            </a:lvl5pPr>
            <a:lvl6pPr>
              <a:defRPr sz="7700"/>
            </a:lvl6pPr>
            <a:lvl7pPr>
              <a:defRPr sz="7700"/>
            </a:lvl7pPr>
            <a:lvl8pPr>
              <a:defRPr sz="7700"/>
            </a:lvl8pPr>
            <a:lvl9pPr>
              <a:defRPr sz="77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22296122" y="7368542"/>
            <a:ext cx="19400520" cy="3070858"/>
          </a:xfrm>
        </p:spPr>
        <p:txBody>
          <a:bodyPr anchor="b"/>
          <a:lstStyle>
            <a:lvl1pPr marL="0" indent="0">
              <a:buNone/>
              <a:defRPr sz="11500" b="1"/>
            </a:lvl1pPr>
            <a:lvl2pPr marL="2194560" indent="0">
              <a:buNone/>
              <a:defRPr sz="9600" b="1"/>
            </a:lvl2pPr>
            <a:lvl3pPr marL="4389120" indent="0">
              <a:buNone/>
              <a:defRPr sz="8600" b="1"/>
            </a:lvl3pPr>
            <a:lvl4pPr marL="6583680" indent="0">
              <a:buNone/>
              <a:defRPr sz="7700" b="1"/>
            </a:lvl4pPr>
            <a:lvl5pPr marL="8778240" indent="0">
              <a:buNone/>
              <a:defRPr sz="7700" b="1"/>
            </a:lvl5pPr>
            <a:lvl6pPr marL="10972800" indent="0">
              <a:buNone/>
              <a:defRPr sz="7700" b="1"/>
            </a:lvl6pPr>
            <a:lvl7pPr marL="13167360" indent="0">
              <a:buNone/>
              <a:defRPr sz="7700" b="1"/>
            </a:lvl7pPr>
            <a:lvl8pPr marL="15361920" indent="0">
              <a:buNone/>
              <a:defRPr sz="7700" b="1"/>
            </a:lvl8pPr>
            <a:lvl9pPr marL="17556480" indent="0">
              <a:buNone/>
              <a:defRPr sz="7700" b="1"/>
            </a:lvl9pPr>
          </a:lstStyle>
          <a:p>
            <a:pPr lvl="0"/>
            <a:r>
              <a:rPr lang="en-US"/>
              <a:t>Click to edit Master text styles</a:t>
            </a:r>
          </a:p>
        </p:txBody>
      </p:sp>
      <p:sp>
        <p:nvSpPr>
          <p:cNvPr id="6" name="Content Placeholder 5"/>
          <p:cNvSpPr>
            <a:spLocks noGrp="1"/>
          </p:cNvSpPr>
          <p:nvPr>
            <p:ph sz="quarter" idx="4"/>
          </p:nvPr>
        </p:nvSpPr>
        <p:spPr>
          <a:xfrm>
            <a:off x="22296122" y="10439400"/>
            <a:ext cx="19400520" cy="18966182"/>
          </a:xfrm>
        </p:spPr>
        <p:txBody>
          <a:bodyPr/>
          <a:lstStyle>
            <a:lvl1pPr>
              <a:defRPr sz="11500"/>
            </a:lvl1pPr>
            <a:lvl2pPr>
              <a:defRPr sz="9600"/>
            </a:lvl2pPr>
            <a:lvl3pPr>
              <a:defRPr sz="8600"/>
            </a:lvl3pPr>
            <a:lvl4pPr>
              <a:defRPr sz="7700"/>
            </a:lvl4pPr>
            <a:lvl5pPr>
              <a:defRPr sz="7700"/>
            </a:lvl5pPr>
            <a:lvl6pPr>
              <a:defRPr sz="7700"/>
            </a:lvl6pPr>
            <a:lvl7pPr>
              <a:defRPr sz="7700"/>
            </a:lvl7pPr>
            <a:lvl8pPr>
              <a:defRPr sz="7700"/>
            </a:lvl8pPr>
            <a:lvl9pPr>
              <a:defRPr sz="77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D26F417-977D-42A7-B6C5-BE487F3A6E0F}" type="datetimeFigureOut">
              <a:rPr lang="en-US" smtClean="0"/>
              <a:pPr/>
              <a:t>11/30/2025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6DBD394-3291-40BA-9345-7C4693277A1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D26F417-977D-42A7-B6C5-BE487F3A6E0F}" type="datetimeFigureOut">
              <a:rPr lang="en-US" smtClean="0"/>
              <a:pPr/>
              <a:t>11/30/2025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6DBD394-3291-40BA-9345-7C4693277A1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D26F417-977D-42A7-B6C5-BE487F3A6E0F}" type="datetimeFigureOut">
              <a:rPr lang="en-US" smtClean="0"/>
              <a:pPr/>
              <a:t>11/30/2025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6DBD394-3291-40BA-9345-7C4693277A1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194563" y="1310640"/>
            <a:ext cx="14439902" cy="5577840"/>
          </a:xfrm>
        </p:spPr>
        <p:txBody>
          <a:bodyPr anchor="b"/>
          <a:lstStyle>
            <a:lvl1pPr algn="l">
              <a:defRPr sz="9600" b="1"/>
            </a:lvl1pPr>
          </a:lstStyle>
          <a:p>
            <a:r>
              <a:rPr lang="en-US"/>
              <a:t>Click to edit Master title style</a:t>
            </a:r>
          </a:p>
        </p:txBody>
      </p:sp>
      <p:sp>
        <p:nvSpPr>
          <p:cNvPr id="3" name="Content Placeholder 2"/>
          <p:cNvSpPr>
            <a:spLocks noGrp="1"/>
          </p:cNvSpPr>
          <p:nvPr>
            <p:ph idx="1"/>
          </p:nvPr>
        </p:nvSpPr>
        <p:spPr>
          <a:xfrm>
            <a:off x="17160240" y="1310643"/>
            <a:ext cx="24536400" cy="28094942"/>
          </a:xfrm>
        </p:spPr>
        <p:txBody>
          <a:bodyPr/>
          <a:lstStyle>
            <a:lvl1pPr>
              <a:defRPr sz="15400"/>
            </a:lvl1pPr>
            <a:lvl2pPr>
              <a:defRPr sz="13400"/>
            </a:lvl2pPr>
            <a:lvl3pPr>
              <a:defRPr sz="11500"/>
            </a:lvl3pPr>
            <a:lvl4pPr>
              <a:defRPr sz="9600"/>
            </a:lvl4pPr>
            <a:lvl5pPr>
              <a:defRPr sz="9600"/>
            </a:lvl5pPr>
            <a:lvl6pPr>
              <a:defRPr sz="9600"/>
            </a:lvl6pPr>
            <a:lvl7pPr>
              <a:defRPr sz="9600"/>
            </a:lvl7pPr>
            <a:lvl8pPr>
              <a:defRPr sz="9600"/>
            </a:lvl8pPr>
            <a:lvl9pPr>
              <a:defRPr sz="9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2194563" y="6888483"/>
            <a:ext cx="14439902" cy="22517102"/>
          </a:xfrm>
        </p:spPr>
        <p:txBody>
          <a:bodyPr/>
          <a:lstStyle>
            <a:lvl1pPr marL="0" indent="0">
              <a:buNone/>
              <a:defRPr sz="6700"/>
            </a:lvl1pPr>
            <a:lvl2pPr marL="2194560" indent="0">
              <a:buNone/>
              <a:defRPr sz="5800"/>
            </a:lvl2pPr>
            <a:lvl3pPr marL="4389120" indent="0">
              <a:buNone/>
              <a:defRPr sz="4800"/>
            </a:lvl3pPr>
            <a:lvl4pPr marL="6583680" indent="0">
              <a:buNone/>
              <a:defRPr sz="4300"/>
            </a:lvl4pPr>
            <a:lvl5pPr marL="8778240" indent="0">
              <a:buNone/>
              <a:defRPr sz="4300"/>
            </a:lvl5pPr>
            <a:lvl6pPr marL="10972800" indent="0">
              <a:buNone/>
              <a:defRPr sz="4300"/>
            </a:lvl6pPr>
            <a:lvl7pPr marL="13167360" indent="0">
              <a:buNone/>
              <a:defRPr sz="4300"/>
            </a:lvl7pPr>
            <a:lvl8pPr marL="15361920" indent="0">
              <a:buNone/>
              <a:defRPr sz="4300"/>
            </a:lvl8pPr>
            <a:lvl9pPr marL="17556480" indent="0">
              <a:buNone/>
              <a:defRPr sz="4300"/>
            </a:lvl9pPr>
          </a:lstStyle>
          <a:p>
            <a:pPr lvl="0"/>
            <a:r>
              <a:rPr lang="en-US"/>
              <a:t>Click to edit Master text styles</a:t>
            </a:r>
          </a:p>
        </p:txBody>
      </p:sp>
      <p:sp>
        <p:nvSpPr>
          <p:cNvPr id="5" name="Date Placeholder 4"/>
          <p:cNvSpPr>
            <a:spLocks noGrp="1"/>
          </p:cNvSpPr>
          <p:nvPr>
            <p:ph type="dt" sz="half" idx="10"/>
          </p:nvPr>
        </p:nvSpPr>
        <p:spPr/>
        <p:txBody>
          <a:bodyPr/>
          <a:lstStyle/>
          <a:p>
            <a:fld id="{2D26F417-977D-42A7-B6C5-BE487F3A6E0F}" type="datetimeFigureOut">
              <a:rPr lang="en-US" smtClean="0"/>
              <a:pPr/>
              <a:t>11/30/2025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6DBD394-3291-40BA-9345-7C4693277A1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02982" y="23042880"/>
            <a:ext cx="26334720" cy="2720342"/>
          </a:xfrm>
        </p:spPr>
        <p:txBody>
          <a:bodyPr anchor="b"/>
          <a:lstStyle>
            <a:lvl1pPr algn="l">
              <a:defRPr sz="9600" b="1"/>
            </a:lvl1pPr>
          </a:lstStyle>
          <a:p>
            <a:r>
              <a:rPr lang="en-US"/>
              <a:t>Click to edit Master title style</a:t>
            </a:r>
          </a:p>
        </p:txBody>
      </p:sp>
      <p:sp>
        <p:nvSpPr>
          <p:cNvPr id="3" name="Picture Placeholder 2"/>
          <p:cNvSpPr>
            <a:spLocks noGrp="1"/>
          </p:cNvSpPr>
          <p:nvPr>
            <p:ph type="pic" idx="1"/>
          </p:nvPr>
        </p:nvSpPr>
        <p:spPr>
          <a:xfrm>
            <a:off x="8602982" y="2941320"/>
            <a:ext cx="26334720" cy="19751040"/>
          </a:xfrm>
        </p:spPr>
        <p:txBody>
          <a:bodyPr/>
          <a:lstStyle>
            <a:lvl1pPr marL="0" indent="0">
              <a:buNone/>
              <a:defRPr sz="15400"/>
            </a:lvl1pPr>
            <a:lvl2pPr marL="2194560" indent="0">
              <a:buNone/>
              <a:defRPr sz="13400"/>
            </a:lvl2pPr>
            <a:lvl3pPr marL="4389120" indent="0">
              <a:buNone/>
              <a:defRPr sz="11500"/>
            </a:lvl3pPr>
            <a:lvl4pPr marL="6583680" indent="0">
              <a:buNone/>
              <a:defRPr sz="9600"/>
            </a:lvl4pPr>
            <a:lvl5pPr marL="8778240" indent="0">
              <a:buNone/>
              <a:defRPr sz="9600"/>
            </a:lvl5pPr>
            <a:lvl6pPr marL="10972800" indent="0">
              <a:buNone/>
              <a:defRPr sz="9600"/>
            </a:lvl6pPr>
            <a:lvl7pPr marL="13167360" indent="0">
              <a:buNone/>
              <a:defRPr sz="9600"/>
            </a:lvl7pPr>
            <a:lvl8pPr marL="15361920" indent="0">
              <a:buNone/>
              <a:defRPr sz="9600"/>
            </a:lvl8pPr>
            <a:lvl9pPr marL="17556480" indent="0">
              <a:buNone/>
              <a:defRPr sz="9600"/>
            </a:lvl9pPr>
          </a:lstStyle>
          <a:p>
            <a:endParaRPr lang="en-US"/>
          </a:p>
        </p:txBody>
      </p:sp>
      <p:sp>
        <p:nvSpPr>
          <p:cNvPr id="4" name="Text Placeholder 3"/>
          <p:cNvSpPr>
            <a:spLocks noGrp="1"/>
          </p:cNvSpPr>
          <p:nvPr>
            <p:ph type="body" sz="half" idx="2"/>
          </p:nvPr>
        </p:nvSpPr>
        <p:spPr>
          <a:xfrm>
            <a:off x="8602982" y="25763222"/>
            <a:ext cx="26334720" cy="3863338"/>
          </a:xfrm>
        </p:spPr>
        <p:txBody>
          <a:bodyPr/>
          <a:lstStyle>
            <a:lvl1pPr marL="0" indent="0">
              <a:buNone/>
              <a:defRPr sz="6700"/>
            </a:lvl1pPr>
            <a:lvl2pPr marL="2194560" indent="0">
              <a:buNone/>
              <a:defRPr sz="5800"/>
            </a:lvl2pPr>
            <a:lvl3pPr marL="4389120" indent="0">
              <a:buNone/>
              <a:defRPr sz="4800"/>
            </a:lvl3pPr>
            <a:lvl4pPr marL="6583680" indent="0">
              <a:buNone/>
              <a:defRPr sz="4300"/>
            </a:lvl4pPr>
            <a:lvl5pPr marL="8778240" indent="0">
              <a:buNone/>
              <a:defRPr sz="4300"/>
            </a:lvl5pPr>
            <a:lvl6pPr marL="10972800" indent="0">
              <a:buNone/>
              <a:defRPr sz="4300"/>
            </a:lvl6pPr>
            <a:lvl7pPr marL="13167360" indent="0">
              <a:buNone/>
              <a:defRPr sz="4300"/>
            </a:lvl7pPr>
            <a:lvl8pPr marL="15361920" indent="0">
              <a:buNone/>
              <a:defRPr sz="4300"/>
            </a:lvl8pPr>
            <a:lvl9pPr marL="17556480" indent="0">
              <a:buNone/>
              <a:defRPr sz="4300"/>
            </a:lvl9pPr>
          </a:lstStyle>
          <a:p>
            <a:pPr lvl="0"/>
            <a:r>
              <a:rPr lang="en-US"/>
              <a:t>Click to edit Master text styles</a:t>
            </a:r>
          </a:p>
        </p:txBody>
      </p:sp>
      <p:sp>
        <p:nvSpPr>
          <p:cNvPr id="5" name="Date Placeholder 4"/>
          <p:cNvSpPr>
            <a:spLocks noGrp="1"/>
          </p:cNvSpPr>
          <p:nvPr>
            <p:ph type="dt" sz="half" idx="10"/>
          </p:nvPr>
        </p:nvSpPr>
        <p:spPr/>
        <p:txBody>
          <a:bodyPr/>
          <a:lstStyle/>
          <a:p>
            <a:fld id="{2D26F417-977D-42A7-B6C5-BE487F3A6E0F}" type="datetimeFigureOut">
              <a:rPr lang="en-US" smtClean="0"/>
              <a:pPr/>
              <a:t>11/30/2025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6DBD394-3291-40BA-9345-7C4693277A1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D26F417-977D-42A7-B6C5-BE487F3A6E0F}" type="datetimeFigureOut">
              <a:rPr lang="en-US" smtClean="0"/>
              <a:pPr/>
              <a:t>11/30/2025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6DBD394-3291-40BA-9345-7C4693277A1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52742905" y="6324600"/>
            <a:ext cx="47404018" cy="134820662"/>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0530843" y="6324600"/>
            <a:ext cx="141480542" cy="13482066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D26F417-977D-42A7-B6C5-BE487F3A6E0F}" type="datetimeFigureOut">
              <a:rPr lang="en-US" smtClean="0"/>
              <a:pPr/>
              <a:t>11/30/2025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6DBD394-3291-40BA-9345-7C4693277A14}"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194560" y="1318262"/>
            <a:ext cx="39502080" cy="5486400"/>
          </a:xfrm>
          <a:prstGeom prst="rect">
            <a:avLst/>
          </a:prstGeom>
        </p:spPr>
        <p:txBody>
          <a:bodyPr vert="horz" lIns="438912" tIns="219456" rIns="438912" bIns="219456" rtlCol="0" anchor="ctr">
            <a:normAutofit/>
          </a:bodyPr>
          <a:lstStyle/>
          <a:p>
            <a:r>
              <a:rPr lang="en-US"/>
              <a:t>Click to edit Master title style</a:t>
            </a:r>
          </a:p>
        </p:txBody>
      </p:sp>
      <p:sp>
        <p:nvSpPr>
          <p:cNvPr id="3" name="Text Placeholder 2"/>
          <p:cNvSpPr>
            <a:spLocks noGrp="1"/>
          </p:cNvSpPr>
          <p:nvPr>
            <p:ph type="body" idx="1"/>
          </p:nvPr>
        </p:nvSpPr>
        <p:spPr>
          <a:xfrm>
            <a:off x="2194560" y="7680963"/>
            <a:ext cx="39502080" cy="21724622"/>
          </a:xfrm>
          <a:prstGeom prst="rect">
            <a:avLst/>
          </a:prstGeom>
        </p:spPr>
        <p:txBody>
          <a:bodyPr vert="horz" lIns="438912" tIns="219456" rIns="438912" bIns="219456"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2194560" y="30510482"/>
            <a:ext cx="10241280" cy="1752600"/>
          </a:xfrm>
          <a:prstGeom prst="rect">
            <a:avLst/>
          </a:prstGeom>
        </p:spPr>
        <p:txBody>
          <a:bodyPr vert="horz" lIns="438912" tIns="219456" rIns="438912" bIns="219456" rtlCol="0" anchor="ctr"/>
          <a:lstStyle>
            <a:lvl1pPr algn="l">
              <a:defRPr sz="5800">
                <a:solidFill>
                  <a:schemeClr val="tx1">
                    <a:tint val="75000"/>
                  </a:schemeClr>
                </a:solidFill>
              </a:defRPr>
            </a:lvl1pPr>
          </a:lstStyle>
          <a:p>
            <a:fld id="{2D26F417-977D-42A7-B6C5-BE487F3A6E0F}" type="datetimeFigureOut">
              <a:rPr lang="en-US" smtClean="0"/>
              <a:pPr/>
              <a:t>11/30/2025</a:t>
            </a:fld>
            <a:endParaRPr lang="en-US"/>
          </a:p>
        </p:txBody>
      </p:sp>
      <p:sp>
        <p:nvSpPr>
          <p:cNvPr id="5" name="Footer Placeholder 4"/>
          <p:cNvSpPr>
            <a:spLocks noGrp="1"/>
          </p:cNvSpPr>
          <p:nvPr>
            <p:ph type="ftr" sz="quarter" idx="3"/>
          </p:nvPr>
        </p:nvSpPr>
        <p:spPr>
          <a:xfrm>
            <a:off x="14996160" y="30510482"/>
            <a:ext cx="13898880" cy="1752600"/>
          </a:xfrm>
          <a:prstGeom prst="rect">
            <a:avLst/>
          </a:prstGeom>
        </p:spPr>
        <p:txBody>
          <a:bodyPr vert="horz" lIns="438912" tIns="219456" rIns="438912" bIns="219456" rtlCol="0" anchor="ctr"/>
          <a:lstStyle>
            <a:lvl1pPr algn="ctr">
              <a:defRPr sz="58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31455360" y="30510482"/>
            <a:ext cx="10241280" cy="1752600"/>
          </a:xfrm>
          <a:prstGeom prst="rect">
            <a:avLst/>
          </a:prstGeom>
        </p:spPr>
        <p:txBody>
          <a:bodyPr vert="horz" lIns="438912" tIns="219456" rIns="438912" bIns="219456" rtlCol="0" anchor="ctr"/>
          <a:lstStyle>
            <a:lvl1pPr algn="r">
              <a:defRPr sz="5800">
                <a:solidFill>
                  <a:schemeClr val="tx1">
                    <a:tint val="75000"/>
                  </a:schemeClr>
                </a:solidFill>
              </a:defRPr>
            </a:lvl1pPr>
          </a:lstStyle>
          <a:p>
            <a:fld id="{16DBD394-3291-40BA-9345-7C4693277A14}"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389120" rtl="0" eaLnBrk="1" latinLnBrk="0" hangingPunct="1">
        <a:spcBef>
          <a:spcPct val="0"/>
        </a:spcBef>
        <a:buNone/>
        <a:defRPr sz="21100" kern="1200">
          <a:solidFill>
            <a:schemeClr val="tx1"/>
          </a:solidFill>
          <a:latin typeface="+mj-lt"/>
          <a:ea typeface="+mj-ea"/>
          <a:cs typeface="+mj-cs"/>
        </a:defRPr>
      </a:lvl1pPr>
    </p:titleStyle>
    <p:bodyStyle>
      <a:lvl1pPr marL="1645920" indent="-1645920" algn="l" defTabSz="4389120" rtl="0" eaLnBrk="1" latinLnBrk="0" hangingPunct="1">
        <a:spcBef>
          <a:spcPct val="20000"/>
        </a:spcBef>
        <a:buFont typeface="Arial" pitchFamily="34" charset="0"/>
        <a:buChar char="•"/>
        <a:defRPr sz="15400" kern="1200">
          <a:solidFill>
            <a:schemeClr val="tx1"/>
          </a:solidFill>
          <a:latin typeface="+mn-lt"/>
          <a:ea typeface="+mn-ea"/>
          <a:cs typeface="+mn-cs"/>
        </a:defRPr>
      </a:lvl1pPr>
      <a:lvl2pPr marL="3566160" indent="-1371600" algn="l" defTabSz="4389120" rtl="0" eaLnBrk="1" latinLnBrk="0" hangingPunct="1">
        <a:spcBef>
          <a:spcPct val="20000"/>
        </a:spcBef>
        <a:buFont typeface="Arial" pitchFamily="34" charset="0"/>
        <a:buChar char="–"/>
        <a:defRPr sz="13400" kern="1200">
          <a:solidFill>
            <a:schemeClr val="tx1"/>
          </a:solidFill>
          <a:latin typeface="+mn-lt"/>
          <a:ea typeface="+mn-ea"/>
          <a:cs typeface="+mn-cs"/>
        </a:defRPr>
      </a:lvl2pPr>
      <a:lvl3pPr marL="5486400" indent="-1097280" algn="l" defTabSz="4389120" rtl="0" eaLnBrk="1" latinLnBrk="0" hangingPunct="1">
        <a:spcBef>
          <a:spcPct val="20000"/>
        </a:spcBef>
        <a:buFont typeface="Arial" pitchFamily="34" charset="0"/>
        <a:buChar char="•"/>
        <a:defRPr sz="11500" kern="1200">
          <a:solidFill>
            <a:schemeClr val="tx1"/>
          </a:solidFill>
          <a:latin typeface="+mn-lt"/>
          <a:ea typeface="+mn-ea"/>
          <a:cs typeface="+mn-cs"/>
        </a:defRPr>
      </a:lvl3pPr>
      <a:lvl4pPr marL="7680960" indent="-1097280" algn="l" defTabSz="4389120" rtl="0" eaLnBrk="1" latinLnBrk="0" hangingPunct="1">
        <a:spcBef>
          <a:spcPct val="20000"/>
        </a:spcBef>
        <a:buFont typeface="Arial" pitchFamily="34" charset="0"/>
        <a:buChar char="–"/>
        <a:defRPr sz="9600" kern="1200">
          <a:solidFill>
            <a:schemeClr val="tx1"/>
          </a:solidFill>
          <a:latin typeface="+mn-lt"/>
          <a:ea typeface="+mn-ea"/>
          <a:cs typeface="+mn-cs"/>
        </a:defRPr>
      </a:lvl4pPr>
      <a:lvl5pPr marL="9875520" indent="-1097280" algn="l" defTabSz="4389120" rtl="0" eaLnBrk="1" latinLnBrk="0" hangingPunct="1">
        <a:spcBef>
          <a:spcPct val="20000"/>
        </a:spcBef>
        <a:buFont typeface="Arial" pitchFamily="34" charset="0"/>
        <a:buChar char="»"/>
        <a:defRPr sz="9600" kern="1200">
          <a:solidFill>
            <a:schemeClr val="tx1"/>
          </a:solidFill>
          <a:latin typeface="+mn-lt"/>
          <a:ea typeface="+mn-ea"/>
          <a:cs typeface="+mn-cs"/>
        </a:defRPr>
      </a:lvl5pPr>
      <a:lvl6pPr marL="12070080" indent="-1097280" algn="l" defTabSz="438912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4640" indent="-1097280" algn="l" defTabSz="438912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9200" indent="-1097280" algn="l" defTabSz="438912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3760" indent="-1097280" algn="l" defTabSz="4389120" rtl="0" eaLnBrk="1" latinLnBrk="0" hangingPunct="1">
        <a:spcBef>
          <a:spcPct val="20000"/>
        </a:spcBef>
        <a:buFont typeface="Arial" pitchFamily="34" charset="0"/>
        <a:buChar char="•"/>
        <a:defRPr sz="9600" kern="1200">
          <a:solidFill>
            <a:schemeClr val="tx1"/>
          </a:solidFill>
          <a:latin typeface="+mn-lt"/>
          <a:ea typeface="+mn-ea"/>
          <a:cs typeface="+mn-cs"/>
        </a:defRPr>
      </a:lvl9pPr>
    </p:bodyStyle>
    <p:otherStyle>
      <a:defPPr>
        <a:defRPr lang="en-US"/>
      </a:defPPr>
      <a:lvl1pPr marL="0" algn="l" defTabSz="4389120" rtl="0" eaLnBrk="1" latinLnBrk="0" hangingPunct="1">
        <a:defRPr sz="8600" kern="1200">
          <a:solidFill>
            <a:schemeClr val="tx1"/>
          </a:solidFill>
          <a:latin typeface="+mn-lt"/>
          <a:ea typeface="+mn-ea"/>
          <a:cs typeface="+mn-cs"/>
        </a:defRPr>
      </a:lvl1pPr>
      <a:lvl2pPr marL="2194560" algn="l" defTabSz="4389120" rtl="0" eaLnBrk="1" latinLnBrk="0" hangingPunct="1">
        <a:defRPr sz="8600" kern="1200">
          <a:solidFill>
            <a:schemeClr val="tx1"/>
          </a:solidFill>
          <a:latin typeface="+mn-lt"/>
          <a:ea typeface="+mn-ea"/>
          <a:cs typeface="+mn-cs"/>
        </a:defRPr>
      </a:lvl2pPr>
      <a:lvl3pPr marL="4389120" algn="l" defTabSz="4389120" rtl="0" eaLnBrk="1" latinLnBrk="0" hangingPunct="1">
        <a:defRPr sz="8600" kern="1200">
          <a:solidFill>
            <a:schemeClr val="tx1"/>
          </a:solidFill>
          <a:latin typeface="+mn-lt"/>
          <a:ea typeface="+mn-ea"/>
          <a:cs typeface="+mn-cs"/>
        </a:defRPr>
      </a:lvl3pPr>
      <a:lvl4pPr marL="6583680" algn="l" defTabSz="4389120" rtl="0" eaLnBrk="1" latinLnBrk="0" hangingPunct="1">
        <a:defRPr sz="8600" kern="1200">
          <a:solidFill>
            <a:schemeClr val="tx1"/>
          </a:solidFill>
          <a:latin typeface="+mn-lt"/>
          <a:ea typeface="+mn-ea"/>
          <a:cs typeface="+mn-cs"/>
        </a:defRPr>
      </a:lvl4pPr>
      <a:lvl5pPr marL="8778240" algn="l" defTabSz="4389120" rtl="0" eaLnBrk="1" latinLnBrk="0" hangingPunct="1">
        <a:defRPr sz="8600" kern="1200">
          <a:solidFill>
            <a:schemeClr val="tx1"/>
          </a:solidFill>
          <a:latin typeface="+mn-lt"/>
          <a:ea typeface="+mn-ea"/>
          <a:cs typeface="+mn-cs"/>
        </a:defRPr>
      </a:lvl5pPr>
      <a:lvl6pPr marL="10972800" algn="l" defTabSz="4389120" rtl="0" eaLnBrk="1" latinLnBrk="0" hangingPunct="1">
        <a:defRPr sz="8600" kern="1200">
          <a:solidFill>
            <a:schemeClr val="tx1"/>
          </a:solidFill>
          <a:latin typeface="+mn-lt"/>
          <a:ea typeface="+mn-ea"/>
          <a:cs typeface="+mn-cs"/>
        </a:defRPr>
      </a:lvl6pPr>
      <a:lvl7pPr marL="13167360" algn="l" defTabSz="4389120" rtl="0" eaLnBrk="1" latinLnBrk="0" hangingPunct="1">
        <a:defRPr sz="8600" kern="1200">
          <a:solidFill>
            <a:schemeClr val="tx1"/>
          </a:solidFill>
          <a:latin typeface="+mn-lt"/>
          <a:ea typeface="+mn-ea"/>
          <a:cs typeface="+mn-cs"/>
        </a:defRPr>
      </a:lvl7pPr>
      <a:lvl8pPr marL="15361920" algn="l" defTabSz="4389120" rtl="0" eaLnBrk="1" latinLnBrk="0" hangingPunct="1">
        <a:defRPr sz="8600" kern="1200">
          <a:solidFill>
            <a:schemeClr val="tx1"/>
          </a:solidFill>
          <a:latin typeface="+mn-lt"/>
          <a:ea typeface="+mn-ea"/>
          <a:cs typeface="+mn-cs"/>
        </a:defRPr>
      </a:lvl8pPr>
      <a:lvl9pPr marL="17556480" algn="l" defTabSz="4389120" rtl="0" eaLnBrk="1" latinLnBrk="0" hangingPunct="1">
        <a:defRPr sz="8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3" Type="http://schemas.openxmlformats.org/officeDocument/2006/relationships/image" Target="../media/image11.png"/><Relationship Id="rId18" Type="http://schemas.openxmlformats.org/officeDocument/2006/relationships/image" Target="../media/image15.png"/><Relationship Id="rId26" Type="http://schemas.openxmlformats.org/officeDocument/2006/relationships/image" Target="../media/image19.png"/><Relationship Id="rId39" Type="http://schemas.openxmlformats.org/officeDocument/2006/relationships/image" Target="../media/image34.JPG"/><Relationship Id="rId21" Type="http://schemas.openxmlformats.org/officeDocument/2006/relationships/image" Target="../media/image18.png"/><Relationship Id="rId7" Type="http://schemas.openxmlformats.org/officeDocument/2006/relationships/image" Target="../media/image5.png"/><Relationship Id="rId12" Type="http://schemas.openxmlformats.org/officeDocument/2006/relationships/image" Target="../media/image10.png"/><Relationship Id="rId17" Type="http://schemas.openxmlformats.org/officeDocument/2006/relationships/image" Target="../media/image14.png"/><Relationship Id="rId25" Type="http://schemas.openxmlformats.org/officeDocument/2006/relationships/image" Target="../media/image24.png"/><Relationship Id="rId33" Type="http://schemas.openxmlformats.org/officeDocument/2006/relationships/image" Target="../media/image29.png"/><Relationship Id="rId38" Type="http://schemas.openxmlformats.org/officeDocument/2006/relationships/image" Target="../media/image33.tif"/><Relationship Id="rId2" Type="http://schemas.openxmlformats.org/officeDocument/2006/relationships/notesSlide" Target="../notesSlides/notesSlide1.xml"/><Relationship Id="rId16" Type="http://schemas.openxmlformats.org/officeDocument/2006/relationships/image" Target="../media/image130.png"/><Relationship Id="rId20" Type="http://schemas.openxmlformats.org/officeDocument/2006/relationships/image" Target="../media/image17.png"/><Relationship Id="rId29" Type="http://schemas.openxmlformats.org/officeDocument/2006/relationships/image" Target="../media/image25.png"/><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9.png"/><Relationship Id="rId24" Type="http://schemas.openxmlformats.org/officeDocument/2006/relationships/image" Target="../media/image23.png"/><Relationship Id="rId32" Type="http://schemas.openxmlformats.org/officeDocument/2006/relationships/image" Target="../media/image28.jpeg"/><Relationship Id="rId37" Type="http://schemas.openxmlformats.org/officeDocument/2006/relationships/image" Target="../media/image32.png"/><Relationship Id="rId40" Type="http://schemas.openxmlformats.org/officeDocument/2006/relationships/image" Target="../media/image35.png"/><Relationship Id="rId5" Type="http://schemas.openxmlformats.org/officeDocument/2006/relationships/image" Target="../media/image3.png"/><Relationship Id="rId15" Type="http://schemas.openxmlformats.org/officeDocument/2006/relationships/image" Target="../media/image13.png"/><Relationship Id="rId23" Type="http://schemas.openxmlformats.org/officeDocument/2006/relationships/image" Target="../media/image22.png"/><Relationship Id="rId28" Type="http://schemas.openxmlformats.org/officeDocument/2006/relationships/image" Target="../media/image21.jpeg"/><Relationship Id="rId36" Type="http://schemas.openxmlformats.org/officeDocument/2006/relationships/image" Target="../media/image30.png"/><Relationship Id="rId10" Type="http://schemas.openxmlformats.org/officeDocument/2006/relationships/image" Target="../media/image8.png"/><Relationship Id="rId19" Type="http://schemas.openxmlformats.org/officeDocument/2006/relationships/image" Target="../media/image16.png"/><Relationship Id="rId31" Type="http://schemas.openxmlformats.org/officeDocument/2006/relationships/image" Target="../media/image27.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png"/><Relationship Id="rId27" Type="http://schemas.openxmlformats.org/officeDocument/2006/relationships/image" Target="../media/image20.png"/><Relationship Id="rId30" Type="http://schemas.openxmlformats.org/officeDocument/2006/relationships/image" Target="../media/image26.png"/><Relationship Id="rId35" Type="http://schemas.openxmlformats.org/officeDocument/2006/relationships/image" Target="../media/image31.png"/><Relationship Id="rId8" Type="http://schemas.openxmlformats.org/officeDocument/2006/relationships/image" Target="../media/image6.png"/><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 name="Rectangle 63">
            <a:extLst>
              <a:ext uri="{FF2B5EF4-FFF2-40B4-BE49-F238E27FC236}">
                <a16:creationId xmlns:a16="http://schemas.microsoft.com/office/drawing/2014/main" id="{54526C33-C89A-3C6A-42FF-8A4508F90416}"/>
              </a:ext>
            </a:extLst>
          </p:cNvPr>
          <p:cNvSpPr/>
          <p:nvPr/>
        </p:nvSpPr>
        <p:spPr>
          <a:xfrm>
            <a:off x="22435301" y="11684813"/>
            <a:ext cx="21025663" cy="1706563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92" name="Rectangle 591">
            <a:extLst>
              <a:ext uri="{FF2B5EF4-FFF2-40B4-BE49-F238E27FC236}">
                <a16:creationId xmlns:a16="http://schemas.microsoft.com/office/drawing/2014/main" id="{E65EB04F-09D1-3693-7AD8-B9E6ECD858CF}"/>
              </a:ext>
            </a:extLst>
          </p:cNvPr>
          <p:cNvSpPr/>
          <p:nvPr/>
        </p:nvSpPr>
        <p:spPr>
          <a:xfrm>
            <a:off x="33533540" y="29413200"/>
            <a:ext cx="9976040" cy="2937053"/>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575" name="Rectangle 574">
            <a:extLst>
              <a:ext uri="{FF2B5EF4-FFF2-40B4-BE49-F238E27FC236}">
                <a16:creationId xmlns:a16="http://schemas.microsoft.com/office/drawing/2014/main" id="{D23502D4-92DB-10B6-52FB-178157B376DB}"/>
              </a:ext>
            </a:extLst>
          </p:cNvPr>
          <p:cNvSpPr/>
          <p:nvPr/>
        </p:nvSpPr>
        <p:spPr>
          <a:xfrm>
            <a:off x="22478380" y="4836045"/>
            <a:ext cx="21031200" cy="6238628"/>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sz="2500"/>
          </a:p>
        </p:txBody>
      </p:sp>
      <p:sp>
        <p:nvSpPr>
          <p:cNvPr id="499" name="Rectangle 498">
            <a:extLst>
              <a:ext uri="{FF2B5EF4-FFF2-40B4-BE49-F238E27FC236}">
                <a16:creationId xmlns:a16="http://schemas.microsoft.com/office/drawing/2014/main" id="{9ED4E0A5-D3BD-F3E0-5594-080D53BB2840}"/>
              </a:ext>
            </a:extLst>
          </p:cNvPr>
          <p:cNvSpPr/>
          <p:nvPr/>
        </p:nvSpPr>
        <p:spPr>
          <a:xfrm>
            <a:off x="22478381" y="29413201"/>
            <a:ext cx="9982820" cy="295465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600" name="Rectangle 599">
            <a:extLst>
              <a:ext uri="{FF2B5EF4-FFF2-40B4-BE49-F238E27FC236}">
                <a16:creationId xmlns:a16="http://schemas.microsoft.com/office/drawing/2014/main" id="{503A2B0E-2595-C50A-D873-1DCDE9304D9D}"/>
              </a:ext>
            </a:extLst>
          </p:cNvPr>
          <p:cNvSpPr/>
          <p:nvPr/>
        </p:nvSpPr>
        <p:spPr>
          <a:xfrm>
            <a:off x="380378" y="11726326"/>
            <a:ext cx="21025663" cy="2064152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01" name="Rectangle 800">
            <a:extLst>
              <a:ext uri="{FF2B5EF4-FFF2-40B4-BE49-F238E27FC236}">
                <a16:creationId xmlns:a16="http://schemas.microsoft.com/office/drawing/2014/main" id="{0DD9D133-62E3-7746-9912-D660E4C8330A}"/>
              </a:ext>
            </a:extLst>
          </p:cNvPr>
          <p:cNvSpPr/>
          <p:nvPr/>
        </p:nvSpPr>
        <p:spPr>
          <a:xfrm>
            <a:off x="755553" y="13332814"/>
            <a:ext cx="11692999" cy="267612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95" name="Rectangle 694">
            <a:extLst>
              <a:ext uri="{FF2B5EF4-FFF2-40B4-BE49-F238E27FC236}">
                <a16:creationId xmlns:a16="http://schemas.microsoft.com/office/drawing/2014/main" id="{44508C00-0AC2-0DDB-BB5D-AB30D179D288}"/>
              </a:ext>
            </a:extLst>
          </p:cNvPr>
          <p:cNvSpPr/>
          <p:nvPr/>
        </p:nvSpPr>
        <p:spPr>
          <a:xfrm>
            <a:off x="13215225" y="13361031"/>
            <a:ext cx="7880104" cy="1838837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 name="Rectangle 8">
            <a:extLst>
              <a:ext uri="{FF2B5EF4-FFF2-40B4-BE49-F238E27FC236}">
                <a16:creationId xmlns:a16="http://schemas.microsoft.com/office/drawing/2014/main" id="{C456D4C0-AFEF-222E-0825-FAD6BAEA55D5}"/>
              </a:ext>
            </a:extLst>
          </p:cNvPr>
          <p:cNvSpPr/>
          <p:nvPr/>
        </p:nvSpPr>
        <p:spPr>
          <a:xfrm>
            <a:off x="381000" y="4799075"/>
            <a:ext cx="21031198" cy="6275598"/>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 name="Rectangle 4"/>
          <p:cNvSpPr/>
          <p:nvPr/>
        </p:nvSpPr>
        <p:spPr>
          <a:xfrm>
            <a:off x="0" y="0"/>
            <a:ext cx="43891200" cy="4267200"/>
          </a:xfrm>
          <a:prstGeom prst="rect">
            <a:avLst/>
          </a:prstGeom>
          <a:solidFill>
            <a:srgbClr val="4E2A8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0" y="550545"/>
            <a:ext cx="43891200" cy="2954655"/>
          </a:xfrm>
          <a:prstGeom prst="rect">
            <a:avLst/>
          </a:prstGeom>
          <a:noFill/>
        </p:spPr>
        <p:txBody>
          <a:bodyPr wrap="square" rtlCol="0">
            <a:spAutoFit/>
          </a:bodyPr>
          <a:lstStyle/>
          <a:p>
            <a:pPr algn="ctr"/>
            <a:r>
              <a:rPr lang="en-US" dirty="0">
                <a:solidFill>
                  <a:schemeClr val="bg1"/>
                </a:solidFill>
              </a:rPr>
              <a:t>Towards Doped Cryogenic Rare Gas Crystals for Precision Measurement</a:t>
            </a:r>
          </a:p>
          <a:p>
            <a:pPr algn="ctr"/>
            <a:r>
              <a:rPr lang="en-US" sz="5600" dirty="0">
                <a:solidFill>
                  <a:schemeClr val="bg1"/>
                </a:solidFill>
              </a:rPr>
              <a:t>Isaac Cross</a:t>
            </a:r>
            <a:r>
              <a:rPr lang="en-US" sz="5600" baseline="30000" dirty="0">
                <a:solidFill>
                  <a:schemeClr val="bg1"/>
                </a:solidFill>
              </a:rPr>
              <a:t>1</a:t>
            </a:r>
            <a:r>
              <a:rPr lang="en-US" sz="5600" dirty="0">
                <a:solidFill>
                  <a:schemeClr val="bg1"/>
                </a:solidFill>
              </a:rPr>
              <a:t>, Daniel Lutes</a:t>
            </a:r>
            <a:r>
              <a:rPr lang="en-US" sz="5600" baseline="30000" dirty="0">
                <a:solidFill>
                  <a:schemeClr val="bg1"/>
                </a:solidFill>
              </a:rPr>
              <a:t>1</a:t>
            </a:r>
            <a:r>
              <a:rPr lang="en-US" sz="5600" dirty="0">
                <a:solidFill>
                  <a:schemeClr val="bg1"/>
                </a:solidFill>
              </a:rPr>
              <a:t>, Joel Adhiambo</a:t>
            </a:r>
            <a:r>
              <a:rPr lang="en-US" sz="5600" baseline="30000" dirty="0">
                <a:solidFill>
                  <a:schemeClr val="bg1"/>
                </a:solidFill>
              </a:rPr>
              <a:t>1</a:t>
            </a:r>
            <a:r>
              <a:rPr lang="en-US" sz="5600" dirty="0">
                <a:solidFill>
                  <a:schemeClr val="bg1"/>
                </a:solidFill>
              </a:rPr>
              <a:t>, Brian Odom</a:t>
            </a:r>
            <a:r>
              <a:rPr lang="en-US" sz="5600" baseline="30000" dirty="0">
                <a:solidFill>
                  <a:schemeClr val="bg1"/>
                </a:solidFill>
              </a:rPr>
              <a:t>1</a:t>
            </a:r>
            <a:endParaRPr lang="en-US" sz="5600" dirty="0">
              <a:solidFill>
                <a:schemeClr val="bg1"/>
              </a:solidFill>
            </a:endParaRPr>
          </a:p>
          <a:p>
            <a:pPr algn="ctr"/>
            <a:r>
              <a:rPr lang="en-US" sz="4400" dirty="0">
                <a:solidFill>
                  <a:schemeClr val="bg1"/>
                </a:solidFill>
              </a:rPr>
              <a:t>1. Department of Physics and Astronomy, Northwestern University, Evanston, IL, USA</a:t>
            </a:r>
          </a:p>
        </p:txBody>
      </p:sp>
      <p:sp>
        <p:nvSpPr>
          <p:cNvPr id="17" name="TextBox 16"/>
          <p:cNvSpPr txBox="1"/>
          <p:nvPr/>
        </p:nvSpPr>
        <p:spPr>
          <a:xfrm>
            <a:off x="381000" y="4767351"/>
            <a:ext cx="21031198" cy="1046440"/>
          </a:xfrm>
          <a:prstGeom prst="rect">
            <a:avLst/>
          </a:prstGeom>
          <a:solidFill>
            <a:srgbClr val="4E2A84"/>
          </a:solidFill>
        </p:spPr>
        <p:txBody>
          <a:bodyPr wrap="square" rtlCol="0">
            <a:spAutoFit/>
          </a:bodyPr>
          <a:lstStyle/>
          <a:p>
            <a:pPr algn="ctr"/>
            <a:r>
              <a:rPr lang="en-US" sz="6200" b="1" dirty="0">
                <a:solidFill>
                  <a:schemeClr val="bg1"/>
                </a:solidFill>
                <a:latin typeface="Arial" pitchFamily="34" charset="0"/>
                <a:cs typeface="Arial" pitchFamily="34" charset="0"/>
              </a:rPr>
              <a:t>Motivation</a:t>
            </a:r>
          </a:p>
        </p:txBody>
      </p:sp>
      <p:sp>
        <p:nvSpPr>
          <p:cNvPr id="19" name="TextBox 18"/>
          <p:cNvSpPr txBox="1"/>
          <p:nvPr/>
        </p:nvSpPr>
        <p:spPr>
          <a:xfrm>
            <a:off x="22478380" y="11726326"/>
            <a:ext cx="21031200" cy="1077218"/>
          </a:xfrm>
          <a:prstGeom prst="rect">
            <a:avLst/>
          </a:prstGeom>
          <a:solidFill>
            <a:srgbClr val="4E2A84"/>
          </a:solidFill>
        </p:spPr>
        <p:txBody>
          <a:bodyPr wrap="square" rtlCol="0">
            <a:spAutoFit/>
          </a:bodyPr>
          <a:lstStyle/>
          <a:p>
            <a:pPr algn="ctr"/>
            <a:r>
              <a:rPr lang="en-US" sz="6200" b="1" dirty="0">
                <a:solidFill>
                  <a:schemeClr val="bg1"/>
                </a:solidFill>
                <a:latin typeface="Arial" pitchFamily="34" charset="0"/>
                <a:cs typeface="Arial" pitchFamily="34" charset="0"/>
              </a:rPr>
              <a:t>Crystal Growth</a:t>
            </a:r>
          </a:p>
        </p:txBody>
      </p:sp>
      <p:sp>
        <p:nvSpPr>
          <p:cNvPr id="20" name="TextBox 19"/>
          <p:cNvSpPr txBox="1"/>
          <p:nvPr/>
        </p:nvSpPr>
        <p:spPr>
          <a:xfrm>
            <a:off x="381000" y="11726326"/>
            <a:ext cx="21031820" cy="1077218"/>
          </a:xfrm>
          <a:prstGeom prst="rect">
            <a:avLst/>
          </a:prstGeom>
          <a:solidFill>
            <a:srgbClr val="4E2A84"/>
          </a:solidFill>
        </p:spPr>
        <p:txBody>
          <a:bodyPr wrap="square" rtlCol="0">
            <a:spAutoFit/>
          </a:bodyPr>
          <a:lstStyle/>
          <a:p>
            <a:pPr algn="ctr"/>
            <a:r>
              <a:rPr lang="en-US" sz="6200" b="1" dirty="0">
                <a:solidFill>
                  <a:schemeClr val="bg1"/>
                </a:solidFill>
                <a:latin typeface="Arial" pitchFamily="34" charset="0"/>
                <a:cs typeface="Arial" pitchFamily="34" charset="0"/>
              </a:rPr>
              <a:t>Beam Source</a:t>
            </a:r>
          </a:p>
        </p:txBody>
      </p:sp>
      <p:pic>
        <p:nvPicPr>
          <p:cNvPr id="2" name="Picture 1" descr="Northwestern University - Wikipedia">
            <a:extLst>
              <a:ext uri="{FF2B5EF4-FFF2-40B4-BE49-F238E27FC236}">
                <a16:creationId xmlns:a16="http://schemas.microsoft.com/office/drawing/2014/main" id="{3662CDEB-3742-F17E-7479-F6CC48E0693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83028" y="267414"/>
            <a:ext cx="2241501" cy="2241501"/>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8FFBEAF7-28BC-B477-065C-653B2E5A0014}"/>
              </a:ext>
            </a:extLst>
          </p:cNvPr>
          <p:cNvSpPr txBox="1"/>
          <p:nvPr/>
        </p:nvSpPr>
        <p:spPr>
          <a:xfrm>
            <a:off x="283029" y="2508915"/>
            <a:ext cx="7257282" cy="1323439"/>
          </a:xfrm>
          <a:prstGeom prst="rect">
            <a:avLst/>
          </a:prstGeom>
          <a:noFill/>
        </p:spPr>
        <p:txBody>
          <a:bodyPr wrap="square" rtlCol="0">
            <a:spAutoFit/>
          </a:bodyPr>
          <a:lstStyle/>
          <a:p>
            <a:r>
              <a:rPr lang="en-US" sz="4000" dirty="0">
                <a:solidFill>
                  <a:schemeClr val="bg1"/>
                </a:solidFill>
              </a:rPr>
              <a:t>Center for </a:t>
            </a:r>
          </a:p>
          <a:p>
            <a:r>
              <a:rPr lang="en-US" sz="4000" b="1" dirty="0">
                <a:solidFill>
                  <a:schemeClr val="bg1"/>
                </a:solidFill>
              </a:rPr>
              <a:t>Fundamental Physics</a:t>
            </a:r>
          </a:p>
        </p:txBody>
      </p:sp>
      <p:pic>
        <p:nvPicPr>
          <p:cNvPr id="4" name="Picture 2" descr="Advanced Photon Source – Lightsources.org">
            <a:extLst>
              <a:ext uri="{FF2B5EF4-FFF2-40B4-BE49-F238E27FC236}">
                <a16:creationId xmlns:a16="http://schemas.microsoft.com/office/drawing/2014/main" id="{635849BF-56E8-0537-6040-ABDF93C87C0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462360" y="2332801"/>
            <a:ext cx="5124040" cy="1675666"/>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descr="National Science Foundation - Wikipedia">
            <a:extLst>
              <a:ext uri="{FF2B5EF4-FFF2-40B4-BE49-F238E27FC236}">
                <a16:creationId xmlns:a16="http://schemas.microsoft.com/office/drawing/2014/main" id="{99E86367-4CD3-F326-8054-FF0DACE99738}"/>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1159335" y="267414"/>
            <a:ext cx="2427065" cy="2427065"/>
          </a:xfrm>
          <a:prstGeom prst="rect">
            <a:avLst/>
          </a:prstGeom>
          <a:noFill/>
          <a:extLst>
            <a:ext uri="{909E8E84-426E-40DD-AFC4-6F175D3DCCD1}">
              <a14:hiddenFill xmlns:a14="http://schemas.microsoft.com/office/drawing/2010/main">
                <a:solidFill>
                  <a:srgbClr val="FFFFFF"/>
                </a:solidFill>
              </a14:hiddenFill>
            </a:ext>
          </a:extLst>
        </p:spPr>
      </p:pic>
      <p:sp>
        <p:nvSpPr>
          <p:cNvPr id="98" name="Rectangle 97">
            <a:extLst>
              <a:ext uri="{FF2B5EF4-FFF2-40B4-BE49-F238E27FC236}">
                <a16:creationId xmlns:a16="http://schemas.microsoft.com/office/drawing/2014/main" id="{8B3A2D5E-21B7-96EB-4FA3-29AD92BED33F}"/>
              </a:ext>
            </a:extLst>
          </p:cNvPr>
          <p:cNvSpPr/>
          <p:nvPr/>
        </p:nvSpPr>
        <p:spPr>
          <a:xfrm>
            <a:off x="6644142" y="25393704"/>
            <a:ext cx="1710229" cy="82000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sz="2500" dirty="0"/>
          </a:p>
          <a:p>
            <a:pPr algn="ctr"/>
            <a:endParaRPr lang="en-US" sz="2500" dirty="0">
              <a:ln w="0"/>
              <a:solidFill>
                <a:schemeClr val="tx1"/>
              </a:solidFill>
              <a:effectLst>
                <a:outerShdw blurRad="38100" dist="19050" dir="2700000" algn="tl" rotWithShape="0">
                  <a:schemeClr val="dk1">
                    <a:alpha val="40000"/>
                  </a:schemeClr>
                </a:outerShdw>
              </a:effectLst>
            </a:endParaRPr>
          </a:p>
        </p:txBody>
      </p:sp>
      <p:pic>
        <p:nvPicPr>
          <p:cNvPr id="99" name="Picture 98" descr="A black and white square&#10;&#10;AI-generated content may be incorrect.">
            <a:extLst>
              <a:ext uri="{FF2B5EF4-FFF2-40B4-BE49-F238E27FC236}">
                <a16:creationId xmlns:a16="http://schemas.microsoft.com/office/drawing/2014/main" id="{2C0670A0-76AA-9942-F24D-A8F78325112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rot="16200000">
            <a:off x="7490786" y="22278739"/>
            <a:ext cx="937238" cy="937238"/>
          </a:xfrm>
          <a:prstGeom prst="rect">
            <a:avLst/>
          </a:prstGeom>
        </p:spPr>
      </p:pic>
      <p:pic>
        <p:nvPicPr>
          <p:cNvPr id="100" name="Picture 99">
            <a:extLst>
              <a:ext uri="{FF2B5EF4-FFF2-40B4-BE49-F238E27FC236}">
                <a16:creationId xmlns:a16="http://schemas.microsoft.com/office/drawing/2014/main" id="{26FD704A-130A-BA9C-F0D5-E9196AEDFB84}"/>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677805" y="22284692"/>
            <a:ext cx="201866" cy="937238"/>
          </a:xfrm>
          <a:prstGeom prst="rect">
            <a:avLst/>
          </a:prstGeom>
        </p:spPr>
      </p:pic>
      <p:pic>
        <p:nvPicPr>
          <p:cNvPr id="101" name="Picture 100" descr="A black and white square&#10;&#10;AI-generated content may be incorrect.">
            <a:extLst>
              <a:ext uri="{FF2B5EF4-FFF2-40B4-BE49-F238E27FC236}">
                <a16:creationId xmlns:a16="http://schemas.microsoft.com/office/drawing/2014/main" id="{41E69B48-9C8B-7DBB-026D-AF6BD067E1D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1079796" y="22277010"/>
            <a:ext cx="937238" cy="937238"/>
          </a:xfrm>
          <a:prstGeom prst="rect">
            <a:avLst/>
          </a:prstGeom>
        </p:spPr>
      </p:pic>
      <p:pic>
        <p:nvPicPr>
          <p:cNvPr id="102" name="Picture 101">
            <a:extLst>
              <a:ext uri="{FF2B5EF4-FFF2-40B4-BE49-F238E27FC236}">
                <a16:creationId xmlns:a16="http://schemas.microsoft.com/office/drawing/2014/main" id="{F6342E59-2B33-28BF-97BF-CFE15A8F57EF}"/>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rot="5400000">
            <a:off x="11425702" y="22889209"/>
            <a:ext cx="201866" cy="937238"/>
          </a:xfrm>
          <a:prstGeom prst="rect">
            <a:avLst/>
          </a:prstGeom>
        </p:spPr>
      </p:pic>
      <p:pic>
        <p:nvPicPr>
          <p:cNvPr id="103" name="Picture 102" descr="A grey metal pipe with a hole in the middle&#10;&#10;AI-generated content may be incorrect.">
            <a:extLst>
              <a:ext uri="{FF2B5EF4-FFF2-40B4-BE49-F238E27FC236}">
                <a16:creationId xmlns:a16="http://schemas.microsoft.com/office/drawing/2014/main" id="{70B67CF1-91F7-F510-DA04-299B1AFFF9F0}"/>
              </a:ext>
            </a:extLst>
          </p:cNvPr>
          <p:cNvPicPr>
            <a:picLocks noChangeAspect="1"/>
          </p:cNvPicPr>
          <p:nvPr/>
        </p:nvPicPr>
        <p:blipFill>
          <a:blip r:embed="rId8">
            <a:extLst>
              <a:ext uri="{28A0092B-C50C-407E-A947-70E740481C1C}">
                <a14:useLocalDpi xmlns:a14="http://schemas.microsoft.com/office/drawing/2010/main" val="0"/>
              </a:ext>
            </a:extLst>
          </a:blip>
          <a:srcRect l="25329" t="5589" r="29038" b="7929"/>
          <a:stretch>
            <a:fillRect/>
          </a:stretch>
        </p:blipFill>
        <p:spPr>
          <a:xfrm>
            <a:off x="1859389" y="17031043"/>
            <a:ext cx="3022638" cy="14099288"/>
          </a:xfrm>
          <a:prstGeom prst="rect">
            <a:avLst/>
          </a:prstGeom>
        </p:spPr>
      </p:pic>
      <p:pic>
        <p:nvPicPr>
          <p:cNvPr id="104" name="Picture 103" descr="A white rectangular object with black border&#10;&#10;AI-generated content may be incorrect.">
            <a:extLst>
              <a:ext uri="{FF2B5EF4-FFF2-40B4-BE49-F238E27FC236}">
                <a16:creationId xmlns:a16="http://schemas.microsoft.com/office/drawing/2014/main" id="{8183740D-0B60-6500-AB95-5527983FFB17}"/>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8716331" y="20891773"/>
            <a:ext cx="254736" cy="937238"/>
          </a:xfrm>
          <a:prstGeom prst="rect">
            <a:avLst/>
          </a:prstGeom>
        </p:spPr>
      </p:pic>
      <p:pic>
        <p:nvPicPr>
          <p:cNvPr id="105" name="Picture 104" descr="A black and white square&#10;&#10;AI-generated content may be incorrect.">
            <a:extLst>
              <a:ext uri="{FF2B5EF4-FFF2-40B4-BE49-F238E27FC236}">
                <a16:creationId xmlns:a16="http://schemas.microsoft.com/office/drawing/2014/main" id="{3DBDD9A6-85E0-5C9C-27FF-B0AA5FC016B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rot="16200000">
            <a:off x="5473614" y="20885873"/>
            <a:ext cx="937238" cy="937238"/>
          </a:xfrm>
          <a:prstGeom prst="rect">
            <a:avLst/>
          </a:prstGeom>
        </p:spPr>
      </p:pic>
      <p:pic>
        <p:nvPicPr>
          <p:cNvPr id="106" name="Picture 105" descr="A white rectangular object with black border&#10;&#10;AI-generated content may be incorrect.">
            <a:extLst>
              <a:ext uri="{FF2B5EF4-FFF2-40B4-BE49-F238E27FC236}">
                <a16:creationId xmlns:a16="http://schemas.microsoft.com/office/drawing/2014/main" id="{C42EB44A-35AA-7D11-DFB2-50B881B4D2CC}"/>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rot="10800000">
            <a:off x="7725555" y="20904490"/>
            <a:ext cx="254736" cy="937238"/>
          </a:xfrm>
          <a:prstGeom prst="rect">
            <a:avLst/>
          </a:prstGeom>
        </p:spPr>
      </p:pic>
      <p:pic>
        <p:nvPicPr>
          <p:cNvPr id="107" name="Picture 106" descr="A red and black rectangle&#10;&#10;AI-generated content may be incorrect.">
            <a:extLst>
              <a:ext uri="{FF2B5EF4-FFF2-40B4-BE49-F238E27FC236}">
                <a16:creationId xmlns:a16="http://schemas.microsoft.com/office/drawing/2014/main" id="{D6CE98A8-1B78-A58B-AFAE-CE269332E3AF}"/>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rot="5400000">
            <a:off x="10933287" y="24959810"/>
            <a:ext cx="1253071" cy="936145"/>
          </a:xfrm>
          <a:prstGeom prst="rect">
            <a:avLst/>
          </a:prstGeom>
        </p:spPr>
      </p:pic>
      <p:cxnSp>
        <p:nvCxnSpPr>
          <p:cNvPr id="108" name="Straight Connector 107">
            <a:extLst>
              <a:ext uri="{FF2B5EF4-FFF2-40B4-BE49-F238E27FC236}">
                <a16:creationId xmlns:a16="http://schemas.microsoft.com/office/drawing/2014/main" id="{F4D96975-345E-34B7-059C-A0CF4852DEB6}"/>
              </a:ext>
            </a:extLst>
          </p:cNvPr>
          <p:cNvCxnSpPr>
            <a:cxnSpLocks/>
            <a:stCxn id="150" idx="1"/>
            <a:endCxn id="104" idx="3"/>
          </p:cNvCxnSpPr>
          <p:nvPr/>
        </p:nvCxnSpPr>
        <p:spPr>
          <a:xfrm flipV="1">
            <a:off x="1729668" y="21360392"/>
            <a:ext cx="7241399" cy="5287"/>
          </a:xfrm>
          <a:prstGeom prst="line">
            <a:avLst/>
          </a:prstGeom>
          <a:ln>
            <a:solidFill>
              <a:srgbClr val="C00000"/>
            </a:solidFill>
          </a:ln>
        </p:spPr>
        <p:style>
          <a:lnRef idx="3">
            <a:schemeClr val="accent5"/>
          </a:lnRef>
          <a:fillRef idx="0">
            <a:schemeClr val="accent5"/>
          </a:fillRef>
          <a:effectRef idx="2">
            <a:schemeClr val="accent5"/>
          </a:effectRef>
          <a:fontRef idx="minor">
            <a:schemeClr val="tx1"/>
          </a:fontRef>
        </p:style>
      </p:cxnSp>
      <p:cxnSp>
        <p:nvCxnSpPr>
          <p:cNvPr id="109" name="Straight Connector 108">
            <a:extLst>
              <a:ext uri="{FF2B5EF4-FFF2-40B4-BE49-F238E27FC236}">
                <a16:creationId xmlns:a16="http://schemas.microsoft.com/office/drawing/2014/main" id="{EF3B1FB2-FA1E-8B59-380F-EC6693E89D08}"/>
              </a:ext>
            </a:extLst>
          </p:cNvPr>
          <p:cNvCxnSpPr>
            <a:cxnSpLocks/>
            <a:stCxn id="197" idx="1"/>
            <a:endCxn id="112" idx="1"/>
          </p:cNvCxnSpPr>
          <p:nvPr/>
        </p:nvCxnSpPr>
        <p:spPr>
          <a:xfrm flipV="1">
            <a:off x="1729668" y="28132049"/>
            <a:ext cx="4152718" cy="997"/>
          </a:xfrm>
          <a:prstGeom prst="line">
            <a:avLst/>
          </a:prstGeom>
          <a:ln>
            <a:solidFill>
              <a:srgbClr val="C00000"/>
            </a:solidFill>
          </a:ln>
        </p:spPr>
        <p:style>
          <a:lnRef idx="3">
            <a:schemeClr val="accent5"/>
          </a:lnRef>
          <a:fillRef idx="0">
            <a:schemeClr val="accent5"/>
          </a:fillRef>
          <a:effectRef idx="2">
            <a:schemeClr val="accent5"/>
          </a:effectRef>
          <a:fontRef idx="minor">
            <a:schemeClr val="tx1"/>
          </a:fontRef>
        </p:style>
      </p:cxnSp>
      <p:pic>
        <p:nvPicPr>
          <p:cNvPr id="110" name="Picture 109" descr="A white rectangular object with black background&#10;&#10;AI-generated content may be incorrect.">
            <a:extLst>
              <a:ext uri="{FF2B5EF4-FFF2-40B4-BE49-F238E27FC236}">
                <a16:creationId xmlns:a16="http://schemas.microsoft.com/office/drawing/2014/main" id="{AB278287-C40F-00BB-0260-E240D46CDA73}"/>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5059340" y="27639699"/>
            <a:ext cx="344686" cy="937238"/>
          </a:xfrm>
          <a:prstGeom prst="rect">
            <a:avLst/>
          </a:prstGeom>
        </p:spPr>
      </p:pic>
      <p:cxnSp>
        <p:nvCxnSpPr>
          <p:cNvPr id="111" name="Straight Connector 110">
            <a:extLst>
              <a:ext uri="{FF2B5EF4-FFF2-40B4-BE49-F238E27FC236}">
                <a16:creationId xmlns:a16="http://schemas.microsoft.com/office/drawing/2014/main" id="{00B8A9F9-BEE8-0029-1A7C-1AC7E032E8AD}"/>
              </a:ext>
            </a:extLst>
          </p:cNvPr>
          <p:cNvCxnSpPr>
            <a:cxnSpLocks/>
            <a:endCxn id="112" idx="1"/>
          </p:cNvCxnSpPr>
          <p:nvPr/>
        </p:nvCxnSpPr>
        <p:spPr>
          <a:xfrm flipH="1">
            <a:off x="5882386" y="21403104"/>
            <a:ext cx="23857" cy="6728945"/>
          </a:xfrm>
          <a:prstGeom prst="line">
            <a:avLst/>
          </a:prstGeom>
          <a:ln>
            <a:solidFill>
              <a:srgbClr val="C00000"/>
            </a:solidFill>
          </a:ln>
        </p:spPr>
        <p:style>
          <a:lnRef idx="3">
            <a:schemeClr val="accent5"/>
          </a:lnRef>
          <a:fillRef idx="0">
            <a:schemeClr val="accent5"/>
          </a:fillRef>
          <a:effectRef idx="2">
            <a:schemeClr val="accent5"/>
          </a:effectRef>
          <a:fontRef idx="minor">
            <a:schemeClr val="tx1"/>
          </a:fontRef>
        </p:style>
      </p:cxnSp>
      <p:pic>
        <p:nvPicPr>
          <p:cNvPr id="112" name="Picture 111" descr="A white rectangular object with black background&#10;&#10;AI-generated content may be incorrect.">
            <a:extLst>
              <a:ext uri="{FF2B5EF4-FFF2-40B4-BE49-F238E27FC236}">
                <a16:creationId xmlns:a16="http://schemas.microsoft.com/office/drawing/2014/main" id="{D402B26E-63ED-097D-243F-B8AB6C1BA3C5}"/>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rot="2606638">
            <a:off x="5835172" y="27781941"/>
            <a:ext cx="344686" cy="937238"/>
          </a:xfrm>
          <a:prstGeom prst="rect">
            <a:avLst/>
          </a:prstGeom>
        </p:spPr>
      </p:pic>
      <p:pic>
        <p:nvPicPr>
          <p:cNvPr id="113" name="Picture 112">
            <a:extLst>
              <a:ext uri="{FF2B5EF4-FFF2-40B4-BE49-F238E27FC236}">
                <a16:creationId xmlns:a16="http://schemas.microsoft.com/office/drawing/2014/main" id="{9E73BA0B-980C-3165-345D-27807EC890FB}"/>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928724" y="20893801"/>
            <a:ext cx="201866" cy="937238"/>
          </a:xfrm>
          <a:prstGeom prst="rect">
            <a:avLst/>
          </a:prstGeom>
        </p:spPr>
      </p:pic>
      <p:cxnSp>
        <p:nvCxnSpPr>
          <p:cNvPr id="114" name="Straight Connector 113">
            <a:extLst>
              <a:ext uri="{FF2B5EF4-FFF2-40B4-BE49-F238E27FC236}">
                <a16:creationId xmlns:a16="http://schemas.microsoft.com/office/drawing/2014/main" id="{AEAA1D1D-BC52-E5F8-BA12-02DF98BF4F2A}"/>
              </a:ext>
            </a:extLst>
          </p:cNvPr>
          <p:cNvCxnSpPr>
            <a:cxnSpLocks/>
            <a:stCxn id="100" idx="3"/>
          </p:cNvCxnSpPr>
          <p:nvPr/>
        </p:nvCxnSpPr>
        <p:spPr>
          <a:xfrm flipV="1">
            <a:off x="8879671" y="22739871"/>
            <a:ext cx="2573059" cy="13440"/>
          </a:xfrm>
          <a:prstGeom prst="line">
            <a:avLst/>
          </a:prstGeom>
          <a:ln w="76200" cap="flat" cmpd="sng" algn="ctr">
            <a:solidFill>
              <a:srgbClr val="C00000"/>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16" name="Straight Connector 115">
            <a:extLst>
              <a:ext uri="{FF2B5EF4-FFF2-40B4-BE49-F238E27FC236}">
                <a16:creationId xmlns:a16="http://schemas.microsoft.com/office/drawing/2014/main" id="{346978F2-46AD-228B-9D75-71137125F7D2}"/>
              </a:ext>
            </a:extLst>
          </p:cNvPr>
          <p:cNvCxnSpPr>
            <a:cxnSpLocks/>
            <a:stCxn id="102" idx="3"/>
            <a:endCxn id="107" idx="1"/>
          </p:cNvCxnSpPr>
          <p:nvPr/>
        </p:nvCxnSpPr>
        <p:spPr>
          <a:xfrm>
            <a:off x="11526635" y="23458761"/>
            <a:ext cx="33187" cy="1342586"/>
          </a:xfrm>
          <a:prstGeom prst="line">
            <a:avLst/>
          </a:prstGeom>
          <a:ln w="76200" cap="flat" cmpd="sng" algn="ctr">
            <a:solidFill>
              <a:srgbClr val="C00000"/>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17" name="Straight Connector 116">
            <a:extLst>
              <a:ext uri="{FF2B5EF4-FFF2-40B4-BE49-F238E27FC236}">
                <a16:creationId xmlns:a16="http://schemas.microsoft.com/office/drawing/2014/main" id="{1D255E7B-DEB4-C98C-1B05-8B4D8CF44B58}"/>
              </a:ext>
            </a:extLst>
          </p:cNvPr>
          <p:cNvCxnSpPr>
            <a:cxnSpLocks/>
            <a:stCxn id="118" idx="1"/>
            <a:endCxn id="102" idx="3"/>
          </p:cNvCxnSpPr>
          <p:nvPr/>
        </p:nvCxnSpPr>
        <p:spPr>
          <a:xfrm>
            <a:off x="11511235" y="21328377"/>
            <a:ext cx="15400" cy="2130384"/>
          </a:xfrm>
          <a:prstGeom prst="line">
            <a:avLst/>
          </a:prstGeom>
          <a:ln w="76200">
            <a:solidFill>
              <a:srgbClr val="C00000"/>
            </a:solidFill>
          </a:ln>
        </p:spPr>
        <p:style>
          <a:lnRef idx="3">
            <a:schemeClr val="accent5"/>
          </a:lnRef>
          <a:fillRef idx="0">
            <a:schemeClr val="accent5"/>
          </a:fillRef>
          <a:effectRef idx="2">
            <a:schemeClr val="accent5"/>
          </a:effectRef>
          <a:fontRef idx="minor">
            <a:schemeClr val="tx1"/>
          </a:fontRef>
        </p:style>
      </p:cxnSp>
      <p:pic>
        <p:nvPicPr>
          <p:cNvPr id="118" name="Picture 117" descr="A white rectangular object with black background&#10;&#10;AI-generated content may be incorrect.">
            <a:extLst>
              <a:ext uri="{FF2B5EF4-FFF2-40B4-BE49-F238E27FC236}">
                <a16:creationId xmlns:a16="http://schemas.microsoft.com/office/drawing/2014/main" id="{CD83527D-1800-C3BC-3D8A-278677ACDEA7}"/>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rot="19282779">
            <a:off x="11473543" y="20752189"/>
            <a:ext cx="344686" cy="937238"/>
          </a:xfrm>
          <a:prstGeom prst="rect">
            <a:avLst/>
          </a:prstGeom>
        </p:spPr>
      </p:pic>
      <p:cxnSp>
        <p:nvCxnSpPr>
          <p:cNvPr id="119" name="Straight Connector 118">
            <a:extLst>
              <a:ext uri="{FF2B5EF4-FFF2-40B4-BE49-F238E27FC236}">
                <a16:creationId xmlns:a16="http://schemas.microsoft.com/office/drawing/2014/main" id="{EFE218FC-6D25-C0E8-A2A6-CD56819C1D29}"/>
              </a:ext>
            </a:extLst>
          </p:cNvPr>
          <p:cNvCxnSpPr>
            <a:cxnSpLocks/>
            <a:stCxn id="120" idx="1"/>
            <a:endCxn id="100" idx="3"/>
          </p:cNvCxnSpPr>
          <p:nvPr/>
        </p:nvCxnSpPr>
        <p:spPr>
          <a:xfrm flipV="1">
            <a:off x="7010304" y="22753311"/>
            <a:ext cx="1869367" cy="8205"/>
          </a:xfrm>
          <a:prstGeom prst="line">
            <a:avLst/>
          </a:prstGeom>
          <a:ln w="76200">
            <a:solidFill>
              <a:srgbClr val="C00000"/>
            </a:solidFill>
          </a:ln>
        </p:spPr>
        <p:style>
          <a:lnRef idx="3">
            <a:schemeClr val="accent5"/>
          </a:lnRef>
          <a:fillRef idx="0">
            <a:schemeClr val="accent5"/>
          </a:fillRef>
          <a:effectRef idx="2">
            <a:schemeClr val="accent5"/>
          </a:effectRef>
          <a:fontRef idx="minor">
            <a:schemeClr val="tx1"/>
          </a:fontRef>
        </p:style>
      </p:cxnSp>
      <p:pic>
        <p:nvPicPr>
          <p:cNvPr id="120" name="Picture 119" descr="A white rectangular object with black background&#10;&#10;AI-generated content may be incorrect.">
            <a:extLst>
              <a:ext uri="{FF2B5EF4-FFF2-40B4-BE49-F238E27FC236}">
                <a16:creationId xmlns:a16="http://schemas.microsoft.com/office/drawing/2014/main" id="{BD550605-25A6-3F00-4E4B-FFF55BEFDB9F}"/>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rot="13204978">
            <a:off x="6706099" y="22181926"/>
            <a:ext cx="344686" cy="937238"/>
          </a:xfrm>
          <a:prstGeom prst="rect">
            <a:avLst/>
          </a:prstGeom>
        </p:spPr>
      </p:pic>
      <p:cxnSp>
        <p:nvCxnSpPr>
          <p:cNvPr id="121" name="Straight Connector 120">
            <a:extLst>
              <a:ext uri="{FF2B5EF4-FFF2-40B4-BE49-F238E27FC236}">
                <a16:creationId xmlns:a16="http://schemas.microsoft.com/office/drawing/2014/main" id="{3CC0706F-6815-9C87-7742-71C87152B178}"/>
              </a:ext>
            </a:extLst>
          </p:cNvPr>
          <p:cNvCxnSpPr>
            <a:cxnSpLocks/>
            <a:stCxn id="120" idx="1"/>
            <a:endCxn id="199" idx="1"/>
          </p:cNvCxnSpPr>
          <p:nvPr/>
        </p:nvCxnSpPr>
        <p:spPr>
          <a:xfrm>
            <a:off x="7010304" y="22761516"/>
            <a:ext cx="20779" cy="2617776"/>
          </a:xfrm>
          <a:prstGeom prst="line">
            <a:avLst/>
          </a:prstGeom>
          <a:ln w="76200">
            <a:solidFill>
              <a:srgbClr val="C00000"/>
            </a:solidFill>
          </a:ln>
        </p:spPr>
        <p:style>
          <a:lnRef idx="3">
            <a:schemeClr val="accent5"/>
          </a:lnRef>
          <a:fillRef idx="0">
            <a:schemeClr val="accent5"/>
          </a:fillRef>
          <a:effectRef idx="2">
            <a:schemeClr val="accent5"/>
          </a:effectRef>
          <a:fontRef idx="minor">
            <a:schemeClr val="tx1"/>
          </a:fontRef>
        </p:style>
      </p:cxnSp>
      <p:cxnSp>
        <p:nvCxnSpPr>
          <p:cNvPr id="122" name="Straight Connector 121">
            <a:extLst>
              <a:ext uri="{FF2B5EF4-FFF2-40B4-BE49-F238E27FC236}">
                <a16:creationId xmlns:a16="http://schemas.microsoft.com/office/drawing/2014/main" id="{E9DF289C-DA85-7350-8222-790EAA30C035}"/>
              </a:ext>
            </a:extLst>
          </p:cNvPr>
          <p:cNvCxnSpPr>
            <a:cxnSpLocks/>
            <a:endCxn id="202" idx="1"/>
          </p:cNvCxnSpPr>
          <p:nvPr/>
        </p:nvCxnSpPr>
        <p:spPr>
          <a:xfrm>
            <a:off x="7953929" y="22739871"/>
            <a:ext cx="10101" cy="2659867"/>
          </a:xfrm>
          <a:prstGeom prst="line">
            <a:avLst/>
          </a:prstGeom>
          <a:ln w="76200">
            <a:solidFill>
              <a:srgbClr val="C00000"/>
            </a:solidFill>
          </a:ln>
        </p:spPr>
        <p:style>
          <a:lnRef idx="3">
            <a:schemeClr val="accent5"/>
          </a:lnRef>
          <a:fillRef idx="0">
            <a:schemeClr val="accent5"/>
          </a:fillRef>
          <a:effectRef idx="2">
            <a:schemeClr val="accent5"/>
          </a:effectRef>
          <a:fontRef idx="minor">
            <a:schemeClr val="tx1"/>
          </a:fontRef>
        </p:style>
      </p:cxnSp>
      <p:cxnSp>
        <p:nvCxnSpPr>
          <p:cNvPr id="123" name="Straight Connector 122">
            <a:extLst>
              <a:ext uri="{FF2B5EF4-FFF2-40B4-BE49-F238E27FC236}">
                <a16:creationId xmlns:a16="http://schemas.microsoft.com/office/drawing/2014/main" id="{7E8F7A70-1030-D1B4-F2EF-A38FF2F1A04C}"/>
              </a:ext>
            </a:extLst>
          </p:cNvPr>
          <p:cNvCxnSpPr>
            <a:cxnSpLocks/>
            <a:stCxn id="104" idx="3"/>
            <a:endCxn id="118" idx="1"/>
          </p:cNvCxnSpPr>
          <p:nvPr/>
        </p:nvCxnSpPr>
        <p:spPr>
          <a:xfrm flipV="1">
            <a:off x="8971067" y="21328377"/>
            <a:ext cx="2540168" cy="32015"/>
          </a:xfrm>
          <a:prstGeom prst="line">
            <a:avLst/>
          </a:prstGeom>
          <a:ln w="76200" cap="flat" cmpd="sng" algn="ctr">
            <a:solidFill>
              <a:srgbClr val="C00000"/>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26" name="Rectangle 125">
            <a:extLst>
              <a:ext uri="{FF2B5EF4-FFF2-40B4-BE49-F238E27FC236}">
                <a16:creationId xmlns:a16="http://schemas.microsoft.com/office/drawing/2014/main" id="{CEA0068B-065B-E217-C8D7-800B8B5344F6}"/>
              </a:ext>
            </a:extLst>
          </p:cNvPr>
          <p:cNvSpPr/>
          <p:nvPr/>
        </p:nvSpPr>
        <p:spPr>
          <a:xfrm>
            <a:off x="7441667" y="23599730"/>
            <a:ext cx="1011238" cy="1319514"/>
          </a:xfrm>
          <a:prstGeom prst="rect">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7" name="TextBox 126">
            <a:extLst>
              <a:ext uri="{FF2B5EF4-FFF2-40B4-BE49-F238E27FC236}">
                <a16:creationId xmlns:a16="http://schemas.microsoft.com/office/drawing/2014/main" id="{D1D8A9FD-55E9-CCB4-A479-61D61FBCAC69}"/>
              </a:ext>
            </a:extLst>
          </p:cNvPr>
          <p:cNvSpPr txBox="1"/>
          <p:nvPr/>
        </p:nvSpPr>
        <p:spPr>
          <a:xfrm rot="5400000">
            <a:off x="7610236" y="24304184"/>
            <a:ext cx="2217624" cy="477054"/>
          </a:xfrm>
          <a:prstGeom prst="rect">
            <a:avLst/>
          </a:prstGeom>
          <a:noFill/>
        </p:spPr>
        <p:txBody>
          <a:bodyPr wrap="square" rtlCol="0">
            <a:spAutoFit/>
          </a:bodyPr>
          <a:lstStyle/>
          <a:p>
            <a:r>
              <a:rPr lang="en-US" sz="2500" dirty="0"/>
              <a:t>Reference Cell</a:t>
            </a:r>
          </a:p>
        </p:txBody>
      </p:sp>
      <p:sp>
        <p:nvSpPr>
          <p:cNvPr id="128" name="TextBox 127">
            <a:extLst>
              <a:ext uri="{FF2B5EF4-FFF2-40B4-BE49-F238E27FC236}">
                <a16:creationId xmlns:a16="http://schemas.microsoft.com/office/drawing/2014/main" id="{FB85E625-69EE-3928-52E1-01A4BF7E58E6}"/>
              </a:ext>
            </a:extLst>
          </p:cNvPr>
          <p:cNvSpPr txBox="1"/>
          <p:nvPr/>
        </p:nvSpPr>
        <p:spPr>
          <a:xfrm>
            <a:off x="9157128" y="23601650"/>
            <a:ext cx="2351587" cy="1246495"/>
          </a:xfrm>
          <a:prstGeom prst="rect">
            <a:avLst/>
          </a:prstGeom>
          <a:noFill/>
        </p:spPr>
        <p:txBody>
          <a:bodyPr wrap="square" rtlCol="0">
            <a:spAutoFit/>
          </a:bodyPr>
          <a:lstStyle/>
          <a:p>
            <a:r>
              <a:rPr lang="en-US" sz="2500" dirty="0"/>
              <a:t>Isolation, </a:t>
            </a:r>
          </a:p>
          <a:p>
            <a:r>
              <a:rPr lang="en-US" sz="2500" dirty="0"/>
              <a:t>Mode Shaping, </a:t>
            </a:r>
          </a:p>
          <a:p>
            <a:r>
              <a:rPr lang="en-US" sz="2500" dirty="0"/>
              <a:t>and Collimation</a:t>
            </a:r>
          </a:p>
        </p:txBody>
      </p:sp>
      <p:sp>
        <p:nvSpPr>
          <p:cNvPr id="129" name="TextBox 128">
            <a:extLst>
              <a:ext uri="{FF2B5EF4-FFF2-40B4-BE49-F238E27FC236}">
                <a16:creationId xmlns:a16="http://schemas.microsoft.com/office/drawing/2014/main" id="{AEE1C587-AABF-659D-9698-1FDCC5B88EDC}"/>
              </a:ext>
            </a:extLst>
          </p:cNvPr>
          <p:cNvSpPr txBox="1"/>
          <p:nvPr/>
        </p:nvSpPr>
        <p:spPr>
          <a:xfrm>
            <a:off x="9204274" y="19966510"/>
            <a:ext cx="3359402" cy="861774"/>
          </a:xfrm>
          <a:prstGeom prst="rect">
            <a:avLst/>
          </a:prstGeom>
          <a:noFill/>
        </p:spPr>
        <p:txBody>
          <a:bodyPr wrap="square" rtlCol="0">
            <a:spAutoFit/>
          </a:bodyPr>
          <a:lstStyle/>
          <a:p>
            <a:r>
              <a:rPr lang="en-US" sz="2500" dirty="0"/>
              <a:t>Power Reduction </a:t>
            </a:r>
          </a:p>
          <a:p>
            <a:r>
              <a:rPr lang="en-US" sz="2500" dirty="0"/>
              <a:t>and Control</a:t>
            </a:r>
          </a:p>
        </p:txBody>
      </p:sp>
      <p:sp>
        <p:nvSpPr>
          <p:cNvPr id="130" name="TextBox 129">
            <a:extLst>
              <a:ext uri="{FF2B5EF4-FFF2-40B4-BE49-F238E27FC236}">
                <a16:creationId xmlns:a16="http://schemas.microsoft.com/office/drawing/2014/main" id="{EA85CEEC-65AC-3017-8366-C7C73A826986}"/>
              </a:ext>
            </a:extLst>
          </p:cNvPr>
          <p:cNvSpPr txBox="1"/>
          <p:nvPr/>
        </p:nvSpPr>
        <p:spPr>
          <a:xfrm>
            <a:off x="9439605" y="21574691"/>
            <a:ext cx="2120217" cy="861774"/>
          </a:xfrm>
          <a:prstGeom prst="rect">
            <a:avLst/>
          </a:prstGeom>
          <a:noFill/>
        </p:spPr>
        <p:txBody>
          <a:bodyPr wrap="square" rtlCol="0">
            <a:spAutoFit/>
          </a:bodyPr>
          <a:lstStyle/>
          <a:p>
            <a:r>
              <a:rPr lang="en-US" sz="2500" dirty="0"/>
              <a:t>To Other Systems</a:t>
            </a:r>
          </a:p>
        </p:txBody>
      </p:sp>
      <p:sp>
        <p:nvSpPr>
          <p:cNvPr id="131" name="TextBox 130">
            <a:extLst>
              <a:ext uri="{FF2B5EF4-FFF2-40B4-BE49-F238E27FC236}">
                <a16:creationId xmlns:a16="http://schemas.microsoft.com/office/drawing/2014/main" id="{7BB0DFFB-7F3A-D045-EE2C-973CC5F334A7}"/>
              </a:ext>
            </a:extLst>
          </p:cNvPr>
          <p:cNvSpPr txBox="1"/>
          <p:nvPr/>
        </p:nvSpPr>
        <p:spPr>
          <a:xfrm>
            <a:off x="4671443" y="20048923"/>
            <a:ext cx="1517756" cy="477054"/>
          </a:xfrm>
          <a:prstGeom prst="rect">
            <a:avLst/>
          </a:prstGeom>
          <a:noFill/>
        </p:spPr>
        <p:txBody>
          <a:bodyPr wrap="square" rtlCol="0">
            <a:spAutoFit/>
          </a:bodyPr>
          <a:lstStyle/>
          <a:p>
            <a:pPr algn="ctr"/>
            <a:r>
              <a:rPr lang="en-US" sz="2500" dirty="0"/>
              <a:t>Periscope</a:t>
            </a:r>
          </a:p>
        </p:txBody>
      </p:sp>
      <p:grpSp>
        <p:nvGrpSpPr>
          <p:cNvPr id="132" name="Group 131">
            <a:extLst>
              <a:ext uri="{FF2B5EF4-FFF2-40B4-BE49-F238E27FC236}">
                <a16:creationId xmlns:a16="http://schemas.microsoft.com/office/drawing/2014/main" id="{C25C97FE-4085-3D91-51AD-615682B87FFD}"/>
              </a:ext>
            </a:extLst>
          </p:cNvPr>
          <p:cNvGrpSpPr/>
          <p:nvPr/>
        </p:nvGrpSpPr>
        <p:grpSpPr>
          <a:xfrm rot="16200000">
            <a:off x="-1813667" y="24406235"/>
            <a:ext cx="10363200" cy="343228"/>
            <a:chOff x="23241000" y="18592799"/>
            <a:chExt cx="9067800" cy="1006891"/>
          </a:xfrm>
        </p:grpSpPr>
        <p:sp>
          <p:nvSpPr>
            <p:cNvPr id="133" name="Right Triangle 132">
              <a:extLst>
                <a:ext uri="{FF2B5EF4-FFF2-40B4-BE49-F238E27FC236}">
                  <a16:creationId xmlns:a16="http://schemas.microsoft.com/office/drawing/2014/main" id="{35E98770-62D3-CC47-A849-9777982315D1}"/>
                </a:ext>
              </a:extLst>
            </p:cNvPr>
            <p:cNvSpPr/>
            <p:nvPr/>
          </p:nvSpPr>
          <p:spPr>
            <a:xfrm>
              <a:off x="23241000" y="18592799"/>
              <a:ext cx="9067800" cy="405211"/>
            </a:xfrm>
            <a:prstGeom prst="rtTriangle">
              <a:avLst/>
            </a:prstGeom>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4" name="Right Triangle 133">
              <a:extLst>
                <a:ext uri="{FF2B5EF4-FFF2-40B4-BE49-F238E27FC236}">
                  <a16:creationId xmlns:a16="http://schemas.microsoft.com/office/drawing/2014/main" id="{246F054C-51B1-9AD0-1DE0-D911A3B845C0}"/>
                </a:ext>
              </a:extLst>
            </p:cNvPr>
            <p:cNvSpPr/>
            <p:nvPr/>
          </p:nvSpPr>
          <p:spPr>
            <a:xfrm flipV="1">
              <a:off x="23241000" y="19194479"/>
              <a:ext cx="9067800" cy="405211"/>
            </a:xfrm>
            <a:prstGeom prst="rtTriangle">
              <a:avLst/>
            </a:prstGeom>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5" name="Rectangle 134">
              <a:extLst>
                <a:ext uri="{FF2B5EF4-FFF2-40B4-BE49-F238E27FC236}">
                  <a16:creationId xmlns:a16="http://schemas.microsoft.com/office/drawing/2014/main" id="{1008C92C-23D4-9B90-6193-C9B42E1935DC}"/>
                </a:ext>
              </a:extLst>
            </p:cNvPr>
            <p:cNvSpPr/>
            <p:nvPr/>
          </p:nvSpPr>
          <p:spPr>
            <a:xfrm rot="5400000">
              <a:off x="27676664" y="14562346"/>
              <a:ext cx="196472" cy="9067800"/>
            </a:xfrm>
            <a:prstGeom prst="rect">
              <a:avLst/>
            </a:prstGeom>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36" name="TextBox 135">
            <a:extLst>
              <a:ext uri="{FF2B5EF4-FFF2-40B4-BE49-F238E27FC236}">
                <a16:creationId xmlns:a16="http://schemas.microsoft.com/office/drawing/2014/main" id="{A02184CF-B8D5-8346-5786-24CA86611510}"/>
              </a:ext>
            </a:extLst>
          </p:cNvPr>
          <p:cNvSpPr txBox="1"/>
          <p:nvPr/>
        </p:nvSpPr>
        <p:spPr>
          <a:xfrm rot="5400000">
            <a:off x="2777546" y="24881347"/>
            <a:ext cx="4344946" cy="477054"/>
          </a:xfrm>
          <a:prstGeom prst="rect">
            <a:avLst/>
          </a:prstGeom>
          <a:noFill/>
        </p:spPr>
        <p:txBody>
          <a:bodyPr wrap="square" rtlCol="0">
            <a:spAutoFit/>
          </a:bodyPr>
          <a:lstStyle/>
          <a:p>
            <a:r>
              <a:rPr lang="en-US" sz="2500" dirty="0"/>
              <a:t>Collimated Rb or Rb-</a:t>
            </a:r>
            <a:r>
              <a:rPr lang="en-US" sz="2500" dirty="0" err="1"/>
              <a:t>Ar</a:t>
            </a:r>
            <a:r>
              <a:rPr lang="en-US" sz="2500" dirty="0"/>
              <a:t> Beam</a:t>
            </a:r>
          </a:p>
        </p:txBody>
      </p:sp>
      <p:sp>
        <p:nvSpPr>
          <p:cNvPr id="137" name="TextBox 136">
            <a:extLst>
              <a:ext uri="{FF2B5EF4-FFF2-40B4-BE49-F238E27FC236}">
                <a16:creationId xmlns:a16="http://schemas.microsoft.com/office/drawing/2014/main" id="{FA96C749-23BC-972C-6519-C7A1C40EE95B}"/>
              </a:ext>
            </a:extLst>
          </p:cNvPr>
          <p:cNvSpPr txBox="1"/>
          <p:nvPr/>
        </p:nvSpPr>
        <p:spPr>
          <a:xfrm>
            <a:off x="6517940" y="19861235"/>
            <a:ext cx="2028852" cy="477054"/>
          </a:xfrm>
          <a:prstGeom prst="rect">
            <a:avLst/>
          </a:prstGeom>
          <a:noFill/>
        </p:spPr>
        <p:txBody>
          <a:bodyPr wrap="square" rtlCol="0">
            <a:spAutoFit/>
          </a:bodyPr>
          <a:lstStyle/>
          <a:p>
            <a:r>
              <a:rPr lang="en-US" sz="2500" dirty="0"/>
              <a:t>½ mm, </a:t>
            </a:r>
            <a:r>
              <a:rPr lang="en-US" sz="2500" dirty="0">
                <a:latin typeface="Lao UI" panose="020B0502040204020203" pitchFamily="34" charset="0"/>
                <a:cs typeface="Lao UI" panose="020B0502040204020203" pitchFamily="34" charset="0"/>
              </a:rPr>
              <a:t>≈</a:t>
            </a:r>
            <a:r>
              <a:rPr lang="en-US" sz="2500" dirty="0"/>
              <a:t>1</a:t>
            </a:r>
            <a:r>
              <a:rPr lang="en-US" sz="2500" dirty="0">
                <a:latin typeface="Lao UI" panose="020B0502040204020203" pitchFamily="34" charset="0"/>
                <a:cs typeface="Lao UI" panose="020B0502040204020203" pitchFamily="34" charset="0"/>
              </a:rPr>
              <a:t>µW</a:t>
            </a:r>
            <a:endParaRPr lang="en-US" sz="2500" dirty="0"/>
          </a:p>
        </p:txBody>
      </p:sp>
      <p:sp>
        <p:nvSpPr>
          <p:cNvPr id="138" name="TextBox 137">
            <a:extLst>
              <a:ext uri="{FF2B5EF4-FFF2-40B4-BE49-F238E27FC236}">
                <a16:creationId xmlns:a16="http://schemas.microsoft.com/office/drawing/2014/main" id="{024AAA60-87EA-FE0D-A1DB-DD96E3375CED}"/>
              </a:ext>
            </a:extLst>
          </p:cNvPr>
          <p:cNvSpPr txBox="1"/>
          <p:nvPr/>
        </p:nvSpPr>
        <p:spPr>
          <a:xfrm>
            <a:off x="9474066" y="25262689"/>
            <a:ext cx="2974486" cy="1246495"/>
          </a:xfrm>
          <a:prstGeom prst="rect">
            <a:avLst/>
          </a:prstGeom>
          <a:noFill/>
        </p:spPr>
        <p:txBody>
          <a:bodyPr wrap="square" rtlCol="0">
            <a:spAutoFit/>
          </a:bodyPr>
          <a:lstStyle/>
          <a:p>
            <a:r>
              <a:rPr lang="en-US" sz="2500" dirty="0"/>
              <a:t>Frequency Modulated </a:t>
            </a:r>
          </a:p>
          <a:p>
            <a:r>
              <a:rPr lang="en-US" sz="2500" dirty="0"/>
              <a:t>TOPTICA DL Pro</a:t>
            </a:r>
          </a:p>
        </p:txBody>
      </p:sp>
      <p:pic>
        <p:nvPicPr>
          <p:cNvPr id="142" name="Picture 141" descr="A white rectangular object with black background&#10;&#10;AI-generated content may be incorrect.">
            <a:extLst>
              <a:ext uri="{FF2B5EF4-FFF2-40B4-BE49-F238E27FC236}">
                <a16:creationId xmlns:a16="http://schemas.microsoft.com/office/drawing/2014/main" id="{1CEC377D-03C3-0320-48F2-D6F7C8EEE181}"/>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5046091" y="20889105"/>
            <a:ext cx="344686" cy="937238"/>
          </a:xfrm>
          <a:prstGeom prst="rect">
            <a:avLst/>
          </a:prstGeom>
        </p:spPr>
      </p:pic>
      <p:pic>
        <p:nvPicPr>
          <p:cNvPr id="150" name="Picture 149" descr="A red and black circle&#10;&#10;AI-generated content may be incorrect.">
            <a:extLst>
              <a:ext uri="{FF2B5EF4-FFF2-40B4-BE49-F238E27FC236}">
                <a16:creationId xmlns:a16="http://schemas.microsoft.com/office/drawing/2014/main" id="{D3DEC65A-5D3A-9047-05C4-EFBC2F844839}"/>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rot="10800000">
            <a:off x="1270995" y="21036850"/>
            <a:ext cx="458673" cy="657659"/>
          </a:xfrm>
          <a:prstGeom prst="rect">
            <a:avLst/>
          </a:prstGeom>
        </p:spPr>
      </p:pic>
      <p:sp>
        <p:nvSpPr>
          <p:cNvPr id="152" name="TextBox 151">
            <a:extLst>
              <a:ext uri="{FF2B5EF4-FFF2-40B4-BE49-F238E27FC236}">
                <a16:creationId xmlns:a16="http://schemas.microsoft.com/office/drawing/2014/main" id="{9EFB52EB-4858-00B0-CC70-EAC861DE9510}"/>
              </a:ext>
            </a:extLst>
          </p:cNvPr>
          <p:cNvSpPr txBox="1"/>
          <p:nvPr/>
        </p:nvSpPr>
        <p:spPr>
          <a:xfrm>
            <a:off x="4891291" y="28711225"/>
            <a:ext cx="1792986" cy="477054"/>
          </a:xfrm>
          <a:prstGeom prst="rect">
            <a:avLst/>
          </a:prstGeom>
          <a:noFill/>
        </p:spPr>
        <p:txBody>
          <a:bodyPr wrap="square" rtlCol="0">
            <a:spAutoFit/>
          </a:bodyPr>
          <a:lstStyle/>
          <a:p>
            <a:r>
              <a:rPr lang="en-US" sz="2500" dirty="0"/>
              <a:t>Periscope</a:t>
            </a:r>
          </a:p>
        </p:txBody>
      </p:sp>
      <p:sp>
        <p:nvSpPr>
          <p:cNvPr id="153" name="TextBox 152">
            <a:extLst>
              <a:ext uri="{FF2B5EF4-FFF2-40B4-BE49-F238E27FC236}">
                <a16:creationId xmlns:a16="http://schemas.microsoft.com/office/drawing/2014/main" id="{E232A5A2-BD68-C425-45F4-D4F0329E1BB9}"/>
              </a:ext>
            </a:extLst>
          </p:cNvPr>
          <p:cNvSpPr txBox="1"/>
          <p:nvPr/>
        </p:nvSpPr>
        <p:spPr>
          <a:xfrm>
            <a:off x="6573672" y="25759832"/>
            <a:ext cx="1798776" cy="477054"/>
          </a:xfrm>
          <a:prstGeom prst="rect">
            <a:avLst/>
          </a:prstGeom>
          <a:noFill/>
        </p:spPr>
        <p:txBody>
          <a:bodyPr wrap="square" rtlCol="0">
            <a:spAutoFit/>
          </a:bodyPr>
          <a:lstStyle/>
          <a:p>
            <a:r>
              <a:rPr lang="en-US" sz="2500" dirty="0"/>
              <a:t>Balanced PD</a:t>
            </a:r>
          </a:p>
        </p:txBody>
      </p:sp>
      <p:pic>
        <p:nvPicPr>
          <p:cNvPr id="155" name="Picture 154">
            <a:extLst>
              <a:ext uri="{FF2B5EF4-FFF2-40B4-BE49-F238E27FC236}">
                <a16:creationId xmlns:a16="http://schemas.microsoft.com/office/drawing/2014/main" id="{E8A44380-E042-B0DE-F176-0A11B6D3A079}"/>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6950025" y="26275862"/>
            <a:ext cx="1198558" cy="517025"/>
          </a:xfrm>
          <a:prstGeom prst="rect">
            <a:avLst/>
          </a:prstGeom>
        </p:spPr>
      </p:pic>
      <p:sp>
        <p:nvSpPr>
          <p:cNvPr id="156" name="TextBox 155">
            <a:extLst>
              <a:ext uri="{FF2B5EF4-FFF2-40B4-BE49-F238E27FC236}">
                <a16:creationId xmlns:a16="http://schemas.microsoft.com/office/drawing/2014/main" id="{D8DA115E-E6A0-A0FD-D5B4-80B76BF88F25}"/>
              </a:ext>
            </a:extLst>
          </p:cNvPr>
          <p:cNvSpPr txBox="1"/>
          <p:nvPr/>
        </p:nvSpPr>
        <p:spPr>
          <a:xfrm>
            <a:off x="8012142" y="26300877"/>
            <a:ext cx="1160625" cy="477054"/>
          </a:xfrm>
          <a:prstGeom prst="rect">
            <a:avLst/>
          </a:prstGeom>
          <a:noFill/>
        </p:spPr>
        <p:txBody>
          <a:bodyPr wrap="square" rtlCol="0">
            <a:spAutoFit/>
          </a:bodyPr>
          <a:lstStyle/>
          <a:p>
            <a:pPr algn="ctr"/>
            <a:r>
              <a:rPr lang="en-US" sz="2500" dirty="0"/>
              <a:t>Scope</a:t>
            </a:r>
          </a:p>
        </p:txBody>
      </p:sp>
      <p:sp>
        <p:nvSpPr>
          <p:cNvPr id="157" name="Right Brace 156">
            <a:extLst>
              <a:ext uri="{FF2B5EF4-FFF2-40B4-BE49-F238E27FC236}">
                <a16:creationId xmlns:a16="http://schemas.microsoft.com/office/drawing/2014/main" id="{DB85C702-B1B0-F771-A5B9-F7C95816B905}"/>
              </a:ext>
            </a:extLst>
          </p:cNvPr>
          <p:cNvSpPr/>
          <p:nvPr/>
        </p:nvSpPr>
        <p:spPr>
          <a:xfrm rot="16200000">
            <a:off x="9904211" y="20033078"/>
            <a:ext cx="497004" cy="1995813"/>
          </a:xfrm>
          <a:prstGeom prst="rightBrace">
            <a:avLst>
              <a:gd name="adj1" fmla="val 39705"/>
              <a:gd name="adj2" fmla="val 45606"/>
            </a:avLst>
          </a:prstGeom>
          <a:ln w="381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schemeClr val="bg1"/>
              </a:solidFill>
            </a:endParaRPr>
          </a:p>
        </p:txBody>
      </p:sp>
      <p:sp>
        <p:nvSpPr>
          <p:cNvPr id="158" name="Right Brace 157">
            <a:extLst>
              <a:ext uri="{FF2B5EF4-FFF2-40B4-BE49-F238E27FC236}">
                <a16:creationId xmlns:a16="http://schemas.microsoft.com/office/drawing/2014/main" id="{E2E41A03-A70E-E712-8041-A4B76D86475D}"/>
              </a:ext>
            </a:extLst>
          </p:cNvPr>
          <p:cNvSpPr/>
          <p:nvPr/>
        </p:nvSpPr>
        <p:spPr>
          <a:xfrm rot="16200000">
            <a:off x="9888788" y="21615676"/>
            <a:ext cx="381645" cy="1836838"/>
          </a:xfrm>
          <a:prstGeom prst="rightBrace">
            <a:avLst>
              <a:gd name="adj1" fmla="val 35362"/>
              <a:gd name="adj2" fmla="val 47240"/>
            </a:avLst>
          </a:prstGeom>
          <a:ln w="381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schemeClr val="bg1"/>
              </a:solidFill>
            </a:endParaRPr>
          </a:p>
        </p:txBody>
      </p:sp>
      <p:sp>
        <p:nvSpPr>
          <p:cNvPr id="159" name="Right Brace 158">
            <a:extLst>
              <a:ext uri="{FF2B5EF4-FFF2-40B4-BE49-F238E27FC236}">
                <a16:creationId xmlns:a16="http://schemas.microsoft.com/office/drawing/2014/main" id="{45866A4E-E67E-A802-5277-8C34B049564D}"/>
              </a:ext>
            </a:extLst>
          </p:cNvPr>
          <p:cNvSpPr/>
          <p:nvPr/>
        </p:nvSpPr>
        <p:spPr>
          <a:xfrm flipH="1">
            <a:off x="11150619" y="23527615"/>
            <a:ext cx="345214" cy="1163159"/>
          </a:xfrm>
          <a:prstGeom prst="rightBrace">
            <a:avLst>
              <a:gd name="adj1" fmla="val 26945"/>
              <a:gd name="adj2" fmla="val 52283"/>
            </a:avLst>
          </a:prstGeom>
          <a:ln w="381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schemeClr val="bg1"/>
              </a:solidFill>
            </a:endParaRPr>
          </a:p>
        </p:txBody>
      </p:sp>
      <p:cxnSp>
        <p:nvCxnSpPr>
          <p:cNvPr id="160" name="Straight Arrow Connector 159">
            <a:extLst>
              <a:ext uri="{FF2B5EF4-FFF2-40B4-BE49-F238E27FC236}">
                <a16:creationId xmlns:a16="http://schemas.microsoft.com/office/drawing/2014/main" id="{D774AB46-C1A5-53A9-5FB1-CA5AA873E9C3}"/>
              </a:ext>
            </a:extLst>
          </p:cNvPr>
          <p:cNvCxnSpPr>
            <a:cxnSpLocks/>
            <a:endCxn id="133" idx="5"/>
          </p:cNvCxnSpPr>
          <p:nvPr/>
        </p:nvCxnSpPr>
        <p:spPr>
          <a:xfrm flipH="1">
            <a:off x="3265383" y="24577849"/>
            <a:ext cx="1353246" cy="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sp>
        <p:nvSpPr>
          <p:cNvPr id="161" name="TextBox 160">
            <a:extLst>
              <a:ext uri="{FF2B5EF4-FFF2-40B4-BE49-F238E27FC236}">
                <a16:creationId xmlns:a16="http://schemas.microsoft.com/office/drawing/2014/main" id="{9C0A3A4E-3A02-05F4-0FF7-CA4859769C1E}"/>
              </a:ext>
            </a:extLst>
          </p:cNvPr>
          <p:cNvSpPr txBox="1"/>
          <p:nvPr/>
        </p:nvSpPr>
        <p:spPr>
          <a:xfrm>
            <a:off x="8480696" y="21845167"/>
            <a:ext cx="1135427" cy="477054"/>
          </a:xfrm>
          <a:prstGeom prst="rect">
            <a:avLst/>
          </a:prstGeom>
          <a:noFill/>
        </p:spPr>
        <p:txBody>
          <a:bodyPr wrap="square" rtlCol="0">
            <a:spAutoFit/>
          </a:bodyPr>
          <a:lstStyle/>
          <a:p>
            <a:r>
              <a:rPr lang="el-GR" sz="2500" dirty="0">
                <a:cs typeface="Lao UI" panose="020B0502040204020203" pitchFamily="34" charset="0"/>
              </a:rPr>
              <a:t>λ</a:t>
            </a:r>
            <a:r>
              <a:rPr lang="en-US" sz="2500" dirty="0">
                <a:cs typeface="Lao UI" panose="020B0502040204020203" pitchFamily="34" charset="0"/>
              </a:rPr>
              <a:t>/2</a:t>
            </a:r>
            <a:endParaRPr lang="en-US" sz="2500" dirty="0"/>
          </a:p>
        </p:txBody>
      </p:sp>
      <p:sp>
        <p:nvSpPr>
          <p:cNvPr id="162" name="TextBox 161">
            <a:extLst>
              <a:ext uri="{FF2B5EF4-FFF2-40B4-BE49-F238E27FC236}">
                <a16:creationId xmlns:a16="http://schemas.microsoft.com/office/drawing/2014/main" id="{6162AE70-BE64-98D0-9CDD-3646C9B76327}"/>
              </a:ext>
            </a:extLst>
          </p:cNvPr>
          <p:cNvSpPr txBox="1"/>
          <p:nvPr/>
        </p:nvSpPr>
        <p:spPr>
          <a:xfrm>
            <a:off x="10512082" y="23134031"/>
            <a:ext cx="1135427" cy="477054"/>
          </a:xfrm>
          <a:prstGeom prst="rect">
            <a:avLst/>
          </a:prstGeom>
          <a:noFill/>
        </p:spPr>
        <p:txBody>
          <a:bodyPr wrap="square" rtlCol="0">
            <a:spAutoFit/>
          </a:bodyPr>
          <a:lstStyle/>
          <a:p>
            <a:r>
              <a:rPr lang="el-GR" sz="2500" dirty="0">
                <a:cs typeface="Lao UI" panose="020B0502040204020203" pitchFamily="34" charset="0"/>
              </a:rPr>
              <a:t>λ</a:t>
            </a:r>
            <a:r>
              <a:rPr lang="en-US" sz="2500" dirty="0">
                <a:cs typeface="Lao UI" panose="020B0502040204020203" pitchFamily="34" charset="0"/>
              </a:rPr>
              <a:t>/2</a:t>
            </a:r>
            <a:endParaRPr lang="en-US" sz="2500" dirty="0"/>
          </a:p>
        </p:txBody>
      </p:sp>
      <p:sp>
        <p:nvSpPr>
          <p:cNvPr id="163" name="TextBox 162">
            <a:extLst>
              <a:ext uri="{FF2B5EF4-FFF2-40B4-BE49-F238E27FC236}">
                <a16:creationId xmlns:a16="http://schemas.microsoft.com/office/drawing/2014/main" id="{3BF178C3-A937-A13B-283A-A0932B32B8B9}"/>
              </a:ext>
            </a:extLst>
          </p:cNvPr>
          <p:cNvSpPr txBox="1"/>
          <p:nvPr/>
        </p:nvSpPr>
        <p:spPr>
          <a:xfrm>
            <a:off x="6699673" y="20426276"/>
            <a:ext cx="799686" cy="477054"/>
          </a:xfrm>
          <a:prstGeom prst="rect">
            <a:avLst/>
          </a:prstGeom>
          <a:noFill/>
        </p:spPr>
        <p:txBody>
          <a:bodyPr wrap="square" rtlCol="0">
            <a:spAutoFit/>
          </a:bodyPr>
          <a:lstStyle/>
          <a:p>
            <a:r>
              <a:rPr lang="el-GR" sz="2500" dirty="0">
                <a:cs typeface="Lao UI" panose="020B0502040204020203" pitchFamily="34" charset="0"/>
              </a:rPr>
              <a:t>λ</a:t>
            </a:r>
            <a:r>
              <a:rPr lang="en-US" sz="2500" dirty="0">
                <a:cs typeface="Lao UI" panose="020B0502040204020203" pitchFamily="34" charset="0"/>
              </a:rPr>
              <a:t>/2</a:t>
            </a:r>
            <a:endParaRPr lang="en-US" sz="2500" dirty="0"/>
          </a:p>
        </p:txBody>
      </p:sp>
      <p:cxnSp>
        <p:nvCxnSpPr>
          <p:cNvPr id="164" name="Straight Arrow Connector 163">
            <a:extLst>
              <a:ext uri="{FF2B5EF4-FFF2-40B4-BE49-F238E27FC236}">
                <a16:creationId xmlns:a16="http://schemas.microsoft.com/office/drawing/2014/main" id="{4EB7B462-7D07-7AF6-6CC7-A98FB8CF3C5C}"/>
              </a:ext>
            </a:extLst>
          </p:cNvPr>
          <p:cNvCxnSpPr>
            <a:cxnSpLocks/>
            <a:stCxn id="137" idx="2"/>
          </p:cNvCxnSpPr>
          <p:nvPr/>
        </p:nvCxnSpPr>
        <p:spPr>
          <a:xfrm>
            <a:off x="7532366" y="20338289"/>
            <a:ext cx="14862" cy="92267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sp>
        <p:nvSpPr>
          <p:cNvPr id="165" name="Rectangle 164">
            <a:extLst>
              <a:ext uri="{FF2B5EF4-FFF2-40B4-BE49-F238E27FC236}">
                <a16:creationId xmlns:a16="http://schemas.microsoft.com/office/drawing/2014/main" id="{B011F8BB-456A-5199-6C4A-9898E4D39371}"/>
              </a:ext>
            </a:extLst>
          </p:cNvPr>
          <p:cNvSpPr/>
          <p:nvPr/>
        </p:nvSpPr>
        <p:spPr>
          <a:xfrm>
            <a:off x="6570607" y="27062346"/>
            <a:ext cx="5888052" cy="469326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pic>
        <p:nvPicPr>
          <p:cNvPr id="166" name="Picture 165" descr="A grey metal object with four parts&#10;&#10;AI-generated content may be incorrect.">
            <a:extLst>
              <a:ext uri="{FF2B5EF4-FFF2-40B4-BE49-F238E27FC236}">
                <a16:creationId xmlns:a16="http://schemas.microsoft.com/office/drawing/2014/main" id="{D9E6D9B4-4A03-2DBB-6719-F2F0800A73E4}"/>
              </a:ext>
            </a:extLst>
          </p:cNvPr>
          <p:cNvPicPr>
            <a:picLocks noChangeAspect="1"/>
          </p:cNvPicPr>
          <p:nvPr/>
        </p:nvPicPr>
        <p:blipFill>
          <a:blip r:embed="rId14">
            <a:extLst>
              <a:ext uri="{28A0092B-C50C-407E-A947-70E740481C1C}">
                <a14:useLocalDpi xmlns:a14="http://schemas.microsoft.com/office/drawing/2010/main" val="0"/>
              </a:ext>
            </a:extLst>
          </a:blip>
          <a:srcRect l="19757" t="40658" r="19705" b="37334"/>
          <a:stretch>
            <a:fillRect/>
          </a:stretch>
        </p:blipFill>
        <p:spPr>
          <a:xfrm>
            <a:off x="7466993" y="27713147"/>
            <a:ext cx="3322729" cy="2853502"/>
          </a:xfrm>
          <a:prstGeom prst="rect">
            <a:avLst/>
          </a:prstGeom>
        </p:spPr>
      </p:pic>
      <p:pic>
        <p:nvPicPr>
          <p:cNvPr id="167" name="Picture 166" descr="A white rectangular object with black background&#10;&#10;AI-generated content may be incorrect.">
            <a:extLst>
              <a:ext uri="{FF2B5EF4-FFF2-40B4-BE49-F238E27FC236}">
                <a16:creationId xmlns:a16="http://schemas.microsoft.com/office/drawing/2014/main" id="{94F0BFD9-76D8-7578-58EB-4E11C304DE33}"/>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rot="19097590">
            <a:off x="11552897" y="27817318"/>
            <a:ext cx="344686" cy="937238"/>
          </a:xfrm>
          <a:prstGeom prst="rect">
            <a:avLst/>
          </a:prstGeom>
        </p:spPr>
      </p:pic>
      <p:pic>
        <p:nvPicPr>
          <p:cNvPr id="169" name="Picture 168" descr="A white rectangular object with black background&#10;&#10;AI-generated content may be incorrect.">
            <a:extLst>
              <a:ext uri="{FF2B5EF4-FFF2-40B4-BE49-F238E27FC236}">
                <a16:creationId xmlns:a16="http://schemas.microsoft.com/office/drawing/2014/main" id="{DDD9FE46-6AE8-009D-DB30-013E03202E77}"/>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rot="8370515">
            <a:off x="11312151" y="30033890"/>
            <a:ext cx="344686" cy="937238"/>
          </a:xfrm>
          <a:prstGeom prst="rect">
            <a:avLst/>
          </a:prstGeom>
        </p:spPr>
      </p:pic>
      <p:cxnSp>
        <p:nvCxnSpPr>
          <p:cNvPr id="170" name="Straight Connector 169">
            <a:extLst>
              <a:ext uri="{FF2B5EF4-FFF2-40B4-BE49-F238E27FC236}">
                <a16:creationId xmlns:a16="http://schemas.microsoft.com/office/drawing/2014/main" id="{F4283F63-40ED-3FD7-AB99-F8E0D5A58CA9}"/>
              </a:ext>
            </a:extLst>
          </p:cNvPr>
          <p:cNvCxnSpPr>
            <a:cxnSpLocks/>
            <a:stCxn id="169" idx="1"/>
            <a:endCxn id="167" idx="1"/>
          </p:cNvCxnSpPr>
          <p:nvPr/>
        </p:nvCxnSpPr>
        <p:spPr>
          <a:xfrm flipH="1" flipV="1">
            <a:off x="11596576" y="28400600"/>
            <a:ext cx="18985" cy="1990001"/>
          </a:xfrm>
          <a:prstGeom prst="line">
            <a:avLst/>
          </a:prstGeom>
          <a:ln>
            <a:solidFill>
              <a:srgbClr val="C00000"/>
            </a:solidFill>
          </a:ln>
        </p:spPr>
        <p:style>
          <a:lnRef idx="3">
            <a:schemeClr val="accent5"/>
          </a:lnRef>
          <a:fillRef idx="0">
            <a:schemeClr val="accent5"/>
          </a:fillRef>
          <a:effectRef idx="2">
            <a:schemeClr val="accent5"/>
          </a:effectRef>
          <a:fontRef idx="minor">
            <a:schemeClr val="tx1"/>
          </a:fontRef>
        </p:style>
      </p:cxnSp>
      <p:cxnSp>
        <p:nvCxnSpPr>
          <p:cNvPr id="171" name="Straight Connector 170">
            <a:extLst>
              <a:ext uri="{FF2B5EF4-FFF2-40B4-BE49-F238E27FC236}">
                <a16:creationId xmlns:a16="http://schemas.microsoft.com/office/drawing/2014/main" id="{CDAE1DD9-73C3-FC30-40DE-A5A89042B939}"/>
              </a:ext>
            </a:extLst>
          </p:cNvPr>
          <p:cNvCxnSpPr>
            <a:cxnSpLocks/>
            <a:stCxn id="169" idx="1"/>
          </p:cNvCxnSpPr>
          <p:nvPr/>
        </p:nvCxnSpPr>
        <p:spPr>
          <a:xfrm>
            <a:off x="11615561" y="30390601"/>
            <a:ext cx="802611" cy="0"/>
          </a:xfrm>
          <a:prstGeom prst="line">
            <a:avLst/>
          </a:prstGeom>
          <a:ln w="38100" cap="flat" cmpd="sng" algn="ctr">
            <a:solidFill>
              <a:srgbClr val="C00000"/>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72" name="Straight Arrow Connector 171">
            <a:extLst>
              <a:ext uri="{FF2B5EF4-FFF2-40B4-BE49-F238E27FC236}">
                <a16:creationId xmlns:a16="http://schemas.microsoft.com/office/drawing/2014/main" id="{68C0BF24-59F8-F647-2E48-30B008AA86FC}"/>
              </a:ext>
            </a:extLst>
          </p:cNvPr>
          <p:cNvCxnSpPr>
            <a:cxnSpLocks/>
          </p:cNvCxnSpPr>
          <p:nvPr/>
        </p:nvCxnSpPr>
        <p:spPr>
          <a:xfrm>
            <a:off x="10931388" y="28371336"/>
            <a:ext cx="0" cy="636079"/>
          </a:xfrm>
          <a:prstGeom prst="straightConnector1">
            <a:avLst/>
          </a:prstGeom>
          <a:ln w="38100" cap="flat" cmpd="sng" algn="ctr">
            <a:solidFill>
              <a:schemeClr val="tx1"/>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sp>
        <p:nvSpPr>
          <p:cNvPr id="174" name="TextBox 173">
            <a:extLst>
              <a:ext uri="{FF2B5EF4-FFF2-40B4-BE49-F238E27FC236}">
                <a16:creationId xmlns:a16="http://schemas.microsoft.com/office/drawing/2014/main" id="{E0394A65-4C82-8519-DDAD-3AB840FBA8FE}"/>
              </a:ext>
            </a:extLst>
          </p:cNvPr>
          <p:cNvSpPr txBox="1"/>
          <p:nvPr/>
        </p:nvSpPr>
        <p:spPr>
          <a:xfrm>
            <a:off x="10894743" y="28419075"/>
            <a:ext cx="671803" cy="553998"/>
          </a:xfrm>
          <a:prstGeom prst="rect">
            <a:avLst/>
          </a:prstGeom>
          <a:noFill/>
        </p:spPr>
        <p:txBody>
          <a:bodyPr wrap="square" rtlCol="0">
            <a:spAutoFit/>
          </a:bodyPr>
          <a:lstStyle/>
          <a:p>
            <a:pPr algn="ctr"/>
            <a:r>
              <a:rPr lang="en-US" sz="3000" dirty="0">
                <a:latin typeface="Lao UI" panose="020B0502040204020203" pitchFamily="34" charset="0"/>
                <a:cs typeface="Lao UI" panose="020B0502040204020203" pitchFamily="34" charset="0"/>
              </a:rPr>
              <a:t>∆y</a:t>
            </a:r>
            <a:endParaRPr lang="en-US" sz="3000" dirty="0"/>
          </a:p>
        </p:txBody>
      </p:sp>
      <p:cxnSp>
        <p:nvCxnSpPr>
          <p:cNvPr id="175" name="Straight Arrow Connector 174">
            <a:extLst>
              <a:ext uri="{FF2B5EF4-FFF2-40B4-BE49-F238E27FC236}">
                <a16:creationId xmlns:a16="http://schemas.microsoft.com/office/drawing/2014/main" id="{EEA207B9-FFF0-34DD-1E6B-37F94896B778}"/>
              </a:ext>
            </a:extLst>
          </p:cNvPr>
          <p:cNvCxnSpPr>
            <a:cxnSpLocks/>
          </p:cNvCxnSpPr>
          <p:nvPr/>
        </p:nvCxnSpPr>
        <p:spPr>
          <a:xfrm>
            <a:off x="6699673" y="27612470"/>
            <a:ext cx="0" cy="1517732"/>
          </a:xfrm>
          <a:prstGeom prst="straightConnector1">
            <a:avLst/>
          </a:prstGeom>
          <a:ln w="38100" cap="flat" cmpd="sng" algn="ctr">
            <a:solidFill>
              <a:schemeClr val="tx1"/>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cxnSp>
        <p:nvCxnSpPr>
          <p:cNvPr id="176" name="Straight Connector 175">
            <a:extLst>
              <a:ext uri="{FF2B5EF4-FFF2-40B4-BE49-F238E27FC236}">
                <a16:creationId xmlns:a16="http://schemas.microsoft.com/office/drawing/2014/main" id="{F042C218-2E86-80A8-4CC2-2A6DD2B625F7}"/>
              </a:ext>
            </a:extLst>
          </p:cNvPr>
          <p:cNvCxnSpPr>
            <a:cxnSpLocks/>
          </p:cNvCxnSpPr>
          <p:nvPr/>
        </p:nvCxnSpPr>
        <p:spPr>
          <a:xfrm flipV="1">
            <a:off x="7194691" y="29087228"/>
            <a:ext cx="4268204" cy="41943"/>
          </a:xfrm>
          <a:prstGeom prst="line">
            <a:avLst/>
          </a:prstGeom>
          <a:ln w="38100"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77" name="Straight Connector 176">
            <a:extLst>
              <a:ext uri="{FF2B5EF4-FFF2-40B4-BE49-F238E27FC236}">
                <a16:creationId xmlns:a16="http://schemas.microsoft.com/office/drawing/2014/main" id="{03AB4A38-CA92-883A-AE1E-39DB6A069874}"/>
              </a:ext>
            </a:extLst>
          </p:cNvPr>
          <p:cNvCxnSpPr>
            <a:cxnSpLocks/>
            <a:stCxn id="347" idx="1"/>
            <a:endCxn id="167" idx="1"/>
          </p:cNvCxnSpPr>
          <p:nvPr/>
        </p:nvCxnSpPr>
        <p:spPr>
          <a:xfrm>
            <a:off x="7289792" y="28390213"/>
            <a:ext cx="4306784" cy="10387"/>
          </a:xfrm>
          <a:prstGeom prst="line">
            <a:avLst/>
          </a:prstGeom>
          <a:ln>
            <a:solidFill>
              <a:srgbClr val="C00000"/>
            </a:solidFill>
          </a:ln>
        </p:spPr>
        <p:style>
          <a:lnRef idx="3">
            <a:schemeClr val="accent5"/>
          </a:lnRef>
          <a:fillRef idx="0">
            <a:schemeClr val="accent5"/>
          </a:fillRef>
          <a:effectRef idx="2">
            <a:schemeClr val="accent5"/>
          </a:effectRef>
          <a:fontRef idx="minor">
            <a:schemeClr val="tx1"/>
          </a:fontRef>
        </p:style>
      </p:cxnSp>
      <p:sp>
        <p:nvSpPr>
          <p:cNvPr id="178" name="TextBox 177">
            <a:extLst>
              <a:ext uri="{FF2B5EF4-FFF2-40B4-BE49-F238E27FC236}">
                <a16:creationId xmlns:a16="http://schemas.microsoft.com/office/drawing/2014/main" id="{1672A840-6141-6984-3AF2-912E22267D0C}"/>
              </a:ext>
            </a:extLst>
          </p:cNvPr>
          <p:cNvSpPr txBox="1"/>
          <p:nvPr/>
        </p:nvSpPr>
        <p:spPr>
          <a:xfrm>
            <a:off x="6570607" y="27057514"/>
            <a:ext cx="2559857" cy="646331"/>
          </a:xfrm>
          <a:prstGeom prst="rect">
            <a:avLst/>
          </a:prstGeom>
          <a:noFill/>
        </p:spPr>
        <p:txBody>
          <a:bodyPr wrap="square" rtlCol="0">
            <a:spAutoFit/>
          </a:bodyPr>
          <a:lstStyle/>
          <a:p>
            <a:r>
              <a:rPr lang="en-US" sz="3600" b="1" u="sng" dirty="0"/>
              <a:t>Periscope</a:t>
            </a:r>
          </a:p>
        </p:txBody>
      </p:sp>
      <p:cxnSp>
        <p:nvCxnSpPr>
          <p:cNvPr id="179" name="Straight Arrow Connector 178">
            <a:extLst>
              <a:ext uri="{FF2B5EF4-FFF2-40B4-BE49-F238E27FC236}">
                <a16:creationId xmlns:a16="http://schemas.microsoft.com/office/drawing/2014/main" id="{1D1C2AF2-2D51-2914-A8C7-4E4D37840D88}"/>
              </a:ext>
            </a:extLst>
          </p:cNvPr>
          <p:cNvCxnSpPr>
            <a:cxnSpLocks/>
          </p:cNvCxnSpPr>
          <p:nvPr/>
        </p:nvCxnSpPr>
        <p:spPr>
          <a:xfrm>
            <a:off x="12254084" y="27577124"/>
            <a:ext cx="0" cy="1531075"/>
          </a:xfrm>
          <a:prstGeom prst="straightConnector1">
            <a:avLst/>
          </a:prstGeom>
          <a:ln w="38100" cap="flat" cmpd="sng" algn="ctr">
            <a:solidFill>
              <a:schemeClr val="tx1"/>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sp>
        <p:nvSpPr>
          <p:cNvPr id="180" name="TextBox 179">
            <a:extLst>
              <a:ext uri="{FF2B5EF4-FFF2-40B4-BE49-F238E27FC236}">
                <a16:creationId xmlns:a16="http://schemas.microsoft.com/office/drawing/2014/main" id="{166B3760-FE5A-6B13-09A3-0DC08586E74C}"/>
              </a:ext>
            </a:extLst>
          </p:cNvPr>
          <p:cNvSpPr txBox="1"/>
          <p:nvPr/>
        </p:nvSpPr>
        <p:spPr>
          <a:xfrm>
            <a:off x="6550544" y="30522686"/>
            <a:ext cx="5885432" cy="1246495"/>
          </a:xfrm>
          <a:prstGeom prst="rect">
            <a:avLst/>
          </a:prstGeom>
          <a:noFill/>
        </p:spPr>
        <p:txBody>
          <a:bodyPr wrap="square" rtlCol="0">
            <a:spAutoFit/>
          </a:bodyPr>
          <a:lstStyle/>
          <a:p>
            <a:r>
              <a:rPr lang="en-US" sz="2500" dirty="0"/>
              <a:t>Translation stages move PD and top periscope mirror, allowing vertical absorption scans of Rb beam</a:t>
            </a:r>
          </a:p>
        </p:txBody>
      </p:sp>
      <p:pic>
        <p:nvPicPr>
          <p:cNvPr id="197" name="Picture 196" descr="A red and black circle&#10;&#10;AI-generated content may be incorrect.">
            <a:extLst>
              <a:ext uri="{FF2B5EF4-FFF2-40B4-BE49-F238E27FC236}">
                <a16:creationId xmlns:a16="http://schemas.microsoft.com/office/drawing/2014/main" id="{BEA19DFB-CD1A-F4E3-FF79-71F3E22CF2E8}"/>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rot="10800000">
            <a:off x="1270995" y="27804217"/>
            <a:ext cx="458673" cy="657659"/>
          </a:xfrm>
          <a:prstGeom prst="rect">
            <a:avLst/>
          </a:prstGeom>
        </p:spPr>
      </p:pic>
      <p:pic>
        <p:nvPicPr>
          <p:cNvPr id="199" name="Picture 198" descr="A red and black circle&#10;&#10;AI-generated content may be incorrect.">
            <a:extLst>
              <a:ext uri="{FF2B5EF4-FFF2-40B4-BE49-F238E27FC236}">
                <a16:creationId xmlns:a16="http://schemas.microsoft.com/office/drawing/2014/main" id="{00EDEB93-A468-6802-BEFB-5BA31F597995}"/>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rot="5400000">
            <a:off x="6801747" y="25279799"/>
            <a:ext cx="458673" cy="657659"/>
          </a:xfrm>
          <a:prstGeom prst="rect">
            <a:avLst/>
          </a:prstGeom>
        </p:spPr>
      </p:pic>
      <p:pic>
        <p:nvPicPr>
          <p:cNvPr id="202" name="Picture 201" descr="A red and black circle&#10;&#10;AI-generated content may be incorrect.">
            <a:extLst>
              <a:ext uri="{FF2B5EF4-FFF2-40B4-BE49-F238E27FC236}">
                <a16:creationId xmlns:a16="http://schemas.microsoft.com/office/drawing/2014/main" id="{83BD2ACA-A869-69BD-871A-4087980F0628}"/>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rot="5400000">
            <a:off x="7734694" y="25300245"/>
            <a:ext cx="458673" cy="657659"/>
          </a:xfrm>
          <a:prstGeom prst="rect">
            <a:avLst/>
          </a:prstGeom>
        </p:spPr>
      </p:pic>
      <p:cxnSp>
        <p:nvCxnSpPr>
          <p:cNvPr id="225" name="Straight Arrow Connector 224">
            <a:extLst>
              <a:ext uri="{FF2B5EF4-FFF2-40B4-BE49-F238E27FC236}">
                <a16:creationId xmlns:a16="http://schemas.microsoft.com/office/drawing/2014/main" id="{7335F3D0-03AB-259A-CCFD-C47D37E21162}"/>
              </a:ext>
            </a:extLst>
          </p:cNvPr>
          <p:cNvCxnSpPr>
            <a:cxnSpLocks/>
            <a:endCxn id="142" idx="0"/>
          </p:cNvCxnSpPr>
          <p:nvPr/>
        </p:nvCxnSpPr>
        <p:spPr>
          <a:xfrm>
            <a:off x="5218434" y="20512741"/>
            <a:ext cx="0" cy="376364"/>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234" name="Straight Arrow Connector 233">
            <a:extLst>
              <a:ext uri="{FF2B5EF4-FFF2-40B4-BE49-F238E27FC236}">
                <a16:creationId xmlns:a16="http://schemas.microsoft.com/office/drawing/2014/main" id="{DCF431A8-F2EE-0A63-C1EB-B2071930330F}"/>
              </a:ext>
            </a:extLst>
          </p:cNvPr>
          <p:cNvCxnSpPr>
            <a:cxnSpLocks/>
            <a:endCxn id="110" idx="2"/>
          </p:cNvCxnSpPr>
          <p:nvPr/>
        </p:nvCxnSpPr>
        <p:spPr>
          <a:xfrm flipV="1">
            <a:off x="5231683" y="28576937"/>
            <a:ext cx="0" cy="239845"/>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pic>
        <p:nvPicPr>
          <p:cNvPr id="347" name="Picture 346" descr="A red and black circle&#10;&#10;AI-generated content may be incorrect.">
            <a:extLst>
              <a:ext uri="{FF2B5EF4-FFF2-40B4-BE49-F238E27FC236}">
                <a16:creationId xmlns:a16="http://schemas.microsoft.com/office/drawing/2014/main" id="{73C68300-1989-EC78-4231-2296F4218A35}"/>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rot="10800000">
            <a:off x="6831119" y="28061384"/>
            <a:ext cx="458673" cy="657659"/>
          </a:xfrm>
          <a:prstGeom prst="rect">
            <a:avLst/>
          </a:prstGeom>
        </p:spPr>
      </p:pic>
      <mc:AlternateContent xmlns:mc="http://schemas.openxmlformats.org/markup-compatibility/2006" xmlns:a14="http://schemas.microsoft.com/office/drawing/2010/main">
        <mc:Choice Requires="a14">
          <p:sp>
            <p:nvSpPr>
              <p:cNvPr id="453" name="TextBox 452">
                <a:extLst>
                  <a:ext uri="{FF2B5EF4-FFF2-40B4-BE49-F238E27FC236}">
                    <a16:creationId xmlns:a16="http://schemas.microsoft.com/office/drawing/2014/main" id="{B1EA83C8-EA35-7400-7417-40B7A527853E}"/>
                  </a:ext>
                </a:extLst>
              </p:cNvPr>
              <p:cNvSpPr txBox="1"/>
              <p:nvPr/>
            </p:nvSpPr>
            <p:spPr>
              <a:xfrm>
                <a:off x="381000" y="5841613"/>
                <a:ext cx="21031198" cy="5069849"/>
              </a:xfrm>
              <a:prstGeom prst="rect">
                <a:avLst/>
              </a:prstGeom>
              <a:noFill/>
            </p:spPr>
            <p:txBody>
              <a:bodyPr wrap="square" rtlCol="0">
                <a:spAutoFit/>
              </a:bodyPr>
              <a:lstStyle/>
              <a:p>
                <a:r>
                  <a:rPr lang="en-US" sz="3500" dirty="0"/>
                  <a:t>Atomic systems in beams and traps have made massive leaps in the past few decades as clocks, quantum sensors, or for precision BSM physics searches. Scalability is a major issue for applications across the board. </a:t>
                </a:r>
                <a:r>
                  <a:rPr lang="en-US" sz="3500" b="1" dirty="0"/>
                  <a:t>Doped noble gas crystals can address this for some applications by hosting up to </a:t>
                </a:r>
                <a14:m>
                  <m:oMath xmlns:m="http://schemas.openxmlformats.org/officeDocument/2006/math">
                    <m:sSup>
                      <m:sSupPr>
                        <m:ctrlPr>
                          <a:rPr lang="en-US" sz="3500" b="1" i="1" smtClean="0">
                            <a:latin typeface="Cambria Math" panose="02040503050406030204" pitchFamily="18" charset="0"/>
                          </a:rPr>
                        </m:ctrlPr>
                      </m:sSupPr>
                      <m:e>
                        <m:r>
                          <a:rPr lang="en-US" sz="3500" b="1" i="1" smtClean="0">
                            <a:latin typeface="Cambria Math" panose="02040503050406030204" pitchFamily="18" charset="0"/>
                          </a:rPr>
                          <m:t>𝟏𝟎</m:t>
                        </m:r>
                      </m:e>
                      <m:sup>
                        <m:r>
                          <a:rPr lang="en-US" sz="3500" b="1" i="1" smtClean="0">
                            <a:latin typeface="Cambria Math" panose="02040503050406030204" pitchFamily="18" charset="0"/>
                          </a:rPr>
                          <m:t>𝟏𝟗</m:t>
                        </m:r>
                      </m:sup>
                    </m:sSup>
                  </m:oMath>
                </a14:m>
                <a:r>
                  <a:rPr lang="en-US" sz="3500" b="1" dirty="0"/>
                  <a:t> dopants/mm cubed. Low polarizability </a:t>
                </a:r>
                <a:r>
                  <a:rPr lang="en-US" sz="3500" dirty="0"/>
                  <a:t>enables longer coherence times than other solid-state systems, </a:t>
                </a:r>
                <a:r>
                  <a:rPr lang="en-US" sz="3500" b="1" dirty="0"/>
                  <a:t>and transparency enables standard AMO state preparation and readout techniques</a:t>
                </a:r>
                <a:r>
                  <a:rPr lang="en-US" sz="3500" dirty="0"/>
                  <a:t>. We will explore channels of spin relaxation by addressing dopants optically while studying crystal structure with x-rays in parallel to deduce the connection between dopant line width and crystal structure. While also exploring the growth parameter space of these crystals and their influence on structure and linewidth. In this poster we present both our current work towards a tunable dual-species Rb-</a:t>
                </a:r>
                <a:r>
                  <a:rPr lang="en-US" sz="3500" dirty="0" err="1"/>
                  <a:t>Ar</a:t>
                </a:r>
                <a:r>
                  <a:rPr lang="en-US" sz="3500" dirty="0"/>
                  <a:t> beam source and crystal growth schemes and success. </a:t>
                </a:r>
              </a:p>
            </p:txBody>
          </p:sp>
        </mc:Choice>
        <mc:Fallback xmlns="">
          <p:sp>
            <p:nvSpPr>
              <p:cNvPr id="453" name="TextBox 452">
                <a:extLst>
                  <a:ext uri="{FF2B5EF4-FFF2-40B4-BE49-F238E27FC236}">
                    <a16:creationId xmlns:a16="http://schemas.microsoft.com/office/drawing/2014/main" id="{B1EA83C8-EA35-7400-7417-40B7A527853E}"/>
                  </a:ext>
                </a:extLst>
              </p:cNvPr>
              <p:cNvSpPr txBox="1">
                <a:spLocks noRot="1" noChangeAspect="1" noMove="1" noResize="1" noEditPoints="1" noAdjustHandles="1" noChangeArrowheads="1" noChangeShapeType="1" noTextEdit="1"/>
              </p:cNvSpPr>
              <p:nvPr/>
            </p:nvSpPr>
            <p:spPr>
              <a:xfrm>
                <a:off x="381000" y="5841613"/>
                <a:ext cx="21031198" cy="5069849"/>
              </a:xfrm>
              <a:prstGeom prst="rect">
                <a:avLst/>
              </a:prstGeom>
              <a:blipFill>
                <a:blip r:embed="rId15"/>
                <a:stretch>
                  <a:fillRect l="-870" t="-1803" r="-1305" b="-1202"/>
                </a:stretch>
              </a:blipFill>
            </p:spPr>
            <p:txBody>
              <a:bodyPr/>
              <a:lstStyle/>
              <a:p>
                <a:r>
                  <a:rPr lang="en-US">
                    <a:noFill/>
                  </a:rPr>
                  <a:t> </a:t>
                </a:r>
              </a:p>
            </p:txBody>
          </p:sp>
        </mc:Fallback>
      </mc:AlternateContent>
      <p:sp>
        <p:nvSpPr>
          <p:cNvPr id="459" name="TextBox 458">
            <a:extLst>
              <a:ext uri="{FF2B5EF4-FFF2-40B4-BE49-F238E27FC236}">
                <a16:creationId xmlns:a16="http://schemas.microsoft.com/office/drawing/2014/main" id="{FDEA31E9-6F34-B243-11AE-1C8525987EF4}"/>
              </a:ext>
            </a:extLst>
          </p:cNvPr>
          <p:cNvSpPr txBox="1"/>
          <p:nvPr/>
        </p:nvSpPr>
        <p:spPr>
          <a:xfrm>
            <a:off x="31306089" y="5801609"/>
            <a:ext cx="5652838" cy="646331"/>
          </a:xfrm>
          <a:prstGeom prst="rect">
            <a:avLst/>
          </a:prstGeom>
          <a:noFill/>
        </p:spPr>
        <p:txBody>
          <a:bodyPr wrap="square" rtlCol="0">
            <a:spAutoFit/>
          </a:bodyPr>
          <a:lstStyle/>
          <a:p>
            <a:r>
              <a:rPr lang="en-US" sz="3600" b="1" u="sng" dirty="0"/>
              <a:t>Doped Noble Gas Crystals</a:t>
            </a:r>
          </a:p>
        </p:txBody>
      </p:sp>
      <mc:AlternateContent xmlns:mc="http://schemas.openxmlformats.org/markup-compatibility/2006" xmlns:a14="http://schemas.microsoft.com/office/drawing/2010/main">
        <mc:Choice Requires="a14">
          <p:sp>
            <p:nvSpPr>
              <p:cNvPr id="460" name="Rectangle 459">
                <a:extLst>
                  <a:ext uri="{FF2B5EF4-FFF2-40B4-BE49-F238E27FC236}">
                    <a16:creationId xmlns:a16="http://schemas.microsoft.com/office/drawing/2014/main" id="{D3A0E9E6-04AB-685E-7567-991549CD9E81}"/>
                  </a:ext>
                </a:extLst>
              </p:cNvPr>
              <p:cNvSpPr/>
              <p:nvPr/>
            </p:nvSpPr>
            <p:spPr>
              <a:xfrm>
                <a:off x="22936200" y="6629400"/>
                <a:ext cx="3276600" cy="32766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3600" dirty="0"/>
                  <a:t>Beams:</a:t>
                </a:r>
                <a:br>
                  <a:rPr lang="en-US" sz="3600" dirty="0"/>
                </a:br>
                <a:br>
                  <a:rPr lang="en-US" sz="3600" dirty="0"/>
                </a:br>
                <a:endParaRPr lang="en-US" sz="3600" dirty="0"/>
              </a:p>
              <a:p>
                <a:pPr algn="ctr"/>
                <a:r>
                  <a:rPr lang="en-US" sz="3000" dirty="0"/>
                  <a:t>T2* = 2-3 </a:t>
                </a:r>
                <a:r>
                  <a:rPr lang="en-US" sz="3000" dirty="0" err="1"/>
                  <a:t>ms</a:t>
                </a:r>
                <a:endParaRPr lang="en-US" sz="3000" dirty="0"/>
              </a:p>
              <a:p>
                <a:pPr algn="ctr"/>
                <a:r>
                  <a:rPr lang="en-US" sz="3000" dirty="0"/>
                  <a:t>N = </a:t>
                </a:r>
                <a14:m>
                  <m:oMath xmlns:m="http://schemas.openxmlformats.org/officeDocument/2006/math">
                    <m:sSup>
                      <m:sSupPr>
                        <m:ctrlPr>
                          <a:rPr lang="en-US" sz="3000" i="1" smtClean="0">
                            <a:latin typeface="Cambria Math" panose="02040503050406030204" pitchFamily="18" charset="0"/>
                          </a:rPr>
                        </m:ctrlPr>
                      </m:sSupPr>
                      <m:e>
                        <m:r>
                          <a:rPr lang="en-US" sz="3000" b="0" i="1" smtClean="0">
                            <a:latin typeface="Cambria Math" panose="02040503050406030204" pitchFamily="18" charset="0"/>
                          </a:rPr>
                          <m:t>10</m:t>
                        </m:r>
                      </m:e>
                      <m:sup>
                        <m:r>
                          <a:rPr lang="en-US" sz="3000" b="0" i="1" smtClean="0">
                            <a:latin typeface="Cambria Math" panose="02040503050406030204" pitchFamily="18" charset="0"/>
                          </a:rPr>
                          <m:t>12</m:t>
                        </m:r>
                      </m:sup>
                    </m:sSup>
                  </m:oMath>
                </a14:m>
                <a:endParaRPr lang="en-US" sz="3000" dirty="0"/>
              </a:p>
              <a:p>
                <a:pPr algn="ctr"/>
                <a:endParaRPr lang="en-US" sz="1500" dirty="0"/>
              </a:p>
              <a:p>
                <a:pPr algn="ctr"/>
                <a:r>
                  <a:rPr lang="en-US" sz="1400" dirty="0"/>
                  <a:t>ACME Collaboration </a:t>
                </a:r>
              </a:p>
              <a:p>
                <a:pPr algn="ctr"/>
                <a:r>
                  <a:rPr lang="en-US" sz="1400" i="1" dirty="0"/>
                  <a:t>Nature</a:t>
                </a:r>
                <a:r>
                  <a:rPr lang="en-US" sz="1400" dirty="0"/>
                  <a:t> </a:t>
                </a:r>
                <a:r>
                  <a:rPr lang="en-US" sz="1400" b="1" dirty="0"/>
                  <a:t>562</a:t>
                </a:r>
                <a:r>
                  <a:rPr lang="en-US" sz="1400" dirty="0"/>
                  <a:t>, 355-360 (2018)</a:t>
                </a:r>
              </a:p>
            </p:txBody>
          </p:sp>
        </mc:Choice>
        <mc:Fallback xmlns="">
          <p:sp>
            <p:nvSpPr>
              <p:cNvPr id="460" name="Rectangle 459">
                <a:extLst>
                  <a:ext uri="{FF2B5EF4-FFF2-40B4-BE49-F238E27FC236}">
                    <a16:creationId xmlns:a16="http://schemas.microsoft.com/office/drawing/2014/main" id="{D3A0E9E6-04AB-685E-7567-991549CD9E81}"/>
                  </a:ext>
                </a:extLst>
              </p:cNvPr>
              <p:cNvSpPr>
                <a:spLocks noRot="1" noChangeAspect="1" noMove="1" noResize="1" noEditPoints="1" noAdjustHandles="1" noChangeArrowheads="1" noChangeShapeType="1" noTextEdit="1"/>
              </p:cNvSpPr>
              <p:nvPr/>
            </p:nvSpPr>
            <p:spPr>
              <a:xfrm>
                <a:off x="22936200" y="6629400"/>
                <a:ext cx="3276600" cy="3276600"/>
              </a:xfrm>
              <a:prstGeom prst="rect">
                <a:avLst/>
              </a:prstGeom>
              <a:blipFill>
                <a:blip r:embed="rId16"/>
                <a:stretch>
                  <a:fillRect t="-2957" b="-20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65" name="Rectangle 464">
                <a:extLst>
                  <a:ext uri="{FF2B5EF4-FFF2-40B4-BE49-F238E27FC236}">
                    <a16:creationId xmlns:a16="http://schemas.microsoft.com/office/drawing/2014/main" id="{E6E2437A-49B1-55F8-5C4E-FC3415332D60}"/>
                  </a:ext>
                </a:extLst>
              </p:cNvPr>
              <p:cNvSpPr/>
              <p:nvPr/>
            </p:nvSpPr>
            <p:spPr>
              <a:xfrm>
                <a:off x="26822400" y="6629400"/>
                <a:ext cx="3276600" cy="32766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3600" dirty="0"/>
                  <a:t>Traps:</a:t>
                </a:r>
              </a:p>
              <a:p>
                <a:pPr algn="ctr"/>
                <a:endParaRPr lang="en-US" sz="3600" dirty="0"/>
              </a:p>
              <a:p>
                <a:pPr algn="ctr"/>
                <a:endParaRPr lang="en-US" sz="3600" dirty="0"/>
              </a:p>
              <a:p>
                <a:pPr algn="ctr"/>
                <a:r>
                  <a:rPr lang="en-US" sz="3000" dirty="0"/>
                  <a:t>T2* = 5 s</a:t>
                </a:r>
              </a:p>
              <a:p>
                <a:pPr algn="ctr"/>
                <a:r>
                  <a:rPr lang="en-US" sz="3000" dirty="0"/>
                  <a:t>N = </a:t>
                </a:r>
                <a14:m>
                  <m:oMath xmlns:m="http://schemas.openxmlformats.org/officeDocument/2006/math">
                    <m:sSup>
                      <m:sSupPr>
                        <m:ctrlPr>
                          <a:rPr lang="en-US" sz="3000" i="1" smtClean="0">
                            <a:latin typeface="Cambria Math" panose="02040503050406030204" pitchFamily="18" charset="0"/>
                          </a:rPr>
                        </m:ctrlPr>
                      </m:sSupPr>
                      <m:e>
                        <m:r>
                          <a:rPr lang="en-US" sz="3000" b="0" i="1" smtClean="0">
                            <a:latin typeface="Cambria Math" panose="02040503050406030204" pitchFamily="18" charset="0"/>
                          </a:rPr>
                          <m:t>10</m:t>
                        </m:r>
                      </m:e>
                      <m:sup>
                        <m:r>
                          <a:rPr lang="en-US" sz="3000" b="0" i="1" smtClean="0">
                            <a:latin typeface="Cambria Math" panose="02040503050406030204" pitchFamily="18" charset="0"/>
                          </a:rPr>
                          <m:t>7</m:t>
                        </m:r>
                      </m:sup>
                    </m:sSup>
                  </m:oMath>
                </a14:m>
                <a:endParaRPr lang="en-US" sz="3000" dirty="0"/>
              </a:p>
              <a:p>
                <a:pPr algn="ctr"/>
                <a:endParaRPr lang="en-US" sz="1500" dirty="0"/>
              </a:p>
              <a:p>
                <a:pPr algn="ctr"/>
                <a:r>
                  <a:rPr lang="en-US" sz="1400" dirty="0"/>
                  <a:t>JILA. Eric Cornell </a:t>
                </a:r>
              </a:p>
              <a:p>
                <a:pPr algn="ctr"/>
                <a:r>
                  <a:rPr lang="en-US" sz="1400" dirty="0"/>
                  <a:t>slides ITAMP 2024</a:t>
                </a:r>
              </a:p>
            </p:txBody>
          </p:sp>
        </mc:Choice>
        <mc:Fallback xmlns="">
          <p:sp>
            <p:nvSpPr>
              <p:cNvPr id="465" name="Rectangle 464">
                <a:extLst>
                  <a:ext uri="{FF2B5EF4-FFF2-40B4-BE49-F238E27FC236}">
                    <a16:creationId xmlns:a16="http://schemas.microsoft.com/office/drawing/2014/main" id="{E6E2437A-49B1-55F8-5C4E-FC3415332D60}"/>
                  </a:ext>
                </a:extLst>
              </p:cNvPr>
              <p:cNvSpPr>
                <a:spLocks noRot="1" noChangeAspect="1" noMove="1" noResize="1" noEditPoints="1" noAdjustHandles="1" noChangeArrowheads="1" noChangeShapeType="1" noTextEdit="1"/>
              </p:cNvSpPr>
              <p:nvPr/>
            </p:nvSpPr>
            <p:spPr>
              <a:xfrm>
                <a:off x="26822400" y="6629400"/>
                <a:ext cx="3276600" cy="3276600"/>
              </a:xfrm>
              <a:prstGeom prst="rect">
                <a:avLst/>
              </a:prstGeom>
              <a:blipFill>
                <a:blip r:embed="rId17"/>
                <a:stretch>
                  <a:fillRect t="-2957" b="-20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66" name="Rectangle 465">
                <a:extLst>
                  <a:ext uri="{FF2B5EF4-FFF2-40B4-BE49-F238E27FC236}">
                    <a16:creationId xmlns:a16="http://schemas.microsoft.com/office/drawing/2014/main" id="{3C1D692C-2845-EA02-5AEC-DB698451E9CE}"/>
                  </a:ext>
                </a:extLst>
              </p:cNvPr>
              <p:cNvSpPr/>
              <p:nvPr/>
            </p:nvSpPr>
            <p:spPr>
              <a:xfrm>
                <a:off x="31604894" y="6683852"/>
                <a:ext cx="2778171" cy="224901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r>
                  <a:rPr lang="en-US" sz="3000" u="sng" dirty="0"/>
                  <a:t>Cs in He:</a:t>
                </a:r>
                <a:endParaRPr lang="en-US" sz="3000" dirty="0"/>
              </a:p>
              <a:p>
                <a:r>
                  <a:rPr lang="en-US" sz="3000" dirty="0"/>
                  <a:t>T2* = 0.1 s</a:t>
                </a:r>
              </a:p>
              <a:p>
                <a:pPr/>
                <a14:m>
                  <m:oMathPara xmlns:m="http://schemas.openxmlformats.org/officeDocument/2006/math">
                    <m:oMathParaPr>
                      <m:jc m:val="left"/>
                    </m:oMathParaPr>
                    <m:oMath xmlns:m="http://schemas.openxmlformats.org/officeDocument/2006/math">
                      <m:sSup>
                        <m:sSupPr>
                          <m:ctrlPr>
                            <a:rPr lang="en-US" sz="3000" b="0" i="1" dirty="0" smtClean="0">
                              <a:latin typeface="Cambria Math" panose="02040503050406030204" pitchFamily="18" charset="0"/>
                            </a:rPr>
                          </m:ctrlPr>
                        </m:sSupPr>
                        <m:e>
                          <m:r>
                            <a:rPr lang="en-US" sz="3000" b="0" i="1" dirty="0" smtClean="0">
                              <a:latin typeface="Cambria Math" panose="02040503050406030204" pitchFamily="18" charset="0"/>
                            </a:rPr>
                            <m:t>10</m:t>
                          </m:r>
                        </m:e>
                        <m:sup>
                          <m:r>
                            <a:rPr lang="en-US" sz="3000" b="0" i="1" dirty="0" smtClean="0">
                              <a:latin typeface="Cambria Math" panose="02040503050406030204" pitchFamily="18" charset="0"/>
                            </a:rPr>
                            <m:t>9</m:t>
                          </m:r>
                        </m:sup>
                      </m:sSup>
                      <m:r>
                        <a:rPr lang="en-US" sz="3000" b="0" i="1" dirty="0" smtClean="0">
                          <a:latin typeface="Cambria Math" panose="02040503050406030204" pitchFamily="18" charset="0"/>
                        </a:rPr>
                        <m:t> </m:t>
                      </m:r>
                      <m:sSup>
                        <m:sSupPr>
                          <m:ctrlPr>
                            <a:rPr lang="en-US" sz="3000" i="1" dirty="0" smtClean="0">
                              <a:latin typeface="Cambria Math" panose="02040503050406030204" pitchFamily="18" charset="0"/>
                            </a:rPr>
                          </m:ctrlPr>
                        </m:sSupPr>
                        <m:e>
                          <m:r>
                            <m:rPr>
                              <m:sty m:val="p"/>
                            </m:rPr>
                            <a:rPr lang="en-US" sz="3000" b="0" i="1" dirty="0" smtClean="0">
                              <a:latin typeface="Cambria Math" panose="02040503050406030204" pitchFamily="18" charset="0"/>
                            </a:rPr>
                            <m:t>atoms</m:t>
                          </m:r>
                          <m:r>
                            <a:rPr lang="en-US" sz="3000" b="0" i="1" dirty="0" smtClean="0">
                              <a:latin typeface="Cambria Math" panose="02040503050406030204" pitchFamily="18" charset="0"/>
                            </a:rPr>
                            <m:t>/</m:t>
                          </m:r>
                          <m:r>
                            <m:rPr>
                              <m:sty m:val="p"/>
                            </m:rPr>
                            <a:rPr lang="en-US" sz="3000" b="0" i="1" dirty="0" smtClean="0">
                              <a:latin typeface="Cambria Math" panose="02040503050406030204" pitchFamily="18" charset="0"/>
                            </a:rPr>
                            <m:t>cm</m:t>
                          </m:r>
                        </m:e>
                        <m:sup>
                          <m:r>
                            <a:rPr lang="en-US" sz="3000" b="0" i="1" dirty="0" smtClean="0">
                              <a:latin typeface="Cambria Math" panose="02040503050406030204" pitchFamily="18" charset="0"/>
                            </a:rPr>
                            <m:t>3</m:t>
                          </m:r>
                        </m:sup>
                      </m:sSup>
                    </m:oMath>
                  </m:oMathPara>
                </a14:m>
                <a:endParaRPr lang="en-US" sz="1500" dirty="0"/>
              </a:p>
              <a:p>
                <a:endParaRPr lang="en-US" sz="1500" dirty="0"/>
              </a:p>
              <a:p>
                <a:r>
                  <a:rPr lang="en-US" sz="1500" i="1" dirty="0"/>
                  <a:t>Kanorsky et al.,</a:t>
                </a:r>
              </a:p>
              <a:p>
                <a:r>
                  <a:rPr lang="en-US" sz="1500" i="1" dirty="0"/>
                  <a:t>Phys. Rev. A </a:t>
                </a:r>
                <a:r>
                  <a:rPr lang="en-US" sz="1500" b="1" dirty="0"/>
                  <a:t>54</a:t>
                </a:r>
                <a:r>
                  <a:rPr lang="en-US" sz="1500" dirty="0"/>
                  <a:t>, R1010 (1996)</a:t>
                </a:r>
                <a:endParaRPr lang="en-US" sz="1500" i="1" dirty="0"/>
              </a:p>
            </p:txBody>
          </p:sp>
        </mc:Choice>
        <mc:Fallback xmlns="">
          <p:sp>
            <p:nvSpPr>
              <p:cNvPr id="466" name="Rectangle 465">
                <a:extLst>
                  <a:ext uri="{FF2B5EF4-FFF2-40B4-BE49-F238E27FC236}">
                    <a16:creationId xmlns:a16="http://schemas.microsoft.com/office/drawing/2014/main" id="{3C1D692C-2845-EA02-5AEC-DB698451E9CE}"/>
                  </a:ext>
                </a:extLst>
              </p:cNvPr>
              <p:cNvSpPr>
                <a:spLocks noRot="1" noChangeAspect="1" noMove="1" noResize="1" noEditPoints="1" noAdjustHandles="1" noChangeArrowheads="1" noChangeShapeType="1" noTextEdit="1"/>
              </p:cNvSpPr>
              <p:nvPr/>
            </p:nvSpPr>
            <p:spPr>
              <a:xfrm>
                <a:off x="31604894" y="6683852"/>
                <a:ext cx="2778171" cy="2249019"/>
              </a:xfrm>
              <a:prstGeom prst="rect">
                <a:avLst/>
              </a:prstGeom>
              <a:blipFill>
                <a:blip r:embed="rId18"/>
                <a:stretch>
                  <a:fillRect l="-4793" t="-268" b="-26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67" name="Rectangle 466">
                <a:extLst>
                  <a:ext uri="{FF2B5EF4-FFF2-40B4-BE49-F238E27FC236}">
                    <a16:creationId xmlns:a16="http://schemas.microsoft.com/office/drawing/2014/main" id="{DACC0444-742B-0A99-6970-429B872807AF}"/>
                  </a:ext>
                </a:extLst>
              </p:cNvPr>
              <p:cNvSpPr/>
              <p:nvPr/>
            </p:nvSpPr>
            <p:spPr>
              <a:xfrm>
                <a:off x="34574127" y="6680744"/>
                <a:ext cx="3315696" cy="2718643"/>
              </a:xfrm>
              <a:prstGeom prst="rect">
                <a:avLst/>
              </a:prstGeom>
            </p:spPr>
            <p:style>
              <a:lnRef idx="2">
                <a:schemeClr val="dk1"/>
              </a:lnRef>
              <a:fillRef idx="1">
                <a:schemeClr val="lt1"/>
              </a:fillRef>
              <a:effectRef idx="0">
                <a:schemeClr val="dk1"/>
              </a:effectRef>
              <a:fontRef idx="minor">
                <a:schemeClr val="dk1"/>
              </a:fontRef>
            </p:style>
            <p:txBody>
              <a:bodyPr rtlCol="0" anchor="ctr"/>
              <a:lstStyle/>
              <a:p>
                <a:r>
                  <a:rPr lang="en-US" sz="3000" u="sng" dirty="0"/>
                  <a:t>Rb in Ne:</a:t>
                </a:r>
                <a:endParaRPr lang="en-US" sz="3000" dirty="0"/>
              </a:p>
              <a:p>
                <a:r>
                  <a:rPr lang="en-US" sz="3000" dirty="0"/>
                  <a:t>T2 = 0.1 s</a:t>
                </a:r>
              </a:p>
              <a:p>
                <a:r>
                  <a:rPr lang="en-US" sz="3000" dirty="0"/>
                  <a:t>T2* = 10 </a:t>
                </a:r>
                <a:r>
                  <a:rPr lang="en-US" sz="3000" dirty="0">
                    <a:latin typeface="Lao UI" panose="020B0502040204020203" pitchFamily="34" charset="0"/>
                    <a:cs typeface="Lao UI" panose="020B0502040204020203" pitchFamily="34" charset="0"/>
                  </a:rPr>
                  <a:t>µs</a:t>
                </a:r>
                <a:endParaRPr lang="en-US" sz="3000" dirty="0"/>
              </a:p>
              <a:p>
                <a:pPr/>
                <a14:m>
                  <m:oMathPara xmlns:m="http://schemas.openxmlformats.org/officeDocument/2006/math">
                    <m:oMathParaPr>
                      <m:jc m:val="left"/>
                    </m:oMathParaPr>
                    <m:oMath xmlns:m="http://schemas.openxmlformats.org/officeDocument/2006/math">
                      <m:sSup>
                        <m:sSupPr>
                          <m:ctrlPr>
                            <a:rPr lang="en-US" sz="3000" b="0" i="1" dirty="0" smtClean="0">
                              <a:latin typeface="Cambria Math" panose="02040503050406030204" pitchFamily="18" charset="0"/>
                            </a:rPr>
                          </m:ctrlPr>
                        </m:sSupPr>
                        <m:e>
                          <m:r>
                            <a:rPr lang="en-US" sz="3000" b="0" i="1" dirty="0" smtClean="0">
                              <a:latin typeface="Cambria Math" panose="02040503050406030204" pitchFamily="18" charset="0"/>
                            </a:rPr>
                            <m:t>10</m:t>
                          </m:r>
                        </m:e>
                        <m:sup>
                          <m:r>
                            <a:rPr lang="en-US" sz="3000" b="0" i="1" dirty="0" smtClean="0">
                              <a:latin typeface="Cambria Math" panose="02040503050406030204" pitchFamily="18" charset="0"/>
                            </a:rPr>
                            <m:t>16</m:t>
                          </m:r>
                        </m:sup>
                      </m:sSup>
                      <m:r>
                        <a:rPr lang="en-US" sz="3000" b="0" i="1" dirty="0" smtClean="0">
                          <a:latin typeface="Cambria Math" panose="02040503050406030204" pitchFamily="18" charset="0"/>
                        </a:rPr>
                        <m:t> </m:t>
                      </m:r>
                      <m:sSup>
                        <m:sSupPr>
                          <m:ctrlPr>
                            <a:rPr lang="en-US" sz="3000" i="1" dirty="0" smtClean="0">
                              <a:latin typeface="Cambria Math" panose="02040503050406030204" pitchFamily="18" charset="0"/>
                            </a:rPr>
                          </m:ctrlPr>
                        </m:sSupPr>
                        <m:e>
                          <m:r>
                            <m:rPr>
                              <m:sty m:val="p"/>
                            </m:rPr>
                            <a:rPr lang="en-US" sz="3000" b="0" i="1" dirty="0" smtClean="0">
                              <a:latin typeface="Cambria Math" panose="02040503050406030204" pitchFamily="18" charset="0"/>
                            </a:rPr>
                            <m:t>atoms</m:t>
                          </m:r>
                          <m:r>
                            <a:rPr lang="en-US" sz="3000" b="0" i="1" dirty="0" smtClean="0">
                              <a:latin typeface="Cambria Math" panose="02040503050406030204" pitchFamily="18" charset="0"/>
                            </a:rPr>
                            <m:t>/</m:t>
                          </m:r>
                          <m:r>
                            <m:rPr>
                              <m:sty m:val="p"/>
                            </m:rPr>
                            <a:rPr lang="en-US" sz="3000" b="0" i="1" dirty="0" smtClean="0">
                              <a:latin typeface="Cambria Math" panose="02040503050406030204" pitchFamily="18" charset="0"/>
                            </a:rPr>
                            <m:t>cm</m:t>
                          </m:r>
                        </m:e>
                        <m:sup>
                          <m:r>
                            <a:rPr lang="en-US" sz="3000" b="0" i="1" dirty="0" smtClean="0">
                              <a:latin typeface="Cambria Math" panose="02040503050406030204" pitchFamily="18" charset="0"/>
                            </a:rPr>
                            <m:t>3</m:t>
                          </m:r>
                        </m:sup>
                      </m:sSup>
                    </m:oMath>
                  </m:oMathPara>
                </a14:m>
                <a:endParaRPr lang="en-US" sz="1500" dirty="0"/>
              </a:p>
              <a:p>
                <a:endParaRPr lang="en-US" sz="1500" dirty="0"/>
              </a:p>
              <a:p>
                <a:r>
                  <a:rPr lang="en-US" sz="1500" i="1" dirty="0"/>
                  <a:t>J.D. Weinstein et al.,</a:t>
                </a:r>
              </a:p>
              <a:p>
                <a:r>
                  <a:rPr lang="en-US" sz="1500" i="1" dirty="0"/>
                  <a:t>Phys. Rev. A </a:t>
                </a:r>
                <a:r>
                  <a:rPr lang="en-US" sz="1500" b="1" dirty="0"/>
                  <a:t>104</a:t>
                </a:r>
                <a:r>
                  <a:rPr lang="en-US" sz="1500" dirty="0"/>
                  <a:t>, 032611 (2021)</a:t>
                </a:r>
              </a:p>
            </p:txBody>
          </p:sp>
        </mc:Choice>
        <mc:Fallback xmlns="">
          <p:sp>
            <p:nvSpPr>
              <p:cNvPr id="467" name="Rectangle 466">
                <a:extLst>
                  <a:ext uri="{FF2B5EF4-FFF2-40B4-BE49-F238E27FC236}">
                    <a16:creationId xmlns:a16="http://schemas.microsoft.com/office/drawing/2014/main" id="{DACC0444-742B-0A99-6970-429B872807AF}"/>
                  </a:ext>
                </a:extLst>
              </p:cNvPr>
              <p:cNvSpPr>
                <a:spLocks noRot="1" noChangeAspect="1" noMove="1" noResize="1" noEditPoints="1" noAdjustHandles="1" noChangeArrowheads="1" noChangeShapeType="1" noTextEdit="1"/>
              </p:cNvSpPr>
              <p:nvPr/>
            </p:nvSpPr>
            <p:spPr>
              <a:xfrm>
                <a:off x="34574127" y="6680744"/>
                <a:ext cx="3315696" cy="2718643"/>
              </a:xfrm>
              <a:prstGeom prst="rect">
                <a:avLst/>
              </a:prstGeom>
              <a:blipFill>
                <a:blip r:embed="rId19"/>
                <a:stretch>
                  <a:fillRect l="-4015" t="-222"/>
                </a:stretch>
              </a:blipFill>
            </p:spPr>
            <p:txBody>
              <a:bodyPr/>
              <a:lstStyle/>
              <a:p>
                <a:r>
                  <a:rPr lang="en-US">
                    <a:noFill/>
                  </a:rPr>
                  <a:t> </a:t>
                </a:r>
              </a:p>
            </p:txBody>
          </p:sp>
        </mc:Fallback>
      </mc:AlternateContent>
      <p:cxnSp>
        <p:nvCxnSpPr>
          <p:cNvPr id="469" name="Straight Arrow Connector 468">
            <a:extLst>
              <a:ext uri="{FF2B5EF4-FFF2-40B4-BE49-F238E27FC236}">
                <a16:creationId xmlns:a16="http://schemas.microsoft.com/office/drawing/2014/main" id="{BEDB3929-C546-7CA9-56D6-0932FFDCCA7C}"/>
              </a:ext>
            </a:extLst>
          </p:cNvPr>
          <p:cNvCxnSpPr>
            <a:cxnSpLocks/>
          </p:cNvCxnSpPr>
          <p:nvPr/>
        </p:nvCxnSpPr>
        <p:spPr>
          <a:xfrm>
            <a:off x="38058634" y="6752642"/>
            <a:ext cx="483879" cy="0"/>
          </a:xfrm>
          <a:prstGeom prst="straightConnector1">
            <a:avLst/>
          </a:prstGeom>
          <a:ln w="57150">
            <a:tailEnd type="triangle"/>
          </a:ln>
        </p:spPr>
        <p:style>
          <a:lnRef idx="1">
            <a:schemeClr val="dk1"/>
          </a:lnRef>
          <a:fillRef idx="0">
            <a:schemeClr val="dk1"/>
          </a:fillRef>
          <a:effectRef idx="0">
            <a:schemeClr val="dk1"/>
          </a:effectRef>
          <a:fontRef idx="minor">
            <a:schemeClr val="tx1"/>
          </a:fontRef>
        </p:style>
      </p:cxnSp>
      <p:sp>
        <p:nvSpPr>
          <p:cNvPr id="471" name="TextBox 470">
            <a:extLst>
              <a:ext uri="{FF2B5EF4-FFF2-40B4-BE49-F238E27FC236}">
                <a16:creationId xmlns:a16="http://schemas.microsoft.com/office/drawing/2014/main" id="{1F58091F-A3C5-35D6-82DE-C86D5A40A768}"/>
              </a:ext>
            </a:extLst>
          </p:cNvPr>
          <p:cNvSpPr txBox="1"/>
          <p:nvPr/>
        </p:nvSpPr>
        <p:spPr>
          <a:xfrm>
            <a:off x="38495009" y="6520521"/>
            <a:ext cx="2438400" cy="477054"/>
          </a:xfrm>
          <a:prstGeom prst="rect">
            <a:avLst/>
          </a:prstGeom>
          <a:noFill/>
        </p:spPr>
        <p:txBody>
          <a:bodyPr wrap="square" rtlCol="0">
            <a:spAutoFit/>
          </a:bodyPr>
          <a:lstStyle/>
          <a:p>
            <a:r>
              <a:rPr lang="en-US" sz="2500" dirty="0"/>
              <a:t>Many dopants</a:t>
            </a:r>
          </a:p>
        </p:txBody>
      </p:sp>
      <p:sp>
        <p:nvSpPr>
          <p:cNvPr id="474" name="TextBox 473">
            <a:extLst>
              <a:ext uri="{FF2B5EF4-FFF2-40B4-BE49-F238E27FC236}">
                <a16:creationId xmlns:a16="http://schemas.microsoft.com/office/drawing/2014/main" id="{1CCBB6B5-59FD-C2EE-0FE5-7EE27401E945}"/>
              </a:ext>
            </a:extLst>
          </p:cNvPr>
          <p:cNvSpPr txBox="1"/>
          <p:nvPr/>
        </p:nvSpPr>
        <p:spPr>
          <a:xfrm>
            <a:off x="38450783" y="7306214"/>
            <a:ext cx="4648200" cy="1631216"/>
          </a:xfrm>
          <a:prstGeom prst="rect">
            <a:avLst/>
          </a:prstGeom>
          <a:noFill/>
        </p:spPr>
        <p:txBody>
          <a:bodyPr wrap="square" rtlCol="0">
            <a:spAutoFit/>
          </a:bodyPr>
          <a:lstStyle/>
          <a:p>
            <a:r>
              <a:rPr lang="en-US" sz="2500" dirty="0"/>
              <a:t>Large discrepancy between T2 and T2* due to inhomogeneous broadening, thought to be from grain boundaries</a:t>
            </a:r>
          </a:p>
        </p:txBody>
      </p:sp>
      <p:cxnSp>
        <p:nvCxnSpPr>
          <p:cNvPr id="475" name="Straight Arrow Connector 474">
            <a:extLst>
              <a:ext uri="{FF2B5EF4-FFF2-40B4-BE49-F238E27FC236}">
                <a16:creationId xmlns:a16="http://schemas.microsoft.com/office/drawing/2014/main" id="{727E7D05-BAF2-D966-0090-F11A1D7D179A}"/>
              </a:ext>
            </a:extLst>
          </p:cNvPr>
          <p:cNvCxnSpPr>
            <a:cxnSpLocks/>
          </p:cNvCxnSpPr>
          <p:nvPr/>
        </p:nvCxnSpPr>
        <p:spPr>
          <a:xfrm>
            <a:off x="39444330" y="6922897"/>
            <a:ext cx="0" cy="383317"/>
          </a:xfrm>
          <a:prstGeom prst="straightConnector1">
            <a:avLst/>
          </a:prstGeom>
          <a:ln w="57150">
            <a:tailEnd type="triangle"/>
          </a:ln>
        </p:spPr>
        <p:style>
          <a:lnRef idx="1">
            <a:schemeClr val="dk1"/>
          </a:lnRef>
          <a:fillRef idx="0">
            <a:schemeClr val="dk1"/>
          </a:fillRef>
          <a:effectRef idx="0">
            <a:schemeClr val="dk1"/>
          </a:effectRef>
          <a:fontRef idx="minor">
            <a:schemeClr val="tx1"/>
          </a:fontRef>
        </p:style>
      </p:cxnSp>
      <p:cxnSp>
        <p:nvCxnSpPr>
          <p:cNvPr id="484" name="Straight Arrow Connector 483">
            <a:extLst>
              <a:ext uri="{FF2B5EF4-FFF2-40B4-BE49-F238E27FC236}">
                <a16:creationId xmlns:a16="http://schemas.microsoft.com/office/drawing/2014/main" id="{70EEA311-3E92-0FB9-3B01-C1F258299933}"/>
              </a:ext>
            </a:extLst>
          </p:cNvPr>
          <p:cNvCxnSpPr>
            <a:cxnSpLocks/>
          </p:cNvCxnSpPr>
          <p:nvPr/>
        </p:nvCxnSpPr>
        <p:spPr>
          <a:xfrm>
            <a:off x="32590118" y="9056497"/>
            <a:ext cx="0" cy="457200"/>
          </a:xfrm>
          <a:prstGeom prst="straightConnector1">
            <a:avLst/>
          </a:prstGeom>
          <a:ln w="57150">
            <a:tailEnd type="triangle"/>
          </a:ln>
        </p:spPr>
        <p:style>
          <a:lnRef idx="1">
            <a:schemeClr val="dk1"/>
          </a:lnRef>
          <a:fillRef idx="0">
            <a:schemeClr val="dk1"/>
          </a:fillRef>
          <a:effectRef idx="0">
            <a:schemeClr val="dk1"/>
          </a:effectRef>
          <a:fontRef idx="minor">
            <a:schemeClr val="tx1"/>
          </a:fontRef>
        </p:style>
      </p:cxnSp>
      <p:sp>
        <p:nvSpPr>
          <p:cNvPr id="487" name="TextBox 486">
            <a:extLst>
              <a:ext uri="{FF2B5EF4-FFF2-40B4-BE49-F238E27FC236}">
                <a16:creationId xmlns:a16="http://schemas.microsoft.com/office/drawing/2014/main" id="{96F59A33-705F-F70F-4B60-B71603982241}"/>
              </a:ext>
            </a:extLst>
          </p:cNvPr>
          <p:cNvSpPr txBox="1"/>
          <p:nvPr/>
        </p:nvSpPr>
        <p:spPr>
          <a:xfrm>
            <a:off x="30754583" y="9423800"/>
            <a:ext cx="3735471" cy="1246495"/>
          </a:xfrm>
          <a:prstGeom prst="rect">
            <a:avLst/>
          </a:prstGeom>
          <a:noFill/>
        </p:spPr>
        <p:txBody>
          <a:bodyPr wrap="square" rtlCol="0">
            <a:spAutoFit/>
          </a:bodyPr>
          <a:lstStyle/>
          <a:p>
            <a:r>
              <a:rPr lang="en-US" sz="2500" dirty="0"/>
              <a:t>Demonstrates one can achieve long coherence times in a cryogenic crystal</a:t>
            </a:r>
          </a:p>
        </p:txBody>
      </p:sp>
      <p:cxnSp>
        <p:nvCxnSpPr>
          <p:cNvPr id="488" name="Straight Arrow Connector 487">
            <a:extLst>
              <a:ext uri="{FF2B5EF4-FFF2-40B4-BE49-F238E27FC236}">
                <a16:creationId xmlns:a16="http://schemas.microsoft.com/office/drawing/2014/main" id="{CC7517B4-CEF6-9407-CF4A-703DBFBFE098}"/>
              </a:ext>
            </a:extLst>
          </p:cNvPr>
          <p:cNvCxnSpPr>
            <a:cxnSpLocks/>
          </p:cNvCxnSpPr>
          <p:nvPr/>
        </p:nvCxnSpPr>
        <p:spPr>
          <a:xfrm>
            <a:off x="34107383" y="10049414"/>
            <a:ext cx="483879" cy="0"/>
          </a:xfrm>
          <a:prstGeom prst="straightConnector1">
            <a:avLst/>
          </a:prstGeom>
          <a:ln w="57150">
            <a:tailEnd type="triangle"/>
          </a:ln>
        </p:spPr>
        <p:style>
          <a:lnRef idx="1">
            <a:schemeClr val="dk1"/>
          </a:lnRef>
          <a:fillRef idx="0">
            <a:schemeClr val="dk1"/>
          </a:fillRef>
          <a:effectRef idx="0">
            <a:schemeClr val="dk1"/>
          </a:effectRef>
          <a:fontRef idx="minor">
            <a:schemeClr val="tx1"/>
          </a:fontRef>
        </p:style>
      </p:cxnSp>
      <p:sp>
        <p:nvSpPr>
          <p:cNvPr id="489" name="TextBox 488">
            <a:extLst>
              <a:ext uri="{FF2B5EF4-FFF2-40B4-BE49-F238E27FC236}">
                <a16:creationId xmlns:a16="http://schemas.microsoft.com/office/drawing/2014/main" id="{01AD43DD-C03B-2ED1-1E18-EC78153279C4}"/>
              </a:ext>
            </a:extLst>
          </p:cNvPr>
          <p:cNvSpPr txBox="1"/>
          <p:nvPr/>
        </p:nvSpPr>
        <p:spPr>
          <a:xfrm>
            <a:off x="34564583" y="9445571"/>
            <a:ext cx="3548614" cy="1246495"/>
          </a:xfrm>
          <a:prstGeom prst="rect">
            <a:avLst/>
          </a:prstGeom>
          <a:noFill/>
        </p:spPr>
        <p:txBody>
          <a:bodyPr wrap="square" rtlCol="0">
            <a:spAutoFit/>
          </a:bodyPr>
          <a:lstStyle/>
          <a:p>
            <a:r>
              <a:rPr lang="en-US" sz="2500" dirty="0"/>
              <a:t>Not enough dopants due to high helium pressure required for growth </a:t>
            </a:r>
          </a:p>
        </p:txBody>
      </p:sp>
      <p:pic>
        <p:nvPicPr>
          <p:cNvPr id="504" name="Picture 503" descr="A black square with a square in the middle&#10;&#10;AI-generated content may be incorrect.">
            <a:extLst>
              <a:ext uri="{FF2B5EF4-FFF2-40B4-BE49-F238E27FC236}">
                <a16:creationId xmlns:a16="http://schemas.microsoft.com/office/drawing/2014/main" id="{979FF361-F160-1668-9C89-B72F73A3A9C9}"/>
              </a:ext>
            </a:extLst>
          </p:cNvPr>
          <p:cNvPicPr>
            <a:picLocks noChangeAspect="1"/>
          </p:cNvPicPr>
          <p:nvPr/>
        </p:nvPicPr>
        <p:blipFill>
          <a:blip r:embed="rId20">
            <a:extLst>
              <a:ext uri="{28A0092B-C50C-407E-A947-70E740481C1C}">
                <a14:useLocalDpi xmlns:a14="http://schemas.microsoft.com/office/drawing/2010/main" val="0"/>
              </a:ext>
            </a:extLst>
          </a:blip>
          <a:stretch>
            <a:fillRect/>
          </a:stretch>
        </p:blipFill>
        <p:spPr>
          <a:xfrm>
            <a:off x="1015399" y="19027562"/>
            <a:ext cx="550463" cy="530263"/>
          </a:xfrm>
          <a:prstGeom prst="rect">
            <a:avLst/>
          </a:prstGeom>
        </p:spPr>
      </p:pic>
      <p:cxnSp>
        <p:nvCxnSpPr>
          <p:cNvPr id="505" name="Straight Connector 145">
            <a:extLst>
              <a:ext uri="{FF2B5EF4-FFF2-40B4-BE49-F238E27FC236}">
                <a16:creationId xmlns:a16="http://schemas.microsoft.com/office/drawing/2014/main" id="{1DD96573-1D6B-0C15-BA2E-7B0C56E23CCF}"/>
              </a:ext>
            </a:extLst>
          </p:cNvPr>
          <p:cNvCxnSpPr>
            <a:cxnSpLocks/>
            <a:stCxn id="504" idx="1"/>
          </p:cNvCxnSpPr>
          <p:nvPr/>
        </p:nvCxnSpPr>
        <p:spPr>
          <a:xfrm rot="10800000" flipV="1">
            <a:off x="859031" y="19292694"/>
            <a:ext cx="156369" cy="344468"/>
          </a:xfrm>
          <a:prstGeom prst="curvedConnector2">
            <a:avLst/>
          </a:prstGeom>
          <a:ln>
            <a:solidFill>
              <a:schemeClr val="tx1"/>
            </a:solidFill>
          </a:ln>
        </p:spPr>
        <p:style>
          <a:lnRef idx="3">
            <a:schemeClr val="accent5"/>
          </a:lnRef>
          <a:fillRef idx="0">
            <a:schemeClr val="accent5"/>
          </a:fillRef>
          <a:effectRef idx="2">
            <a:schemeClr val="accent5"/>
          </a:effectRef>
          <a:fontRef idx="minor">
            <a:schemeClr val="tx1"/>
          </a:fontRef>
        </p:style>
      </p:cxnSp>
      <p:cxnSp>
        <p:nvCxnSpPr>
          <p:cNvPr id="506" name="Straight Connector 505">
            <a:extLst>
              <a:ext uri="{FF2B5EF4-FFF2-40B4-BE49-F238E27FC236}">
                <a16:creationId xmlns:a16="http://schemas.microsoft.com/office/drawing/2014/main" id="{F3E8B9AF-C6FD-92FD-4AF7-BCCFA236D0A2}"/>
              </a:ext>
            </a:extLst>
          </p:cNvPr>
          <p:cNvCxnSpPr>
            <a:cxnSpLocks/>
            <a:stCxn id="507" idx="1"/>
            <a:endCxn id="504" idx="3"/>
          </p:cNvCxnSpPr>
          <p:nvPr/>
        </p:nvCxnSpPr>
        <p:spPr>
          <a:xfrm rot="16200000" flipH="1">
            <a:off x="1314726" y="19041557"/>
            <a:ext cx="443757" cy="58515"/>
          </a:xfrm>
          <a:prstGeom prst="curvedConnector4">
            <a:avLst>
              <a:gd name="adj1" fmla="val 15455"/>
              <a:gd name="adj2" fmla="val 843770"/>
            </a:avLst>
          </a:prstGeom>
          <a:ln>
            <a:solidFill>
              <a:schemeClr val="tx1"/>
            </a:solidFill>
          </a:ln>
        </p:spPr>
        <p:style>
          <a:lnRef idx="3">
            <a:schemeClr val="accent5"/>
          </a:lnRef>
          <a:fillRef idx="0">
            <a:schemeClr val="accent5"/>
          </a:fillRef>
          <a:effectRef idx="2">
            <a:schemeClr val="accent5"/>
          </a:effectRef>
          <a:fontRef idx="minor">
            <a:schemeClr val="tx1"/>
          </a:fontRef>
        </p:style>
      </p:cxnSp>
      <p:pic>
        <p:nvPicPr>
          <p:cNvPr id="507" name="Picture 506" descr="A triangle with a black background&#10;&#10;AI-generated content may be incorrect.">
            <a:extLst>
              <a:ext uri="{FF2B5EF4-FFF2-40B4-BE49-F238E27FC236}">
                <a16:creationId xmlns:a16="http://schemas.microsoft.com/office/drawing/2014/main" id="{08C6E477-17EA-AD55-E529-2A3EF3D37A77}"/>
              </a:ext>
            </a:extLst>
          </p:cNvPr>
          <p:cNvPicPr>
            <a:picLocks noChangeAspect="1"/>
          </p:cNvPicPr>
          <p:nvPr/>
        </p:nvPicPr>
        <p:blipFill>
          <a:blip r:embed="rId21" cstate="print">
            <a:extLst>
              <a:ext uri="{28A0092B-C50C-407E-A947-70E740481C1C}">
                <a14:useLocalDpi xmlns:a14="http://schemas.microsoft.com/office/drawing/2010/main" val="0"/>
              </a:ext>
            </a:extLst>
          </a:blip>
          <a:stretch>
            <a:fillRect/>
          </a:stretch>
        </p:blipFill>
        <p:spPr>
          <a:xfrm rot="16200000">
            <a:off x="1242215" y="18277216"/>
            <a:ext cx="530264" cy="613178"/>
          </a:xfrm>
          <a:prstGeom prst="rect">
            <a:avLst/>
          </a:prstGeom>
        </p:spPr>
      </p:pic>
      <p:pic>
        <p:nvPicPr>
          <p:cNvPr id="508" name="Picture 507">
            <a:extLst>
              <a:ext uri="{FF2B5EF4-FFF2-40B4-BE49-F238E27FC236}">
                <a16:creationId xmlns:a16="http://schemas.microsoft.com/office/drawing/2014/main" id="{D5E0285D-A99B-18D6-1111-F47DCD348FE6}"/>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953591" y="17623869"/>
            <a:ext cx="1198558" cy="517025"/>
          </a:xfrm>
          <a:prstGeom prst="rect">
            <a:avLst/>
          </a:prstGeom>
        </p:spPr>
      </p:pic>
      <p:sp>
        <p:nvSpPr>
          <p:cNvPr id="509" name="TextBox 508">
            <a:extLst>
              <a:ext uri="{FF2B5EF4-FFF2-40B4-BE49-F238E27FC236}">
                <a16:creationId xmlns:a16="http://schemas.microsoft.com/office/drawing/2014/main" id="{D8219175-C7C1-20D0-C797-D7627A42205E}"/>
              </a:ext>
            </a:extLst>
          </p:cNvPr>
          <p:cNvSpPr txBox="1"/>
          <p:nvPr/>
        </p:nvSpPr>
        <p:spPr>
          <a:xfrm>
            <a:off x="1083509" y="17236727"/>
            <a:ext cx="1292317" cy="477054"/>
          </a:xfrm>
          <a:prstGeom prst="rect">
            <a:avLst/>
          </a:prstGeom>
          <a:noFill/>
        </p:spPr>
        <p:txBody>
          <a:bodyPr wrap="square" rtlCol="0">
            <a:spAutoFit/>
          </a:bodyPr>
          <a:lstStyle/>
          <a:p>
            <a:r>
              <a:rPr lang="en-US" sz="2500" dirty="0"/>
              <a:t>Scope</a:t>
            </a:r>
          </a:p>
        </p:txBody>
      </p:sp>
      <p:cxnSp>
        <p:nvCxnSpPr>
          <p:cNvPr id="513" name="Straight Connector 145">
            <a:extLst>
              <a:ext uri="{FF2B5EF4-FFF2-40B4-BE49-F238E27FC236}">
                <a16:creationId xmlns:a16="http://schemas.microsoft.com/office/drawing/2014/main" id="{FCB3E69E-1D83-7D5C-8FC6-AF30CCF08E03}"/>
              </a:ext>
            </a:extLst>
          </p:cNvPr>
          <p:cNvCxnSpPr>
            <a:cxnSpLocks/>
            <a:stCxn id="508" idx="2"/>
            <a:endCxn id="507" idx="3"/>
          </p:cNvCxnSpPr>
          <p:nvPr/>
        </p:nvCxnSpPr>
        <p:spPr>
          <a:xfrm rot="5400000">
            <a:off x="1441220" y="18207022"/>
            <a:ext cx="177779" cy="45523"/>
          </a:xfrm>
          <a:prstGeom prst="curvedConnector3">
            <a:avLst>
              <a:gd name="adj1" fmla="val 50000"/>
            </a:avLst>
          </a:prstGeom>
          <a:ln>
            <a:solidFill>
              <a:schemeClr val="tx1"/>
            </a:solidFill>
          </a:ln>
        </p:spPr>
        <p:style>
          <a:lnRef idx="3">
            <a:schemeClr val="accent5"/>
          </a:lnRef>
          <a:fillRef idx="0">
            <a:schemeClr val="accent5"/>
          </a:fillRef>
          <a:effectRef idx="2">
            <a:schemeClr val="accent5"/>
          </a:effectRef>
          <a:fontRef idx="minor">
            <a:schemeClr val="tx1"/>
          </a:fontRef>
        </p:style>
      </p:cxnSp>
      <p:cxnSp>
        <p:nvCxnSpPr>
          <p:cNvPr id="544" name="Straight Connector 145">
            <a:extLst>
              <a:ext uri="{FF2B5EF4-FFF2-40B4-BE49-F238E27FC236}">
                <a16:creationId xmlns:a16="http://schemas.microsoft.com/office/drawing/2014/main" id="{26907249-3BAF-D523-388C-68372DF03D22}"/>
              </a:ext>
            </a:extLst>
          </p:cNvPr>
          <p:cNvCxnSpPr>
            <a:cxnSpLocks/>
          </p:cNvCxnSpPr>
          <p:nvPr/>
        </p:nvCxnSpPr>
        <p:spPr>
          <a:xfrm rot="16200000" flipH="1">
            <a:off x="1375829" y="18625991"/>
            <a:ext cx="1488939" cy="533399"/>
          </a:xfrm>
          <a:prstGeom prst="curvedConnector3">
            <a:avLst>
              <a:gd name="adj1" fmla="val 50000"/>
            </a:avLst>
          </a:prstGeom>
          <a:ln>
            <a:solidFill>
              <a:schemeClr val="tx1"/>
            </a:solidFill>
          </a:ln>
        </p:spPr>
        <p:style>
          <a:lnRef idx="3">
            <a:schemeClr val="accent5"/>
          </a:lnRef>
          <a:fillRef idx="0">
            <a:schemeClr val="accent5"/>
          </a:fillRef>
          <a:effectRef idx="2">
            <a:schemeClr val="accent5"/>
          </a:effectRef>
          <a:fontRef idx="minor">
            <a:schemeClr val="tx1"/>
          </a:fontRef>
        </p:style>
      </p:cxnSp>
      <p:cxnSp>
        <p:nvCxnSpPr>
          <p:cNvPr id="568" name="Straight Connector 145">
            <a:extLst>
              <a:ext uri="{FF2B5EF4-FFF2-40B4-BE49-F238E27FC236}">
                <a16:creationId xmlns:a16="http://schemas.microsoft.com/office/drawing/2014/main" id="{03D53296-6E54-8B17-A3B7-A1BFE8F8764A}"/>
              </a:ext>
            </a:extLst>
          </p:cNvPr>
          <p:cNvCxnSpPr>
            <a:cxnSpLocks/>
            <a:stCxn id="150" idx="3"/>
          </p:cNvCxnSpPr>
          <p:nvPr/>
        </p:nvCxnSpPr>
        <p:spPr>
          <a:xfrm rot="10800000" flipH="1">
            <a:off x="1270995" y="20203899"/>
            <a:ext cx="549644" cy="1161780"/>
          </a:xfrm>
          <a:prstGeom prst="curvedConnector4">
            <a:avLst>
              <a:gd name="adj1" fmla="val -11343"/>
              <a:gd name="adj2" fmla="val 60574"/>
            </a:avLst>
          </a:prstGeom>
          <a:ln>
            <a:solidFill>
              <a:schemeClr val="tx1"/>
            </a:solidFill>
          </a:ln>
        </p:spPr>
        <p:style>
          <a:lnRef idx="3">
            <a:schemeClr val="accent5"/>
          </a:lnRef>
          <a:fillRef idx="0">
            <a:schemeClr val="accent5"/>
          </a:fillRef>
          <a:effectRef idx="2">
            <a:schemeClr val="accent5"/>
          </a:effectRef>
          <a:fontRef idx="minor">
            <a:schemeClr val="tx1"/>
          </a:fontRef>
        </p:style>
      </p:cxnSp>
      <p:cxnSp>
        <p:nvCxnSpPr>
          <p:cNvPr id="571" name="Straight Connector 145">
            <a:extLst>
              <a:ext uri="{FF2B5EF4-FFF2-40B4-BE49-F238E27FC236}">
                <a16:creationId xmlns:a16="http://schemas.microsoft.com/office/drawing/2014/main" id="{DB36ADDA-0F94-2210-201C-0D006D44B084}"/>
              </a:ext>
            </a:extLst>
          </p:cNvPr>
          <p:cNvCxnSpPr>
            <a:cxnSpLocks/>
            <a:stCxn id="197" idx="3"/>
          </p:cNvCxnSpPr>
          <p:nvPr/>
        </p:nvCxnSpPr>
        <p:spPr>
          <a:xfrm rot="10800000">
            <a:off x="1021433" y="20245256"/>
            <a:ext cx="249563" cy="7887791"/>
          </a:xfrm>
          <a:prstGeom prst="curvedConnector2">
            <a:avLst/>
          </a:prstGeom>
          <a:ln>
            <a:solidFill>
              <a:schemeClr val="tx1"/>
            </a:solidFill>
          </a:ln>
        </p:spPr>
        <p:style>
          <a:lnRef idx="3">
            <a:schemeClr val="accent5"/>
          </a:lnRef>
          <a:fillRef idx="0">
            <a:schemeClr val="accent5"/>
          </a:fillRef>
          <a:effectRef idx="2">
            <a:schemeClr val="accent5"/>
          </a:effectRef>
          <a:fontRef idx="minor">
            <a:schemeClr val="tx1"/>
          </a:fontRef>
        </p:style>
      </p:cxnSp>
      <p:sp>
        <p:nvSpPr>
          <p:cNvPr id="512" name="Rectangle 511">
            <a:extLst>
              <a:ext uri="{FF2B5EF4-FFF2-40B4-BE49-F238E27FC236}">
                <a16:creationId xmlns:a16="http://schemas.microsoft.com/office/drawing/2014/main" id="{76996B31-A856-20C7-4744-CD453DAF9F83}"/>
              </a:ext>
            </a:extLst>
          </p:cNvPr>
          <p:cNvSpPr/>
          <p:nvPr/>
        </p:nvSpPr>
        <p:spPr>
          <a:xfrm>
            <a:off x="843790" y="19641261"/>
            <a:ext cx="1564372" cy="69174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sz="1600" dirty="0"/>
          </a:p>
          <a:p>
            <a:pPr algn="ctr"/>
            <a:r>
              <a:rPr lang="en-US" sz="1600" dirty="0"/>
              <a:t>Characterization</a:t>
            </a:r>
          </a:p>
          <a:p>
            <a:pPr algn="ctr"/>
            <a:r>
              <a:rPr lang="en-US" sz="1600" dirty="0"/>
              <a:t>Mode + Zone Selector</a:t>
            </a:r>
          </a:p>
          <a:p>
            <a:pPr algn="ctr"/>
            <a:endParaRPr lang="en-US" sz="1600" dirty="0"/>
          </a:p>
        </p:txBody>
      </p:sp>
      <p:grpSp>
        <p:nvGrpSpPr>
          <p:cNvPr id="614" name="Group 613">
            <a:extLst>
              <a:ext uri="{FF2B5EF4-FFF2-40B4-BE49-F238E27FC236}">
                <a16:creationId xmlns:a16="http://schemas.microsoft.com/office/drawing/2014/main" id="{D36B17A1-BB3B-8CDF-969A-63EF6335FEBC}"/>
              </a:ext>
            </a:extLst>
          </p:cNvPr>
          <p:cNvGrpSpPr/>
          <p:nvPr/>
        </p:nvGrpSpPr>
        <p:grpSpPr>
          <a:xfrm>
            <a:off x="2963236" y="20885873"/>
            <a:ext cx="1375468" cy="1424547"/>
            <a:chOff x="5171438" y="18799410"/>
            <a:chExt cx="1375468" cy="1424547"/>
          </a:xfrm>
        </p:grpSpPr>
        <p:cxnSp>
          <p:nvCxnSpPr>
            <p:cNvPr id="601" name="Straight Arrow Connector 600">
              <a:extLst>
                <a:ext uri="{FF2B5EF4-FFF2-40B4-BE49-F238E27FC236}">
                  <a16:creationId xmlns:a16="http://schemas.microsoft.com/office/drawing/2014/main" id="{35933493-0F1A-2114-6C7F-530708DE0BB4}"/>
                </a:ext>
              </a:extLst>
            </p:cNvPr>
            <p:cNvCxnSpPr>
              <a:cxnSpLocks/>
              <a:stCxn id="604" idx="4"/>
            </p:cNvCxnSpPr>
            <p:nvPr/>
          </p:nvCxnSpPr>
          <p:spPr>
            <a:xfrm>
              <a:off x="5576612" y="19419200"/>
              <a:ext cx="0" cy="70516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602" name="Straight Arrow Connector 601">
              <a:extLst>
                <a:ext uri="{FF2B5EF4-FFF2-40B4-BE49-F238E27FC236}">
                  <a16:creationId xmlns:a16="http://schemas.microsoft.com/office/drawing/2014/main" id="{6FF861E5-1B7B-FCF7-A343-701344866559}"/>
                </a:ext>
              </a:extLst>
            </p:cNvPr>
            <p:cNvCxnSpPr>
              <a:cxnSpLocks/>
              <a:stCxn id="604" idx="6"/>
            </p:cNvCxnSpPr>
            <p:nvPr/>
          </p:nvCxnSpPr>
          <p:spPr>
            <a:xfrm>
              <a:off x="5714064" y="19283080"/>
              <a:ext cx="743631" cy="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grpSp>
          <p:nvGrpSpPr>
            <p:cNvPr id="606" name="Group 605">
              <a:extLst>
                <a:ext uri="{FF2B5EF4-FFF2-40B4-BE49-F238E27FC236}">
                  <a16:creationId xmlns:a16="http://schemas.microsoft.com/office/drawing/2014/main" id="{2B8C134D-D87B-EDA5-C367-4E78226D289B}"/>
                </a:ext>
              </a:extLst>
            </p:cNvPr>
            <p:cNvGrpSpPr/>
            <p:nvPr/>
          </p:nvGrpSpPr>
          <p:grpSpPr>
            <a:xfrm>
              <a:off x="5439160" y="19146959"/>
              <a:ext cx="274904" cy="272241"/>
              <a:chOff x="6057671" y="18576928"/>
              <a:chExt cx="274904" cy="272241"/>
            </a:xfrm>
          </p:grpSpPr>
          <p:sp>
            <p:nvSpPr>
              <p:cNvPr id="604" name="Oval 603">
                <a:extLst>
                  <a:ext uri="{FF2B5EF4-FFF2-40B4-BE49-F238E27FC236}">
                    <a16:creationId xmlns:a16="http://schemas.microsoft.com/office/drawing/2014/main" id="{B1D309D2-6BDC-F4AF-DFA8-439527D72D18}"/>
                  </a:ext>
                </a:extLst>
              </p:cNvPr>
              <p:cNvSpPr/>
              <p:nvPr/>
            </p:nvSpPr>
            <p:spPr>
              <a:xfrm>
                <a:off x="6057671" y="18576928"/>
                <a:ext cx="274904" cy="272241"/>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05" name="Oval 604">
                <a:extLst>
                  <a:ext uri="{FF2B5EF4-FFF2-40B4-BE49-F238E27FC236}">
                    <a16:creationId xmlns:a16="http://schemas.microsoft.com/office/drawing/2014/main" id="{02A1CA8B-B49C-8BA7-FC13-E56ACE1F9E47}"/>
                  </a:ext>
                </a:extLst>
              </p:cNvPr>
              <p:cNvSpPr/>
              <p:nvPr/>
            </p:nvSpPr>
            <p:spPr>
              <a:xfrm>
                <a:off x="6128954" y="18652134"/>
                <a:ext cx="122504" cy="119840"/>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grpSp>
        <mc:AlternateContent xmlns:mc="http://schemas.openxmlformats.org/markup-compatibility/2006" xmlns:a14="http://schemas.microsoft.com/office/drawing/2010/main">
          <mc:Choice Requires="a14">
            <p:sp>
              <p:nvSpPr>
                <p:cNvPr id="611" name="TextBox 610">
                  <a:extLst>
                    <a:ext uri="{FF2B5EF4-FFF2-40B4-BE49-F238E27FC236}">
                      <a16:creationId xmlns:a16="http://schemas.microsoft.com/office/drawing/2014/main" id="{DEAB5766-9423-673E-F6B5-95E633C18704}"/>
                    </a:ext>
                  </a:extLst>
                </p:cNvPr>
                <p:cNvSpPr txBox="1"/>
                <p:nvPr/>
              </p:nvSpPr>
              <p:spPr>
                <a:xfrm>
                  <a:off x="5603999" y="19746903"/>
                  <a:ext cx="436283" cy="4770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acc>
                          <m:accPr>
                            <m:chr m:val="̂"/>
                            <m:ctrlPr>
                              <a:rPr lang="en-US" sz="2500" i="1" smtClean="0">
                                <a:latin typeface="Cambria Math" panose="02040503050406030204" pitchFamily="18" charset="0"/>
                              </a:rPr>
                            </m:ctrlPr>
                          </m:accPr>
                          <m:e>
                            <m:r>
                              <m:rPr>
                                <m:sty m:val="p"/>
                              </m:rPr>
                              <a:rPr lang="en-US" sz="2500" b="0" i="1" smtClean="0">
                                <a:latin typeface="Cambria Math" panose="02040503050406030204" pitchFamily="18" charset="0"/>
                              </a:rPr>
                              <m:t>z</m:t>
                            </m:r>
                          </m:e>
                        </m:acc>
                      </m:oMath>
                    </m:oMathPara>
                  </a14:m>
                  <a:endParaRPr lang="en-US" sz="2500" dirty="0"/>
                </a:p>
              </p:txBody>
            </p:sp>
          </mc:Choice>
          <mc:Fallback xmlns="">
            <p:sp>
              <p:nvSpPr>
                <p:cNvPr id="611" name="TextBox 610">
                  <a:extLst>
                    <a:ext uri="{FF2B5EF4-FFF2-40B4-BE49-F238E27FC236}">
                      <a16:creationId xmlns:a16="http://schemas.microsoft.com/office/drawing/2014/main" id="{DEAB5766-9423-673E-F6B5-95E633C18704}"/>
                    </a:ext>
                  </a:extLst>
                </p:cNvPr>
                <p:cNvSpPr txBox="1">
                  <a:spLocks noRot="1" noChangeAspect="1" noMove="1" noResize="1" noEditPoints="1" noAdjustHandles="1" noChangeArrowheads="1" noChangeShapeType="1" noTextEdit="1"/>
                </p:cNvSpPr>
                <p:nvPr/>
              </p:nvSpPr>
              <p:spPr>
                <a:xfrm>
                  <a:off x="5603999" y="19746903"/>
                  <a:ext cx="436283" cy="477054"/>
                </a:xfrm>
                <a:prstGeom prst="rect">
                  <a:avLst/>
                </a:prstGeom>
                <a:blipFill>
                  <a:blip r:embed="rId23"/>
                  <a:stretch>
                    <a:fillRect t="-2532" r="-1944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12" name="TextBox 611">
                  <a:extLst>
                    <a:ext uri="{FF2B5EF4-FFF2-40B4-BE49-F238E27FC236}">
                      <a16:creationId xmlns:a16="http://schemas.microsoft.com/office/drawing/2014/main" id="{03D2F13F-86E3-AA33-A471-B02529A52E2C}"/>
                    </a:ext>
                  </a:extLst>
                </p:cNvPr>
                <p:cNvSpPr txBox="1"/>
                <p:nvPr/>
              </p:nvSpPr>
              <p:spPr>
                <a:xfrm>
                  <a:off x="6110623" y="18841922"/>
                  <a:ext cx="436283" cy="4770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acc>
                          <m:accPr>
                            <m:chr m:val="̂"/>
                            <m:ctrlPr>
                              <a:rPr lang="en-US" sz="2500" i="1" smtClean="0">
                                <a:latin typeface="Cambria Math" panose="02040503050406030204" pitchFamily="18" charset="0"/>
                              </a:rPr>
                            </m:ctrlPr>
                          </m:accPr>
                          <m:e>
                            <m:r>
                              <m:rPr>
                                <m:sty m:val="p"/>
                              </m:rPr>
                              <a:rPr lang="en-US" sz="2500" b="0" i="1" smtClean="0">
                                <a:latin typeface="Cambria Math" panose="02040503050406030204" pitchFamily="18" charset="0"/>
                              </a:rPr>
                              <m:t>x</m:t>
                            </m:r>
                          </m:e>
                        </m:acc>
                      </m:oMath>
                    </m:oMathPara>
                  </a14:m>
                  <a:endParaRPr lang="en-US" sz="2500" dirty="0"/>
                </a:p>
              </p:txBody>
            </p:sp>
          </mc:Choice>
          <mc:Fallback xmlns="">
            <p:sp>
              <p:nvSpPr>
                <p:cNvPr id="612" name="TextBox 611">
                  <a:extLst>
                    <a:ext uri="{FF2B5EF4-FFF2-40B4-BE49-F238E27FC236}">
                      <a16:creationId xmlns:a16="http://schemas.microsoft.com/office/drawing/2014/main" id="{03D2F13F-86E3-AA33-A471-B02529A52E2C}"/>
                    </a:ext>
                  </a:extLst>
                </p:cNvPr>
                <p:cNvSpPr txBox="1">
                  <a:spLocks noRot="1" noChangeAspect="1" noMove="1" noResize="1" noEditPoints="1" noAdjustHandles="1" noChangeArrowheads="1" noChangeShapeType="1" noTextEdit="1"/>
                </p:cNvSpPr>
                <p:nvPr/>
              </p:nvSpPr>
              <p:spPr>
                <a:xfrm>
                  <a:off x="6110623" y="18841922"/>
                  <a:ext cx="436283" cy="477054"/>
                </a:xfrm>
                <a:prstGeom prst="rect">
                  <a:avLst/>
                </a:prstGeom>
                <a:blipFill>
                  <a:blip r:embed="rId24"/>
                  <a:stretch>
                    <a:fillRect t="-2564" r="-1831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13" name="TextBox 612">
                  <a:extLst>
                    <a:ext uri="{FF2B5EF4-FFF2-40B4-BE49-F238E27FC236}">
                      <a16:creationId xmlns:a16="http://schemas.microsoft.com/office/drawing/2014/main" id="{5F0656ED-8701-7C58-1E45-B978D994E310}"/>
                    </a:ext>
                  </a:extLst>
                </p:cNvPr>
                <p:cNvSpPr txBox="1"/>
                <p:nvPr/>
              </p:nvSpPr>
              <p:spPr>
                <a:xfrm>
                  <a:off x="5171438" y="18799410"/>
                  <a:ext cx="436283" cy="4770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acc>
                          <m:accPr>
                            <m:chr m:val="̂"/>
                            <m:ctrlPr>
                              <a:rPr lang="en-US" sz="2500" i="1" smtClean="0">
                                <a:latin typeface="Cambria Math" panose="02040503050406030204" pitchFamily="18" charset="0"/>
                              </a:rPr>
                            </m:ctrlPr>
                          </m:accPr>
                          <m:e>
                            <m:r>
                              <m:rPr>
                                <m:sty m:val="p"/>
                              </m:rPr>
                              <a:rPr lang="en-US" sz="2500" b="0" i="1" smtClean="0">
                                <a:latin typeface="Cambria Math" panose="02040503050406030204" pitchFamily="18" charset="0"/>
                              </a:rPr>
                              <m:t>y</m:t>
                            </m:r>
                          </m:e>
                        </m:acc>
                      </m:oMath>
                    </m:oMathPara>
                  </a14:m>
                  <a:endParaRPr lang="en-US" sz="2500" dirty="0"/>
                </a:p>
              </p:txBody>
            </p:sp>
          </mc:Choice>
          <mc:Fallback xmlns="">
            <p:sp>
              <p:nvSpPr>
                <p:cNvPr id="613" name="TextBox 612">
                  <a:extLst>
                    <a:ext uri="{FF2B5EF4-FFF2-40B4-BE49-F238E27FC236}">
                      <a16:creationId xmlns:a16="http://schemas.microsoft.com/office/drawing/2014/main" id="{5F0656ED-8701-7C58-1E45-B978D994E310}"/>
                    </a:ext>
                  </a:extLst>
                </p:cNvPr>
                <p:cNvSpPr txBox="1">
                  <a:spLocks noRot="1" noChangeAspect="1" noMove="1" noResize="1" noEditPoints="1" noAdjustHandles="1" noChangeArrowheads="1" noChangeShapeType="1" noTextEdit="1"/>
                </p:cNvSpPr>
                <p:nvPr/>
              </p:nvSpPr>
              <p:spPr>
                <a:xfrm>
                  <a:off x="5171438" y="18799410"/>
                  <a:ext cx="436283" cy="477054"/>
                </a:xfrm>
                <a:prstGeom prst="rect">
                  <a:avLst/>
                </a:prstGeom>
                <a:blipFill>
                  <a:blip r:embed="rId25"/>
                  <a:stretch>
                    <a:fillRect t="-2564" r="-19718" b="-10256"/>
                  </a:stretch>
                </a:blipFill>
              </p:spPr>
              <p:txBody>
                <a:bodyPr/>
                <a:lstStyle/>
                <a:p>
                  <a:r>
                    <a:rPr lang="en-US">
                      <a:noFill/>
                    </a:rPr>
                    <a:t> </a:t>
                  </a:r>
                </a:p>
              </p:txBody>
            </p:sp>
          </mc:Fallback>
        </mc:AlternateContent>
      </p:grpSp>
      <p:sp>
        <p:nvSpPr>
          <p:cNvPr id="625" name="TextBox 624">
            <a:extLst>
              <a:ext uri="{FF2B5EF4-FFF2-40B4-BE49-F238E27FC236}">
                <a16:creationId xmlns:a16="http://schemas.microsoft.com/office/drawing/2014/main" id="{399BD851-C62C-1B68-7FF3-C41795C5D7DB}"/>
              </a:ext>
            </a:extLst>
          </p:cNvPr>
          <p:cNvSpPr txBox="1"/>
          <p:nvPr/>
        </p:nvSpPr>
        <p:spPr>
          <a:xfrm>
            <a:off x="758452" y="16089898"/>
            <a:ext cx="6595789" cy="646331"/>
          </a:xfrm>
          <a:prstGeom prst="rect">
            <a:avLst/>
          </a:prstGeom>
          <a:noFill/>
        </p:spPr>
        <p:txBody>
          <a:bodyPr wrap="square" rtlCol="0">
            <a:spAutoFit/>
          </a:bodyPr>
          <a:lstStyle/>
          <a:p>
            <a:r>
              <a:rPr lang="en-US" sz="3600" b="1" u="sng" dirty="0"/>
              <a:t>Beam Characterization Setup</a:t>
            </a:r>
          </a:p>
        </p:txBody>
      </p:sp>
      <p:sp>
        <p:nvSpPr>
          <p:cNvPr id="626" name="TextBox 625">
            <a:extLst>
              <a:ext uri="{FF2B5EF4-FFF2-40B4-BE49-F238E27FC236}">
                <a16:creationId xmlns:a16="http://schemas.microsoft.com/office/drawing/2014/main" id="{F4454816-14E4-FA75-C382-B1682E708AA8}"/>
              </a:ext>
            </a:extLst>
          </p:cNvPr>
          <p:cNvSpPr txBox="1"/>
          <p:nvPr/>
        </p:nvSpPr>
        <p:spPr>
          <a:xfrm>
            <a:off x="13158025" y="13373392"/>
            <a:ext cx="5676632" cy="646331"/>
          </a:xfrm>
          <a:prstGeom prst="rect">
            <a:avLst/>
          </a:prstGeom>
          <a:noFill/>
          <a:ln>
            <a:noFill/>
          </a:ln>
        </p:spPr>
        <p:txBody>
          <a:bodyPr wrap="square" rtlCol="0">
            <a:spAutoFit/>
          </a:bodyPr>
          <a:lstStyle/>
          <a:p>
            <a:r>
              <a:rPr lang="en-US" sz="3600" b="1" u="sng" dirty="0"/>
              <a:t>Characterization Procedure</a:t>
            </a:r>
          </a:p>
        </p:txBody>
      </p:sp>
      <mc:AlternateContent xmlns:mc="http://schemas.openxmlformats.org/markup-compatibility/2006" xmlns:a14="http://schemas.microsoft.com/office/drawing/2010/main">
        <mc:Choice Requires="a14">
          <p:sp>
            <p:nvSpPr>
              <p:cNvPr id="627" name="TextBox 626">
                <a:extLst>
                  <a:ext uri="{FF2B5EF4-FFF2-40B4-BE49-F238E27FC236}">
                    <a16:creationId xmlns:a16="http://schemas.microsoft.com/office/drawing/2014/main" id="{1125A5E7-E30C-4CFE-D98F-B9D886CB253A}"/>
                  </a:ext>
                </a:extLst>
              </p:cNvPr>
              <p:cNvSpPr txBox="1"/>
              <p:nvPr/>
            </p:nvSpPr>
            <p:spPr>
              <a:xfrm>
                <a:off x="13181393" y="20010545"/>
                <a:ext cx="7875849" cy="4766048"/>
              </a:xfrm>
              <a:prstGeom prst="rect">
                <a:avLst/>
              </a:prstGeom>
              <a:noFill/>
            </p:spPr>
            <p:txBody>
              <a:bodyPr wrap="square" rtlCol="0">
                <a:spAutoFit/>
              </a:bodyPr>
              <a:lstStyle/>
              <a:p>
                <a:pPr marL="457200" indent="-457200">
                  <a:buFont typeface="Arial" panose="020B0604020202020204" pitchFamily="34" charset="0"/>
                  <a:buChar char="•"/>
                </a:pPr>
                <a:r>
                  <a:rPr lang="en-US" sz="3000" dirty="0"/>
                  <a:t>Scan over</a:t>
                </a:r>
                <a14:m>
                  <m:oMath xmlns:m="http://schemas.openxmlformats.org/officeDocument/2006/math">
                    <m:sSup>
                      <m:sSupPr>
                        <m:ctrlPr>
                          <a:rPr lang="en-US" sz="3000" i="1" smtClean="0">
                            <a:latin typeface="Cambria Math" panose="02040503050406030204" pitchFamily="18" charset="0"/>
                            <a:ea typeface="Cambria Math" panose="02040503050406030204" pitchFamily="18" charset="0"/>
                          </a:rPr>
                        </m:ctrlPr>
                      </m:sSupPr>
                      <m:e>
                        <m:r>
                          <a:rPr lang="en-US" sz="3000" b="0" i="1" smtClean="0">
                            <a:latin typeface="Cambria Math" panose="02040503050406030204" pitchFamily="18" charset="0"/>
                            <a:ea typeface="Cambria Math" panose="02040503050406030204" pitchFamily="18" charset="0"/>
                          </a:rPr>
                          <m:t> </m:t>
                        </m:r>
                      </m:e>
                      <m:sup>
                        <m:r>
                          <a:rPr lang="en-US" sz="3000" b="0" i="1" smtClean="0">
                            <a:latin typeface="Cambria Math" panose="02040503050406030204" pitchFamily="18" charset="0"/>
                            <a:ea typeface="Cambria Math" panose="02040503050406030204" pitchFamily="18" charset="0"/>
                          </a:rPr>
                          <m:t>85</m:t>
                        </m:r>
                      </m:sup>
                    </m:sSup>
                    <m:r>
                      <m:rPr>
                        <m:sty m:val="p"/>
                      </m:rPr>
                      <a:rPr lang="en-US" sz="3000" b="0" i="0" smtClean="0">
                        <a:latin typeface="Cambria Math" panose="02040503050406030204" pitchFamily="18" charset="0"/>
                        <a:ea typeface="Cambria Math" panose="02040503050406030204" pitchFamily="18" charset="0"/>
                      </a:rPr>
                      <m:t>Rb</m:t>
                    </m:r>
                    <m:r>
                      <a:rPr lang="en-US" sz="3000" b="0" i="1" smtClean="0">
                        <a:latin typeface="Cambria Math" panose="02040503050406030204" pitchFamily="18" charset="0"/>
                        <a:ea typeface="Cambria Math" panose="02040503050406030204" pitchFamily="18" charset="0"/>
                      </a:rPr>
                      <m:t> </m:t>
                    </m:r>
                    <m:r>
                      <a:rPr lang="en-US" sz="3000" b="0" i="1" smtClean="0">
                        <a:latin typeface="Cambria Math" panose="02040503050406030204" pitchFamily="18" charset="0"/>
                        <a:ea typeface="Cambria Math" panose="02040503050406030204" pitchFamily="18" charset="0"/>
                      </a:rPr>
                      <m:t>𝐹</m:t>
                    </m:r>
                    <m:r>
                      <a:rPr lang="en-US" sz="3000" b="0" i="1" smtClean="0">
                        <a:latin typeface="Cambria Math" panose="02040503050406030204" pitchFamily="18" charset="0"/>
                        <a:ea typeface="Cambria Math" panose="02040503050406030204" pitchFamily="18" charset="0"/>
                      </a:rPr>
                      <m:t>=3→</m:t>
                    </m:r>
                    <m:sSup>
                      <m:sSupPr>
                        <m:ctrlPr>
                          <a:rPr lang="en-US" sz="3000" b="0" i="1" smtClean="0">
                            <a:latin typeface="Cambria Math" panose="02040503050406030204" pitchFamily="18" charset="0"/>
                            <a:ea typeface="Cambria Math" panose="02040503050406030204" pitchFamily="18" charset="0"/>
                          </a:rPr>
                        </m:ctrlPr>
                      </m:sSupPr>
                      <m:e>
                        <m:r>
                          <a:rPr lang="en-US" sz="3000" b="0" i="1" smtClean="0">
                            <a:latin typeface="Cambria Math" panose="02040503050406030204" pitchFamily="18" charset="0"/>
                            <a:ea typeface="Cambria Math" panose="02040503050406030204" pitchFamily="18" charset="0"/>
                          </a:rPr>
                          <m:t>𝐹</m:t>
                        </m:r>
                      </m:e>
                      <m:sup>
                        <m:r>
                          <a:rPr lang="en-US" sz="3000" b="0" i="1" smtClean="0">
                            <a:latin typeface="Cambria Math" panose="02040503050406030204" pitchFamily="18" charset="0"/>
                            <a:ea typeface="Cambria Math" panose="02040503050406030204" pitchFamily="18" charset="0"/>
                          </a:rPr>
                          <m:t>′</m:t>
                        </m:r>
                      </m:sup>
                    </m:sSup>
                    <m:r>
                      <a:rPr lang="en-US" sz="3000" b="0" i="1" smtClean="0">
                        <a:latin typeface="Cambria Math" panose="02040503050406030204" pitchFamily="18" charset="0"/>
                        <a:ea typeface="Cambria Math" panose="02040503050406030204" pitchFamily="18" charset="0"/>
                      </a:rPr>
                      <m:t>=4</m:t>
                    </m:r>
                  </m:oMath>
                </a14:m>
                <a:endParaRPr lang="en-US" sz="3000" dirty="0"/>
              </a:p>
              <a:p>
                <a:pPr marL="457200" indent="-457200">
                  <a:buFont typeface="Arial" panose="020B0604020202020204" pitchFamily="34" charset="0"/>
                  <a:buChar char="•"/>
                </a:pPr>
                <a:r>
                  <a:rPr lang="en-US" sz="3000" dirty="0"/>
                  <a:t>Position probe beam and PD at variable </a:t>
                </a:r>
                <a14:m>
                  <m:oMath xmlns:m="http://schemas.openxmlformats.org/officeDocument/2006/math">
                    <m:r>
                      <a:rPr lang="en-US" sz="3000" i="1" smtClean="0">
                        <a:latin typeface="Cambria Math" panose="02040503050406030204" pitchFamily="18" charset="0"/>
                        <a:ea typeface="Cambria Math" panose="02040503050406030204" pitchFamily="18" charset="0"/>
                      </a:rPr>
                      <m:t>∆</m:t>
                    </m:r>
                    <m:r>
                      <m:rPr>
                        <m:sty m:val="p"/>
                      </m:rPr>
                      <a:rPr lang="en-US" sz="3000" b="0" i="1" smtClean="0">
                        <a:latin typeface="Cambria Math" panose="02040503050406030204" pitchFamily="18" charset="0"/>
                        <a:ea typeface="Cambria Math" panose="02040503050406030204" pitchFamily="18" charset="0"/>
                      </a:rPr>
                      <m:t>y</m:t>
                    </m:r>
                  </m:oMath>
                </a14:m>
                <a:r>
                  <a:rPr lang="en-US" sz="3000" dirty="0"/>
                  <a:t> (Look Periscope) and take absorption data</a:t>
                </a:r>
              </a:p>
              <a:p>
                <a:pPr marL="457200" indent="-457200">
                  <a:buFont typeface="Arial" panose="020B0604020202020204" pitchFamily="34" charset="0"/>
                  <a:buChar char="•"/>
                </a:pPr>
                <a:r>
                  <a:rPr lang="en-US" sz="3000" dirty="0"/>
                  <a:t>Fit with normalized Lorentzian to extract peak height</a:t>
                </a:r>
              </a:p>
              <a:p>
                <a:pPr marL="457200" indent="-457200">
                  <a:buFont typeface="Arial" panose="020B0604020202020204" pitchFamily="34" charset="0"/>
                  <a:buChar char="•"/>
                </a:pPr>
                <a:r>
                  <a:rPr lang="en-US" sz="3000" dirty="0"/>
                  <a:t>Fit relative absorption vs </a:t>
                </a:r>
                <a14:m>
                  <m:oMath xmlns:m="http://schemas.openxmlformats.org/officeDocument/2006/math">
                    <m:r>
                      <a:rPr lang="en-US" sz="3000" i="1">
                        <a:latin typeface="Cambria Math" panose="02040503050406030204" pitchFamily="18" charset="0"/>
                        <a:ea typeface="Cambria Math" panose="02040503050406030204" pitchFamily="18" charset="0"/>
                      </a:rPr>
                      <m:t>∆</m:t>
                    </m:r>
                    <m:r>
                      <m:rPr>
                        <m:sty m:val="p"/>
                      </m:rPr>
                      <a:rPr lang="en-US" sz="3000" i="1">
                        <a:latin typeface="Cambria Math" panose="02040503050406030204" pitchFamily="18" charset="0"/>
                        <a:ea typeface="Cambria Math" panose="02040503050406030204" pitchFamily="18" charset="0"/>
                      </a:rPr>
                      <m:t>y</m:t>
                    </m:r>
                  </m:oMath>
                </a14:m>
                <a:r>
                  <a:rPr lang="en-US" sz="3000" dirty="0"/>
                  <a:t> with gaussian to extract 1/e width for zone 1 and 2</a:t>
                </a:r>
              </a:p>
              <a:p>
                <a:pPr marL="457200" indent="-457200">
                  <a:buFont typeface="Arial" panose="020B0604020202020204" pitchFamily="34" charset="0"/>
                  <a:buChar char="•"/>
                </a:pPr>
                <a:r>
                  <a:rPr lang="en-US" sz="3000" dirty="0"/>
                  <a:t>half angle divergence: </a:t>
                </a:r>
                <a14:m>
                  <m:oMath xmlns:m="http://schemas.openxmlformats.org/officeDocument/2006/math">
                    <m:sSub>
                      <m:sSubPr>
                        <m:ctrlPr>
                          <a:rPr lang="en-US" sz="3000" b="1" i="1" smtClean="0">
                            <a:latin typeface="Cambria Math" panose="02040503050406030204" pitchFamily="18" charset="0"/>
                            <a:ea typeface="Cambria Math" panose="02040503050406030204" pitchFamily="18" charset="0"/>
                          </a:rPr>
                        </m:ctrlPr>
                      </m:sSubPr>
                      <m:e>
                        <m:r>
                          <a:rPr lang="en-US" sz="3000" b="1" i="1" smtClean="0">
                            <a:latin typeface="Cambria Math" panose="02040503050406030204" pitchFamily="18" charset="0"/>
                            <a:ea typeface="Cambria Math" panose="02040503050406030204" pitchFamily="18" charset="0"/>
                          </a:rPr>
                          <m:t>(</m:t>
                        </m:r>
                        <m:r>
                          <a:rPr lang="en-US" sz="3000" b="1" i="1" smtClean="0">
                            <a:latin typeface="Cambria Math" panose="02040503050406030204" pitchFamily="18" charset="0"/>
                            <a:ea typeface="Cambria Math" panose="02040503050406030204" pitchFamily="18" charset="0"/>
                          </a:rPr>
                          <m:t>𝜶</m:t>
                        </m:r>
                        <m:r>
                          <a:rPr lang="en-US" sz="3000" b="1" i="1" smtClean="0">
                            <a:latin typeface="Cambria Math" panose="02040503050406030204" pitchFamily="18" charset="0"/>
                            <a:ea typeface="Cambria Math" panose="02040503050406030204" pitchFamily="18" charset="0"/>
                          </a:rPr>
                          <m:t>)</m:t>
                        </m:r>
                      </m:e>
                      <m:sub>
                        <m:r>
                          <a:rPr lang="en-US" sz="3000" b="1" i="0" smtClean="0">
                            <a:latin typeface="Cambria Math" panose="02040503050406030204" pitchFamily="18" charset="0"/>
                            <a:ea typeface="Cambria Math" panose="02040503050406030204" pitchFamily="18" charset="0"/>
                          </a:rPr>
                          <m:t>𝟏</m:t>
                        </m:r>
                        <m:r>
                          <a:rPr lang="en-US" sz="3000" b="1" i="0" smtClean="0">
                            <a:latin typeface="Cambria Math" panose="02040503050406030204" pitchFamily="18" charset="0"/>
                            <a:ea typeface="Cambria Math" panose="02040503050406030204" pitchFamily="18" charset="0"/>
                          </a:rPr>
                          <m:t>/</m:t>
                        </m:r>
                        <m:r>
                          <a:rPr lang="en-US" sz="3000" b="1" i="0" smtClean="0">
                            <a:latin typeface="Cambria Math" panose="02040503050406030204" pitchFamily="18" charset="0"/>
                            <a:ea typeface="Cambria Math" panose="02040503050406030204" pitchFamily="18" charset="0"/>
                          </a:rPr>
                          <m:t>𝐞</m:t>
                        </m:r>
                      </m:sub>
                    </m:sSub>
                    <m:r>
                      <a:rPr lang="en-US" sz="3000" b="1" i="1" smtClean="0">
                        <a:latin typeface="Cambria Math" panose="02040503050406030204" pitchFamily="18" charset="0"/>
                        <a:ea typeface="Cambria Math" panose="02040503050406030204" pitchFamily="18" charset="0"/>
                      </a:rPr>
                      <m:t>=</m:t>
                    </m:r>
                    <m:r>
                      <a:rPr lang="en-US" sz="3000" b="1" i="1" smtClean="0">
                        <a:latin typeface="Cambria Math" panose="02040503050406030204" pitchFamily="18" charset="0"/>
                        <a:ea typeface="Cambria Math" panose="02040503050406030204" pitchFamily="18" charset="0"/>
                      </a:rPr>
                      <m:t>𝟎</m:t>
                    </m:r>
                    <m:r>
                      <a:rPr lang="en-US" sz="3000" b="1" i="1" smtClean="0">
                        <a:latin typeface="Cambria Math" panose="02040503050406030204" pitchFamily="18" charset="0"/>
                        <a:ea typeface="Cambria Math" panose="02040503050406030204" pitchFamily="18" charset="0"/>
                      </a:rPr>
                      <m:t>.</m:t>
                    </m:r>
                    <m:r>
                      <a:rPr lang="en-US" sz="3000" b="1" i="1" smtClean="0">
                        <a:latin typeface="Cambria Math" panose="02040503050406030204" pitchFamily="18" charset="0"/>
                        <a:ea typeface="Cambria Math" panose="02040503050406030204" pitchFamily="18" charset="0"/>
                      </a:rPr>
                      <m:t>𝟒𝟖</m:t>
                    </m:r>
                    <m:r>
                      <a:rPr lang="en-US" sz="3000" b="1" i="1" smtClean="0">
                        <a:latin typeface="Cambria Math" panose="02040503050406030204" pitchFamily="18" charset="0"/>
                        <a:ea typeface="Cambria Math" panose="02040503050406030204" pitchFamily="18" charset="0"/>
                      </a:rPr>
                      <m:t>±</m:t>
                    </m:r>
                    <m:r>
                      <a:rPr lang="en-US" sz="3000" b="1" i="1" smtClean="0">
                        <a:latin typeface="Cambria Math" panose="02040503050406030204" pitchFamily="18" charset="0"/>
                        <a:ea typeface="Cambria Math" panose="02040503050406030204" pitchFamily="18" charset="0"/>
                      </a:rPr>
                      <m:t>𝟎</m:t>
                    </m:r>
                    <m:r>
                      <a:rPr lang="en-US" sz="3000" b="1" i="1" smtClean="0">
                        <a:latin typeface="Cambria Math" panose="02040503050406030204" pitchFamily="18" charset="0"/>
                        <a:ea typeface="Cambria Math" panose="02040503050406030204" pitchFamily="18" charset="0"/>
                      </a:rPr>
                      <m:t>.</m:t>
                    </m:r>
                    <m:r>
                      <a:rPr lang="en-US" sz="3000" b="1" i="1" smtClean="0">
                        <a:latin typeface="Cambria Math" panose="02040503050406030204" pitchFamily="18" charset="0"/>
                        <a:ea typeface="Cambria Math" panose="02040503050406030204" pitchFamily="18" charset="0"/>
                      </a:rPr>
                      <m:t>𝟏</m:t>
                    </m:r>
                    <m:r>
                      <a:rPr lang="en-US" sz="3000" b="1" i="1" smtClean="0">
                        <a:latin typeface="Cambria Math" panose="02040503050406030204" pitchFamily="18" charset="0"/>
                        <a:ea typeface="Cambria Math" panose="02040503050406030204" pitchFamily="18" charset="0"/>
                      </a:rPr>
                      <m:t>°</m:t>
                    </m:r>
                  </m:oMath>
                </a14:m>
                <a:endParaRPr lang="en-US" sz="3000" b="1" dirty="0">
                  <a:ea typeface="Cambria Math" panose="02040503050406030204" pitchFamily="18" charset="0"/>
                </a:endParaRPr>
              </a:p>
              <a:p>
                <a:pPr marL="457200" indent="-457200">
                  <a:buFont typeface="Arial" panose="020B0604020202020204" pitchFamily="34" charset="0"/>
                  <a:buChar char="•"/>
                </a:pPr>
                <a:r>
                  <a:rPr lang="en-US" sz="3000" dirty="0"/>
                  <a:t>Capture efficiency: </a:t>
                </a:r>
                <a14:m>
                  <m:oMath xmlns:m="http://schemas.openxmlformats.org/officeDocument/2006/math">
                    <m:r>
                      <a:rPr lang="en-US" sz="3000" b="1" i="1">
                        <a:latin typeface="Cambria Math" panose="02040503050406030204" pitchFamily="18" charset="0"/>
                      </a:rPr>
                      <m:t>𝟔𝟖</m:t>
                    </m:r>
                    <m:r>
                      <a:rPr lang="en-US" sz="3000" b="1" i="1">
                        <a:latin typeface="Cambria Math" panose="02040503050406030204" pitchFamily="18" charset="0"/>
                        <a:ea typeface="Cambria Math" panose="02040503050406030204" pitchFamily="18" charset="0"/>
                      </a:rPr>
                      <m:t>±</m:t>
                    </m:r>
                    <m:r>
                      <a:rPr lang="en-US" sz="3000" b="1" i="1">
                        <a:latin typeface="Cambria Math" panose="02040503050406030204" pitchFamily="18" charset="0"/>
                        <a:ea typeface="Cambria Math" panose="02040503050406030204" pitchFamily="18" charset="0"/>
                      </a:rPr>
                      <m:t>𝟕</m:t>
                    </m:r>
                    <m:r>
                      <a:rPr lang="en-US" sz="3000" i="1">
                        <a:latin typeface="Cambria Math" panose="02040503050406030204" pitchFamily="18" charset="0"/>
                        <a:ea typeface="Cambria Math" panose="02040503050406030204" pitchFamily="18" charset="0"/>
                      </a:rPr>
                      <m:t>%</m:t>
                    </m:r>
                  </m:oMath>
                </a14:m>
                <a:r>
                  <a:rPr lang="en-US" sz="3000" dirty="0"/>
                  <a:t> </a:t>
                </a:r>
              </a:p>
              <a:p>
                <a:pPr marL="457200" indent="-457200">
                  <a:buFont typeface="Arial" panose="020B0604020202020204" pitchFamily="34" charset="0"/>
                  <a:buChar char="•"/>
                </a:pPr>
                <a:r>
                  <a:rPr lang="en-US" sz="3000" dirty="0"/>
                  <a:t>Flux: </a:t>
                </a:r>
                <a14:m>
                  <m:oMath xmlns:m="http://schemas.openxmlformats.org/officeDocument/2006/math">
                    <m:r>
                      <a:rPr lang="en-US" sz="3000" b="1" i="1" smtClean="0">
                        <a:latin typeface="Cambria Math" panose="02040503050406030204" pitchFamily="18" charset="0"/>
                      </a:rPr>
                      <m:t>𝟏</m:t>
                    </m:r>
                    <m:r>
                      <a:rPr lang="en-US" sz="3000" b="1" i="1" smtClean="0">
                        <a:latin typeface="Cambria Math" panose="02040503050406030204" pitchFamily="18" charset="0"/>
                      </a:rPr>
                      <m:t>.</m:t>
                    </m:r>
                    <m:r>
                      <a:rPr lang="en-US" sz="3000" b="1" i="1" smtClean="0">
                        <a:latin typeface="Cambria Math" panose="02040503050406030204" pitchFamily="18" charset="0"/>
                      </a:rPr>
                      <m:t>𝟕𝟖</m:t>
                    </m:r>
                    <m:r>
                      <a:rPr lang="en-US" sz="3000" b="1" i="1" smtClean="0">
                        <a:latin typeface="Cambria Math" panose="02040503050406030204" pitchFamily="18" charset="0"/>
                        <a:ea typeface="Cambria Math" panose="02040503050406030204" pitchFamily="18" charset="0"/>
                      </a:rPr>
                      <m:t>×</m:t>
                    </m:r>
                    <m:sSup>
                      <m:sSupPr>
                        <m:ctrlPr>
                          <a:rPr lang="en-US" sz="3000" b="1" i="1" smtClean="0">
                            <a:latin typeface="Cambria Math" panose="02040503050406030204" pitchFamily="18" charset="0"/>
                            <a:ea typeface="Cambria Math" panose="02040503050406030204" pitchFamily="18" charset="0"/>
                          </a:rPr>
                        </m:ctrlPr>
                      </m:sSupPr>
                      <m:e>
                        <m:r>
                          <a:rPr lang="en-US" sz="3000" b="1" i="1" smtClean="0">
                            <a:latin typeface="Cambria Math" panose="02040503050406030204" pitchFamily="18" charset="0"/>
                            <a:ea typeface="Cambria Math" panose="02040503050406030204" pitchFamily="18" charset="0"/>
                          </a:rPr>
                          <m:t>𝟏𝟎</m:t>
                        </m:r>
                      </m:e>
                      <m:sup>
                        <m:r>
                          <a:rPr lang="en-US" sz="3000" b="1" i="1" smtClean="0">
                            <a:latin typeface="Cambria Math" panose="02040503050406030204" pitchFamily="18" charset="0"/>
                            <a:ea typeface="Cambria Math" panose="02040503050406030204" pitchFamily="18" charset="0"/>
                          </a:rPr>
                          <m:t>𝟏𝟎</m:t>
                        </m:r>
                      </m:sup>
                    </m:sSup>
                  </m:oMath>
                </a14:m>
                <a:r>
                  <a:rPr lang="en-US" sz="3000" b="1" dirty="0"/>
                  <a:t> atoms/s</a:t>
                </a:r>
              </a:p>
            </p:txBody>
          </p:sp>
        </mc:Choice>
        <mc:Fallback xmlns="">
          <p:sp>
            <p:nvSpPr>
              <p:cNvPr id="627" name="TextBox 626">
                <a:extLst>
                  <a:ext uri="{FF2B5EF4-FFF2-40B4-BE49-F238E27FC236}">
                    <a16:creationId xmlns:a16="http://schemas.microsoft.com/office/drawing/2014/main" id="{1125A5E7-E30C-4CFE-D98F-B9D886CB253A}"/>
                  </a:ext>
                </a:extLst>
              </p:cNvPr>
              <p:cNvSpPr txBox="1">
                <a:spLocks noRot="1" noChangeAspect="1" noMove="1" noResize="1" noEditPoints="1" noAdjustHandles="1" noChangeArrowheads="1" noChangeShapeType="1" noTextEdit="1"/>
              </p:cNvSpPr>
              <p:nvPr/>
            </p:nvSpPr>
            <p:spPr>
              <a:xfrm>
                <a:off x="13181393" y="20010545"/>
                <a:ext cx="7875849" cy="4766048"/>
              </a:xfrm>
              <a:prstGeom prst="rect">
                <a:avLst/>
              </a:prstGeom>
              <a:blipFill>
                <a:blip r:embed="rId26"/>
                <a:stretch>
                  <a:fillRect l="-1548" t="-1408" r="-1006" b="-3201"/>
                </a:stretch>
              </a:blipFill>
            </p:spPr>
            <p:txBody>
              <a:bodyPr/>
              <a:lstStyle/>
              <a:p>
                <a:r>
                  <a:rPr lang="en-US">
                    <a:noFill/>
                  </a:rPr>
                  <a:t> </a:t>
                </a:r>
              </a:p>
            </p:txBody>
          </p:sp>
        </mc:Fallback>
      </mc:AlternateContent>
      <p:sp>
        <p:nvSpPr>
          <p:cNvPr id="628" name="TextBox 627">
            <a:extLst>
              <a:ext uri="{FF2B5EF4-FFF2-40B4-BE49-F238E27FC236}">
                <a16:creationId xmlns:a16="http://schemas.microsoft.com/office/drawing/2014/main" id="{33B2C616-A1DE-BBF6-5C0B-38AB47E842F8}"/>
              </a:ext>
            </a:extLst>
          </p:cNvPr>
          <p:cNvSpPr txBox="1"/>
          <p:nvPr/>
        </p:nvSpPr>
        <p:spPr>
          <a:xfrm>
            <a:off x="1030159" y="22278739"/>
            <a:ext cx="1927135" cy="861774"/>
          </a:xfrm>
          <a:prstGeom prst="rect">
            <a:avLst/>
          </a:prstGeom>
          <a:noFill/>
        </p:spPr>
        <p:txBody>
          <a:bodyPr wrap="square" rtlCol="0">
            <a:spAutoFit/>
          </a:bodyPr>
          <a:lstStyle/>
          <a:p>
            <a:pPr algn="ctr"/>
            <a:r>
              <a:rPr lang="en-US" sz="2500" dirty="0"/>
              <a:t>Interrogation Zone 1</a:t>
            </a:r>
          </a:p>
        </p:txBody>
      </p:sp>
      <p:sp>
        <p:nvSpPr>
          <p:cNvPr id="629" name="TextBox 628">
            <a:extLst>
              <a:ext uri="{FF2B5EF4-FFF2-40B4-BE49-F238E27FC236}">
                <a16:creationId xmlns:a16="http://schemas.microsoft.com/office/drawing/2014/main" id="{F9766172-7860-363A-237B-8DCE19365FF4}"/>
              </a:ext>
            </a:extLst>
          </p:cNvPr>
          <p:cNvSpPr txBox="1"/>
          <p:nvPr/>
        </p:nvSpPr>
        <p:spPr>
          <a:xfrm>
            <a:off x="953422" y="29047460"/>
            <a:ext cx="1927135" cy="861774"/>
          </a:xfrm>
          <a:prstGeom prst="rect">
            <a:avLst/>
          </a:prstGeom>
          <a:noFill/>
        </p:spPr>
        <p:txBody>
          <a:bodyPr wrap="square" rtlCol="0">
            <a:spAutoFit/>
          </a:bodyPr>
          <a:lstStyle/>
          <a:p>
            <a:pPr algn="ctr"/>
            <a:r>
              <a:rPr lang="en-US" sz="2500" dirty="0"/>
              <a:t>Interrogation Zone 2</a:t>
            </a:r>
          </a:p>
        </p:txBody>
      </p:sp>
      <p:cxnSp>
        <p:nvCxnSpPr>
          <p:cNvPr id="630" name="Straight Arrow Connector 629">
            <a:extLst>
              <a:ext uri="{FF2B5EF4-FFF2-40B4-BE49-F238E27FC236}">
                <a16:creationId xmlns:a16="http://schemas.microsoft.com/office/drawing/2014/main" id="{88E8399B-120A-1C0A-5E5B-FA93CC236EF5}"/>
              </a:ext>
            </a:extLst>
          </p:cNvPr>
          <p:cNvCxnSpPr>
            <a:cxnSpLocks/>
          </p:cNvCxnSpPr>
          <p:nvPr/>
        </p:nvCxnSpPr>
        <p:spPr>
          <a:xfrm flipV="1">
            <a:off x="2580113" y="21564073"/>
            <a:ext cx="608992" cy="714666"/>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635" name="Straight Arrow Connector 634">
            <a:extLst>
              <a:ext uri="{FF2B5EF4-FFF2-40B4-BE49-F238E27FC236}">
                <a16:creationId xmlns:a16="http://schemas.microsoft.com/office/drawing/2014/main" id="{D35E7B6D-496C-6AAC-861C-D4146C8A6635}"/>
              </a:ext>
            </a:extLst>
          </p:cNvPr>
          <p:cNvCxnSpPr>
            <a:cxnSpLocks/>
          </p:cNvCxnSpPr>
          <p:nvPr/>
        </p:nvCxnSpPr>
        <p:spPr>
          <a:xfrm flipV="1">
            <a:off x="2461195" y="28401450"/>
            <a:ext cx="608992" cy="714666"/>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sp>
        <p:nvSpPr>
          <p:cNvPr id="660" name="Rectangle 659">
            <a:extLst>
              <a:ext uri="{FF2B5EF4-FFF2-40B4-BE49-F238E27FC236}">
                <a16:creationId xmlns:a16="http://schemas.microsoft.com/office/drawing/2014/main" id="{30C70F1B-AAA6-EBEB-7933-BDAECA2505A8}"/>
              </a:ext>
            </a:extLst>
          </p:cNvPr>
          <p:cNvSpPr/>
          <p:nvPr/>
        </p:nvSpPr>
        <p:spPr>
          <a:xfrm>
            <a:off x="4767489" y="17024264"/>
            <a:ext cx="7681063" cy="267457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pic>
        <p:nvPicPr>
          <p:cNvPr id="657" name="Picture 656">
            <a:extLst>
              <a:ext uri="{FF2B5EF4-FFF2-40B4-BE49-F238E27FC236}">
                <a16:creationId xmlns:a16="http://schemas.microsoft.com/office/drawing/2014/main" id="{74891856-20C3-3948-4134-196FF367E097}"/>
              </a:ext>
            </a:extLst>
          </p:cNvPr>
          <p:cNvPicPr>
            <a:picLocks noChangeAspect="1"/>
          </p:cNvPicPr>
          <p:nvPr/>
        </p:nvPicPr>
        <p:blipFill>
          <a:blip r:embed="rId27"/>
          <a:stretch>
            <a:fillRect/>
          </a:stretch>
        </p:blipFill>
        <p:spPr>
          <a:xfrm>
            <a:off x="4882026" y="17098829"/>
            <a:ext cx="1323923" cy="1780769"/>
          </a:xfrm>
          <a:prstGeom prst="rect">
            <a:avLst/>
          </a:prstGeom>
        </p:spPr>
      </p:pic>
      <p:pic>
        <p:nvPicPr>
          <p:cNvPr id="659" name="Picture 658" descr="A close up of a metal object&#10;&#10;AI-generated content may be incorrect.">
            <a:extLst>
              <a:ext uri="{FF2B5EF4-FFF2-40B4-BE49-F238E27FC236}">
                <a16:creationId xmlns:a16="http://schemas.microsoft.com/office/drawing/2014/main" id="{5C0E8FBF-FB46-8AA6-2EAE-BDB80E292913}"/>
              </a:ext>
            </a:extLst>
          </p:cNvPr>
          <p:cNvPicPr>
            <a:picLocks noChangeAspect="1"/>
          </p:cNvPicPr>
          <p:nvPr/>
        </p:nvPicPr>
        <p:blipFill>
          <a:blip r:embed="rId28" cstate="print">
            <a:extLst>
              <a:ext uri="{28A0092B-C50C-407E-A947-70E740481C1C}">
                <a14:useLocalDpi xmlns:a14="http://schemas.microsoft.com/office/drawing/2010/main" val="0"/>
              </a:ext>
            </a:extLst>
          </a:blip>
          <a:srcRect l="3848" t="19196" r="1797" b="31044"/>
          <a:stretch>
            <a:fillRect/>
          </a:stretch>
        </p:blipFill>
        <p:spPr>
          <a:xfrm>
            <a:off x="6269846" y="17080230"/>
            <a:ext cx="1582245" cy="1805823"/>
          </a:xfrm>
          <a:prstGeom prst="rect">
            <a:avLst/>
          </a:prstGeom>
        </p:spPr>
      </p:pic>
      <p:sp>
        <p:nvSpPr>
          <p:cNvPr id="661" name="TextBox 660">
            <a:extLst>
              <a:ext uri="{FF2B5EF4-FFF2-40B4-BE49-F238E27FC236}">
                <a16:creationId xmlns:a16="http://schemas.microsoft.com/office/drawing/2014/main" id="{2A190F6F-06FA-638E-620E-2CD41CF0B0D6}"/>
              </a:ext>
            </a:extLst>
          </p:cNvPr>
          <p:cNvSpPr txBox="1"/>
          <p:nvPr/>
        </p:nvSpPr>
        <p:spPr>
          <a:xfrm>
            <a:off x="4769795" y="18852169"/>
            <a:ext cx="3282114" cy="861774"/>
          </a:xfrm>
          <a:prstGeom prst="rect">
            <a:avLst/>
          </a:prstGeom>
          <a:noFill/>
        </p:spPr>
        <p:txBody>
          <a:bodyPr wrap="square" rtlCol="0">
            <a:spAutoFit/>
          </a:bodyPr>
          <a:lstStyle/>
          <a:p>
            <a:r>
              <a:rPr lang="en-US" sz="2500" dirty="0"/>
              <a:t>Nozzle of 231 100</a:t>
            </a:r>
            <a:r>
              <a:rPr lang="en-US" sz="2500" dirty="0">
                <a:latin typeface="Lao UI" panose="020B0502040204020203" pitchFamily="34" charset="0"/>
                <a:cs typeface="Lao UI" panose="020B0502040204020203" pitchFamily="34" charset="0"/>
              </a:rPr>
              <a:t>µm ID microcapillaries</a:t>
            </a:r>
            <a:endParaRPr lang="en-US" sz="2500" dirty="0"/>
          </a:p>
        </p:txBody>
      </p:sp>
      <p:cxnSp>
        <p:nvCxnSpPr>
          <p:cNvPr id="664" name="Straight Arrow Connector 663">
            <a:extLst>
              <a:ext uri="{FF2B5EF4-FFF2-40B4-BE49-F238E27FC236}">
                <a16:creationId xmlns:a16="http://schemas.microsoft.com/office/drawing/2014/main" id="{43106AD4-3F7E-7E0B-894F-1756F2FD1B3F}"/>
              </a:ext>
            </a:extLst>
          </p:cNvPr>
          <p:cNvCxnSpPr>
            <a:cxnSpLocks/>
            <a:stCxn id="661" idx="1"/>
          </p:cNvCxnSpPr>
          <p:nvPr/>
        </p:nvCxnSpPr>
        <p:spPr>
          <a:xfrm flipH="1">
            <a:off x="4325516" y="19333227"/>
            <a:ext cx="444279" cy="131752"/>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688" name="Straight Connector 145">
            <a:extLst>
              <a:ext uri="{FF2B5EF4-FFF2-40B4-BE49-F238E27FC236}">
                <a16:creationId xmlns:a16="http://schemas.microsoft.com/office/drawing/2014/main" id="{DBED0157-5D08-BCC9-10DD-F0360DDE342F}"/>
              </a:ext>
            </a:extLst>
          </p:cNvPr>
          <p:cNvCxnSpPr>
            <a:cxnSpLocks/>
            <a:stCxn id="98" idx="1"/>
            <a:endCxn id="155" idx="1"/>
          </p:cNvCxnSpPr>
          <p:nvPr/>
        </p:nvCxnSpPr>
        <p:spPr>
          <a:xfrm rot="10800000" flipH="1" flipV="1">
            <a:off x="6644141" y="25803707"/>
            <a:ext cx="305883" cy="730668"/>
          </a:xfrm>
          <a:prstGeom prst="curvedConnector3">
            <a:avLst>
              <a:gd name="adj1" fmla="val -74734"/>
            </a:avLst>
          </a:prstGeom>
          <a:ln>
            <a:solidFill>
              <a:schemeClr val="tx1"/>
            </a:solidFill>
          </a:ln>
        </p:spPr>
        <p:style>
          <a:lnRef idx="3">
            <a:schemeClr val="accent5"/>
          </a:lnRef>
          <a:fillRef idx="0">
            <a:schemeClr val="accent5"/>
          </a:fillRef>
          <a:effectRef idx="2">
            <a:schemeClr val="accent5"/>
          </a:effectRef>
          <a:fontRef idx="minor">
            <a:schemeClr val="tx1"/>
          </a:fontRef>
        </p:style>
      </p:cxnSp>
      <p:pic>
        <p:nvPicPr>
          <p:cNvPr id="701" name="Picture 700">
            <a:extLst>
              <a:ext uri="{FF2B5EF4-FFF2-40B4-BE49-F238E27FC236}">
                <a16:creationId xmlns:a16="http://schemas.microsoft.com/office/drawing/2014/main" id="{327422EF-DA78-0C7A-AAE5-3D7F7D69AB33}"/>
              </a:ext>
            </a:extLst>
          </p:cNvPr>
          <p:cNvPicPr>
            <a:picLocks noChangeAspect="1"/>
          </p:cNvPicPr>
          <p:nvPr/>
        </p:nvPicPr>
        <p:blipFill>
          <a:blip r:embed="rId29"/>
          <a:stretch>
            <a:fillRect/>
          </a:stretch>
        </p:blipFill>
        <p:spPr>
          <a:xfrm>
            <a:off x="13532428" y="14328322"/>
            <a:ext cx="7062468" cy="5405442"/>
          </a:xfrm>
          <a:prstGeom prst="rect">
            <a:avLst/>
          </a:prstGeom>
        </p:spPr>
      </p:pic>
      <p:cxnSp>
        <p:nvCxnSpPr>
          <p:cNvPr id="716" name="Connector: Curved 715">
            <a:extLst>
              <a:ext uri="{FF2B5EF4-FFF2-40B4-BE49-F238E27FC236}">
                <a16:creationId xmlns:a16="http://schemas.microsoft.com/office/drawing/2014/main" id="{1856F5C3-FC0E-9008-D42D-9D3861F378D9}"/>
              </a:ext>
            </a:extLst>
          </p:cNvPr>
          <p:cNvCxnSpPr>
            <a:cxnSpLocks/>
            <a:stCxn id="751" idx="6"/>
            <a:endCxn id="753" idx="5"/>
          </p:cNvCxnSpPr>
          <p:nvPr/>
        </p:nvCxnSpPr>
        <p:spPr>
          <a:xfrm flipH="1" flipV="1">
            <a:off x="18911181" y="17713815"/>
            <a:ext cx="66930" cy="2554446"/>
          </a:xfrm>
          <a:prstGeom prst="curvedConnector4">
            <a:avLst>
              <a:gd name="adj1" fmla="val -2081835"/>
              <a:gd name="adj2" fmla="val 56023"/>
            </a:avLst>
          </a:prstGeom>
          <a:ln w="38100">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738" name="Oval 737">
            <a:extLst>
              <a:ext uri="{FF2B5EF4-FFF2-40B4-BE49-F238E27FC236}">
                <a16:creationId xmlns:a16="http://schemas.microsoft.com/office/drawing/2014/main" id="{5EFDF979-D041-D259-BF6C-807636018C9D}"/>
              </a:ext>
            </a:extLst>
          </p:cNvPr>
          <p:cNvSpPr/>
          <p:nvPr/>
        </p:nvSpPr>
        <p:spPr>
          <a:xfrm>
            <a:off x="20370305" y="20421198"/>
            <a:ext cx="144154" cy="254475"/>
          </a:xfrm>
          <a:prstGeom prst="ellipse">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51" name="Oval 750">
            <a:extLst>
              <a:ext uri="{FF2B5EF4-FFF2-40B4-BE49-F238E27FC236}">
                <a16:creationId xmlns:a16="http://schemas.microsoft.com/office/drawing/2014/main" id="{0D4B02ED-666B-D127-08CC-46F1DEBB0845}"/>
              </a:ext>
            </a:extLst>
          </p:cNvPr>
          <p:cNvSpPr/>
          <p:nvPr/>
        </p:nvSpPr>
        <p:spPr>
          <a:xfrm>
            <a:off x="18833957" y="20141023"/>
            <a:ext cx="144154" cy="254475"/>
          </a:xfrm>
          <a:prstGeom prst="ellipse">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53" name="Oval 752">
            <a:extLst>
              <a:ext uri="{FF2B5EF4-FFF2-40B4-BE49-F238E27FC236}">
                <a16:creationId xmlns:a16="http://schemas.microsoft.com/office/drawing/2014/main" id="{4A66D45A-AA2A-5A80-B51B-49FFBFF86031}"/>
              </a:ext>
            </a:extLst>
          </p:cNvPr>
          <p:cNvSpPr/>
          <p:nvPr/>
        </p:nvSpPr>
        <p:spPr>
          <a:xfrm>
            <a:off x="18787715" y="17496607"/>
            <a:ext cx="144649" cy="254475"/>
          </a:xfrm>
          <a:prstGeom prst="ellipse">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00" name="TextBox 799">
            <a:extLst>
              <a:ext uri="{FF2B5EF4-FFF2-40B4-BE49-F238E27FC236}">
                <a16:creationId xmlns:a16="http://schemas.microsoft.com/office/drawing/2014/main" id="{614F0376-7A08-5F7D-82B2-7F3815CE1025}"/>
              </a:ext>
            </a:extLst>
          </p:cNvPr>
          <p:cNvSpPr txBox="1"/>
          <p:nvPr/>
        </p:nvSpPr>
        <p:spPr>
          <a:xfrm>
            <a:off x="7834756" y="17072939"/>
            <a:ext cx="4583416" cy="1631216"/>
          </a:xfrm>
          <a:prstGeom prst="rect">
            <a:avLst/>
          </a:prstGeom>
          <a:noFill/>
        </p:spPr>
        <p:txBody>
          <a:bodyPr wrap="square" rtlCol="0">
            <a:spAutoFit/>
          </a:bodyPr>
          <a:lstStyle/>
          <a:p>
            <a:pPr marL="342900" indent="-342900">
              <a:buFont typeface="Arial" panose="020B0604020202020204" pitchFamily="34" charset="0"/>
              <a:buChar char="•"/>
            </a:pPr>
            <a:r>
              <a:rPr lang="en-US" sz="2500" dirty="0"/>
              <a:t>Microcapillaries large aspect ratio allows tight collimation</a:t>
            </a:r>
          </a:p>
          <a:p>
            <a:pPr marL="342900" indent="-342900">
              <a:buFont typeface="Arial" panose="020B0604020202020204" pitchFamily="34" charset="0"/>
              <a:buChar char="•"/>
            </a:pPr>
            <a:r>
              <a:rPr lang="en-US" sz="2500" dirty="0"/>
              <a:t>Array of capillaries allows relatively  large flux</a:t>
            </a:r>
          </a:p>
        </p:txBody>
      </p:sp>
      <p:sp>
        <p:nvSpPr>
          <p:cNvPr id="810" name="TextBox 809">
            <a:extLst>
              <a:ext uri="{FF2B5EF4-FFF2-40B4-BE49-F238E27FC236}">
                <a16:creationId xmlns:a16="http://schemas.microsoft.com/office/drawing/2014/main" id="{CC6A71C8-1BE7-FFD6-1FED-C53EBC0BC4A6}"/>
              </a:ext>
            </a:extLst>
          </p:cNvPr>
          <p:cNvSpPr txBox="1"/>
          <p:nvPr/>
        </p:nvSpPr>
        <p:spPr>
          <a:xfrm>
            <a:off x="755553" y="13350225"/>
            <a:ext cx="2476362" cy="646331"/>
          </a:xfrm>
          <a:prstGeom prst="rect">
            <a:avLst/>
          </a:prstGeom>
          <a:noFill/>
          <a:ln>
            <a:noFill/>
          </a:ln>
        </p:spPr>
        <p:txBody>
          <a:bodyPr wrap="square" rtlCol="0">
            <a:spAutoFit/>
          </a:bodyPr>
          <a:lstStyle/>
          <a:p>
            <a:r>
              <a:rPr lang="en-US" sz="3600" b="1" u="sng" dirty="0"/>
              <a:t>Overview</a:t>
            </a:r>
          </a:p>
        </p:txBody>
      </p:sp>
      <p:pic>
        <p:nvPicPr>
          <p:cNvPr id="830" name="Picture 829">
            <a:extLst>
              <a:ext uri="{FF2B5EF4-FFF2-40B4-BE49-F238E27FC236}">
                <a16:creationId xmlns:a16="http://schemas.microsoft.com/office/drawing/2014/main" id="{5706447B-12AD-D644-368B-9E46C710497F}"/>
              </a:ext>
            </a:extLst>
          </p:cNvPr>
          <p:cNvPicPr>
            <a:picLocks noChangeAspect="1"/>
          </p:cNvPicPr>
          <p:nvPr/>
        </p:nvPicPr>
        <p:blipFill>
          <a:blip r:embed="rId30"/>
          <a:stretch>
            <a:fillRect/>
          </a:stretch>
        </p:blipFill>
        <p:spPr>
          <a:xfrm>
            <a:off x="13313021" y="25173130"/>
            <a:ext cx="7504592" cy="5709645"/>
          </a:xfrm>
          <a:prstGeom prst="rect">
            <a:avLst/>
          </a:prstGeom>
        </p:spPr>
      </p:pic>
      <p:cxnSp>
        <p:nvCxnSpPr>
          <p:cNvPr id="729" name="Connector: Curved 728">
            <a:extLst>
              <a:ext uri="{FF2B5EF4-FFF2-40B4-BE49-F238E27FC236}">
                <a16:creationId xmlns:a16="http://schemas.microsoft.com/office/drawing/2014/main" id="{E1B46CC9-3962-20E7-7BF5-759C099633FF}"/>
              </a:ext>
            </a:extLst>
          </p:cNvPr>
          <p:cNvCxnSpPr>
            <a:cxnSpLocks/>
            <a:stCxn id="738" idx="6"/>
            <a:endCxn id="844" idx="6"/>
          </p:cNvCxnSpPr>
          <p:nvPr/>
        </p:nvCxnSpPr>
        <p:spPr>
          <a:xfrm>
            <a:off x="20514459" y="20548436"/>
            <a:ext cx="161821" cy="4879446"/>
          </a:xfrm>
          <a:prstGeom prst="curvedConnector3">
            <a:avLst>
              <a:gd name="adj1" fmla="val 272089"/>
            </a:avLst>
          </a:prstGeom>
          <a:ln w="38100">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844" name="Oval 843">
            <a:extLst>
              <a:ext uri="{FF2B5EF4-FFF2-40B4-BE49-F238E27FC236}">
                <a16:creationId xmlns:a16="http://schemas.microsoft.com/office/drawing/2014/main" id="{D533F815-E8D2-4FBE-2C5F-5F6F0F6ADD6A}"/>
              </a:ext>
            </a:extLst>
          </p:cNvPr>
          <p:cNvSpPr/>
          <p:nvPr/>
        </p:nvSpPr>
        <p:spPr>
          <a:xfrm>
            <a:off x="20379726" y="25300644"/>
            <a:ext cx="296554" cy="254475"/>
          </a:xfrm>
          <a:prstGeom prst="ellipse">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00" name="TextBox 499">
            <a:extLst>
              <a:ext uri="{FF2B5EF4-FFF2-40B4-BE49-F238E27FC236}">
                <a16:creationId xmlns:a16="http://schemas.microsoft.com/office/drawing/2014/main" id="{95A356D2-97BC-439D-B998-D5624A4BE5EB}"/>
              </a:ext>
            </a:extLst>
          </p:cNvPr>
          <p:cNvSpPr txBox="1"/>
          <p:nvPr/>
        </p:nvSpPr>
        <p:spPr>
          <a:xfrm>
            <a:off x="33533540" y="30462972"/>
            <a:ext cx="9982820" cy="1015663"/>
          </a:xfrm>
          <a:prstGeom prst="rect">
            <a:avLst/>
          </a:prstGeom>
          <a:noFill/>
          <a:ln>
            <a:noFill/>
          </a:ln>
        </p:spPr>
        <p:txBody>
          <a:bodyPr wrap="square" rtlCol="0">
            <a:spAutoFit/>
          </a:bodyPr>
          <a:lstStyle/>
          <a:p>
            <a:pPr marL="285750" indent="-285750">
              <a:buFont typeface="Arial" panose="020B0604020202020204" pitchFamily="34" charset="0"/>
              <a:buChar char="•"/>
            </a:pPr>
            <a:r>
              <a:rPr lang="en-US" sz="1500" i="1" dirty="0"/>
              <a:t>The study resulting in this presentation was assisted by a grant from the Undergraduate Research Grant Program which is administered by Northwestern University's Office of Undergraduate Research. However, the conclusions, opinions, and other statements in this presentation are the author's and not necessarily those of the sponsoring institution.</a:t>
            </a:r>
          </a:p>
          <a:p>
            <a:endParaRPr lang="en-US" sz="1500" dirty="0"/>
          </a:p>
        </p:txBody>
      </p:sp>
      <p:sp>
        <p:nvSpPr>
          <p:cNvPr id="501" name="TextBox 500">
            <a:extLst>
              <a:ext uri="{FF2B5EF4-FFF2-40B4-BE49-F238E27FC236}">
                <a16:creationId xmlns:a16="http://schemas.microsoft.com/office/drawing/2014/main" id="{FAF378E5-363C-0E89-E7C3-0AD98B22C28C}"/>
              </a:ext>
            </a:extLst>
          </p:cNvPr>
          <p:cNvSpPr txBox="1"/>
          <p:nvPr/>
        </p:nvSpPr>
        <p:spPr>
          <a:xfrm>
            <a:off x="755552" y="13908144"/>
            <a:ext cx="11710241" cy="1938992"/>
          </a:xfrm>
          <a:prstGeom prst="rect">
            <a:avLst/>
          </a:prstGeom>
          <a:noFill/>
        </p:spPr>
        <p:txBody>
          <a:bodyPr wrap="square" rtlCol="0">
            <a:spAutoFit/>
          </a:bodyPr>
          <a:lstStyle/>
          <a:p>
            <a:r>
              <a:rPr lang="en-US" sz="3000" dirty="0"/>
              <a:t>Our beam source is designed to transport a collimated dual-species beam of Rb and </a:t>
            </a:r>
            <a:r>
              <a:rPr lang="en-US" sz="3000" dirty="0" err="1"/>
              <a:t>Ar</a:t>
            </a:r>
            <a:r>
              <a:rPr lang="en-US" sz="3000" dirty="0"/>
              <a:t> to our growth substrate. Our beam sets key parameters such as dopant density and growth rate. Characterization of a Rb beam has been done shown in this section we are currently introducing Ar. </a:t>
            </a:r>
            <a:endParaRPr lang="en-US" sz="3000" b="1" dirty="0"/>
          </a:p>
        </p:txBody>
      </p:sp>
      <p:sp>
        <p:nvSpPr>
          <p:cNvPr id="773" name="Oval 772">
            <a:extLst>
              <a:ext uri="{FF2B5EF4-FFF2-40B4-BE49-F238E27FC236}">
                <a16:creationId xmlns:a16="http://schemas.microsoft.com/office/drawing/2014/main" id="{D12043E9-69FC-7650-3FD8-448587B32801}"/>
              </a:ext>
            </a:extLst>
          </p:cNvPr>
          <p:cNvSpPr/>
          <p:nvPr/>
        </p:nvSpPr>
        <p:spPr>
          <a:xfrm>
            <a:off x="9073535" y="29275838"/>
            <a:ext cx="144649" cy="254475"/>
          </a:xfrm>
          <a:prstGeom prst="ellipse">
            <a:avLst/>
          </a:prstGeom>
          <a:solidFill>
            <a:srgbClr val="7C8192"/>
          </a:solidFill>
          <a:ln>
            <a:solidFill>
              <a:srgbClr val="7C8192"/>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solidFill>
                <a:srgbClr val="7C8192"/>
              </a:solidFill>
            </a:endParaRPr>
          </a:p>
        </p:txBody>
      </p:sp>
      <p:pic>
        <p:nvPicPr>
          <p:cNvPr id="173" name="Picture 172" descr="A graph of a curve&#10;&#10;AI-generated content may be incorrect.">
            <a:extLst>
              <a:ext uri="{FF2B5EF4-FFF2-40B4-BE49-F238E27FC236}">
                <a16:creationId xmlns:a16="http://schemas.microsoft.com/office/drawing/2014/main" id="{9EEB2418-08B8-E449-3B0B-4C6FAE177185}"/>
              </a:ext>
            </a:extLst>
          </p:cNvPr>
          <p:cNvPicPr>
            <a:picLocks noChangeAspect="1"/>
          </p:cNvPicPr>
          <p:nvPr/>
        </p:nvPicPr>
        <p:blipFill>
          <a:blip r:embed="rId31" cstate="print">
            <a:extLst>
              <a:ext uri="{28A0092B-C50C-407E-A947-70E740481C1C}">
                <a14:useLocalDpi xmlns:a14="http://schemas.microsoft.com/office/drawing/2010/main" val="0"/>
              </a:ext>
            </a:extLst>
          </a:blip>
          <a:srcRect l="-4760" t="-322" r="-11793" b="322"/>
          <a:stretch>
            <a:fillRect/>
          </a:stretch>
        </p:blipFill>
        <p:spPr>
          <a:xfrm rot="16200000">
            <a:off x="7820221" y="27309645"/>
            <a:ext cx="2606896" cy="3463775"/>
          </a:xfrm>
          <a:prstGeom prst="rect">
            <a:avLst/>
          </a:prstGeom>
        </p:spPr>
      </p:pic>
      <p:cxnSp>
        <p:nvCxnSpPr>
          <p:cNvPr id="769" name="Connector: Curved 768">
            <a:extLst>
              <a:ext uri="{FF2B5EF4-FFF2-40B4-BE49-F238E27FC236}">
                <a16:creationId xmlns:a16="http://schemas.microsoft.com/office/drawing/2014/main" id="{58036EA9-3D08-332F-301F-0520F056F276}"/>
              </a:ext>
            </a:extLst>
          </p:cNvPr>
          <p:cNvCxnSpPr>
            <a:cxnSpLocks/>
            <a:stCxn id="830" idx="1"/>
            <a:endCxn id="773" idx="4"/>
          </p:cNvCxnSpPr>
          <p:nvPr/>
        </p:nvCxnSpPr>
        <p:spPr>
          <a:xfrm rot="10800000" flipV="1">
            <a:off x="9145861" y="28027953"/>
            <a:ext cx="4167161" cy="1502360"/>
          </a:xfrm>
          <a:prstGeom prst="curvedConnector4">
            <a:avLst>
              <a:gd name="adj1" fmla="val 16043"/>
              <a:gd name="adj2" fmla="val 118773"/>
            </a:avLst>
          </a:prstGeom>
          <a:ln w="38100">
            <a:solidFill>
              <a:schemeClr val="tx1"/>
            </a:solidFill>
            <a:headEnd type="triangle"/>
            <a:tailEnd type="triangle"/>
          </a:ln>
        </p:spPr>
        <p:style>
          <a:lnRef idx="1">
            <a:schemeClr val="dk1"/>
          </a:lnRef>
          <a:fillRef idx="0">
            <a:schemeClr val="dk1"/>
          </a:fillRef>
          <a:effectRef idx="0">
            <a:schemeClr val="dk1"/>
          </a:effectRef>
          <a:fontRef idx="minor">
            <a:schemeClr val="tx1"/>
          </a:fontRef>
        </p:style>
      </p:cxnSp>
      <p:sp>
        <p:nvSpPr>
          <p:cNvPr id="574" name="TextBox 573">
            <a:extLst>
              <a:ext uri="{FF2B5EF4-FFF2-40B4-BE49-F238E27FC236}">
                <a16:creationId xmlns:a16="http://schemas.microsoft.com/office/drawing/2014/main" id="{AC267D59-85BE-5E97-51F1-58446CBEC707}"/>
              </a:ext>
            </a:extLst>
          </p:cNvPr>
          <p:cNvSpPr txBox="1"/>
          <p:nvPr/>
        </p:nvSpPr>
        <p:spPr>
          <a:xfrm>
            <a:off x="22478382" y="4767351"/>
            <a:ext cx="21031198" cy="1046440"/>
          </a:xfrm>
          <a:prstGeom prst="rect">
            <a:avLst/>
          </a:prstGeom>
          <a:solidFill>
            <a:srgbClr val="4E2A84"/>
          </a:solidFill>
        </p:spPr>
        <p:txBody>
          <a:bodyPr wrap="square" rtlCol="0">
            <a:spAutoFit/>
          </a:bodyPr>
          <a:lstStyle/>
          <a:p>
            <a:pPr algn="ctr"/>
            <a:r>
              <a:rPr lang="en-US" sz="6200" b="1" dirty="0">
                <a:solidFill>
                  <a:schemeClr val="bg1"/>
                </a:solidFill>
                <a:latin typeface="Arial" pitchFamily="34" charset="0"/>
                <a:cs typeface="Arial" pitchFamily="34" charset="0"/>
              </a:rPr>
              <a:t>Comparison to Existing Platforms</a:t>
            </a:r>
          </a:p>
        </p:txBody>
      </p:sp>
      <p:sp>
        <p:nvSpPr>
          <p:cNvPr id="578" name="TextBox 577">
            <a:extLst>
              <a:ext uri="{FF2B5EF4-FFF2-40B4-BE49-F238E27FC236}">
                <a16:creationId xmlns:a16="http://schemas.microsoft.com/office/drawing/2014/main" id="{40209C69-D934-7C21-83BA-0B26AEFD4324}"/>
              </a:ext>
            </a:extLst>
          </p:cNvPr>
          <p:cNvSpPr txBox="1"/>
          <p:nvPr/>
        </p:nvSpPr>
        <p:spPr>
          <a:xfrm>
            <a:off x="22478380" y="5813791"/>
            <a:ext cx="5652838" cy="646331"/>
          </a:xfrm>
          <a:prstGeom prst="rect">
            <a:avLst/>
          </a:prstGeom>
          <a:noFill/>
        </p:spPr>
        <p:txBody>
          <a:bodyPr wrap="square" rtlCol="0">
            <a:spAutoFit/>
          </a:bodyPr>
          <a:lstStyle/>
          <a:p>
            <a:r>
              <a:rPr lang="en-US" sz="3600" b="1" u="sng" dirty="0"/>
              <a:t>Existing Platforms</a:t>
            </a:r>
          </a:p>
        </p:txBody>
      </p:sp>
      <p:pic>
        <p:nvPicPr>
          <p:cNvPr id="1026" name="Picture 2" descr="acme">
            <a:extLst>
              <a:ext uri="{FF2B5EF4-FFF2-40B4-BE49-F238E27FC236}">
                <a16:creationId xmlns:a16="http://schemas.microsoft.com/office/drawing/2014/main" id="{3DDA1229-5E45-D69C-833D-FB196D6597A4}"/>
              </a:ext>
            </a:extLst>
          </p:cNvPr>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23545800" y="7162800"/>
            <a:ext cx="2057400" cy="1120140"/>
          </a:xfrm>
          <a:prstGeom prst="rect">
            <a:avLst/>
          </a:prstGeom>
          <a:noFill/>
          <a:extLst>
            <a:ext uri="{909E8E84-426E-40DD-AFC4-6F175D3DCCD1}">
              <a14:hiddenFill xmlns:a14="http://schemas.microsoft.com/office/drawing/2010/main">
                <a:solidFill>
                  <a:srgbClr val="FFFFFF"/>
                </a:solidFill>
              </a14:hiddenFill>
            </a:ext>
          </a:extLst>
        </p:spPr>
      </p:pic>
      <p:pic>
        <p:nvPicPr>
          <p:cNvPr id="580" name="Picture 579">
            <a:extLst>
              <a:ext uri="{FF2B5EF4-FFF2-40B4-BE49-F238E27FC236}">
                <a16:creationId xmlns:a16="http://schemas.microsoft.com/office/drawing/2014/main" id="{EC1C79C7-2825-A288-B97F-3282A41B81EC}"/>
              </a:ext>
            </a:extLst>
          </p:cNvPr>
          <p:cNvPicPr>
            <a:picLocks noChangeAspect="1"/>
          </p:cNvPicPr>
          <p:nvPr/>
        </p:nvPicPr>
        <p:blipFill>
          <a:blip r:embed="rId33"/>
          <a:srcRect t="15505" b="10938"/>
          <a:stretch>
            <a:fillRect/>
          </a:stretch>
        </p:blipFill>
        <p:spPr>
          <a:xfrm>
            <a:off x="27660600" y="7315200"/>
            <a:ext cx="1600200" cy="838200"/>
          </a:xfrm>
          <a:prstGeom prst="rect">
            <a:avLst/>
          </a:prstGeom>
        </p:spPr>
      </p:pic>
      <p:cxnSp>
        <p:nvCxnSpPr>
          <p:cNvPr id="584" name="Straight Arrow Connector 583">
            <a:extLst>
              <a:ext uri="{FF2B5EF4-FFF2-40B4-BE49-F238E27FC236}">
                <a16:creationId xmlns:a16="http://schemas.microsoft.com/office/drawing/2014/main" id="{3C095A70-B2C5-2FD7-9A1A-3A55AB8F2304}"/>
              </a:ext>
            </a:extLst>
          </p:cNvPr>
          <p:cNvCxnSpPr>
            <a:cxnSpLocks/>
          </p:cNvCxnSpPr>
          <p:nvPr/>
        </p:nvCxnSpPr>
        <p:spPr>
          <a:xfrm>
            <a:off x="39517583" y="8906414"/>
            <a:ext cx="0" cy="383317"/>
          </a:xfrm>
          <a:prstGeom prst="straightConnector1">
            <a:avLst/>
          </a:prstGeom>
          <a:ln w="57150">
            <a:tailEnd type="triangle"/>
          </a:ln>
        </p:spPr>
        <p:style>
          <a:lnRef idx="1">
            <a:schemeClr val="dk1"/>
          </a:lnRef>
          <a:fillRef idx="0">
            <a:schemeClr val="dk1"/>
          </a:fillRef>
          <a:effectRef idx="0">
            <a:schemeClr val="dk1"/>
          </a:effectRef>
          <a:fontRef idx="minor">
            <a:schemeClr val="tx1"/>
          </a:fontRef>
        </p:style>
      </p:cxnSp>
      <p:sp>
        <p:nvSpPr>
          <p:cNvPr id="585" name="TextBox 584">
            <a:extLst>
              <a:ext uri="{FF2B5EF4-FFF2-40B4-BE49-F238E27FC236}">
                <a16:creationId xmlns:a16="http://schemas.microsoft.com/office/drawing/2014/main" id="{0F2361CD-4320-E41E-F84D-7D2F5DA5D0A6}"/>
              </a:ext>
            </a:extLst>
          </p:cNvPr>
          <p:cNvSpPr txBox="1"/>
          <p:nvPr/>
        </p:nvSpPr>
        <p:spPr>
          <a:xfrm>
            <a:off x="38374583" y="9363614"/>
            <a:ext cx="4642533" cy="1246495"/>
          </a:xfrm>
          <a:prstGeom prst="rect">
            <a:avLst/>
          </a:prstGeom>
          <a:noFill/>
        </p:spPr>
        <p:txBody>
          <a:bodyPr wrap="square" rtlCol="0">
            <a:spAutoFit/>
          </a:bodyPr>
          <a:lstStyle/>
          <a:p>
            <a:r>
              <a:rPr lang="en-US" sz="2500" dirty="0"/>
              <a:t>Will address this by growing single crystal seeds and then performing epitaxy</a:t>
            </a:r>
          </a:p>
        </p:txBody>
      </p:sp>
      <mc:AlternateContent xmlns:mc="http://schemas.openxmlformats.org/markup-compatibility/2006" xmlns:a14="http://schemas.microsoft.com/office/drawing/2010/main">
        <mc:Choice Requires="a14">
          <p:sp>
            <p:nvSpPr>
              <p:cNvPr id="586" name="TextBox 585">
                <a:extLst>
                  <a:ext uri="{FF2B5EF4-FFF2-40B4-BE49-F238E27FC236}">
                    <a16:creationId xmlns:a16="http://schemas.microsoft.com/office/drawing/2014/main" id="{607730D4-1453-473D-95AE-DD3EABD03629}"/>
                  </a:ext>
                </a:extLst>
              </p:cNvPr>
              <p:cNvSpPr txBox="1"/>
              <p:nvPr/>
            </p:nvSpPr>
            <p:spPr>
              <a:xfrm>
                <a:off x="22631400" y="9906000"/>
                <a:ext cx="7359363" cy="1618007"/>
              </a:xfrm>
              <a:prstGeom prst="rect">
                <a:avLst/>
              </a:prstGeom>
              <a:noFill/>
            </p:spPr>
            <p:txBody>
              <a:bodyPr wrap="square" rtlCol="0">
                <a:spAutoFit/>
              </a:bodyPr>
              <a:lstStyle/>
              <a:p>
                <a:pPr algn="just"/>
                <a:r>
                  <a:rPr lang="en-US" sz="3600" b="1" u="sng" dirty="0"/>
                  <a:t>General EDM sensitivity:</a:t>
                </a:r>
                <a:r>
                  <a:rPr lang="en-US" sz="3600" dirty="0"/>
                  <a:t> </a:t>
                </a:r>
                <a14:m>
                  <m:oMath xmlns:m="http://schemas.openxmlformats.org/officeDocument/2006/math">
                    <m:r>
                      <a:rPr lang="en-US" sz="4000" b="0" i="0" smtClean="0">
                        <a:latin typeface="Cambria Math" panose="02040503050406030204" pitchFamily="18" charset="0"/>
                        <a:ea typeface="Cambria Math" panose="02040503050406030204" pitchFamily="18" charset="0"/>
                      </a:rPr>
                      <m:t> </m:t>
                    </m:r>
                    <m:r>
                      <a:rPr lang="en-US" sz="4000" i="1">
                        <a:latin typeface="Cambria Math" panose="02040503050406030204" pitchFamily="18" charset="0"/>
                        <a:ea typeface="Cambria Math" panose="02040503050406030204" pitchFamily="18" charset="0"/>
                      </a:rPr>
                      <m:t>𝜎</m:t>
                    </m:r>
                    <m:r>
                      <a:rPr lang="en-US" sz="4000" i="1">
                        <a:latin typeface="Cambria Math" panose="02040503050406030204" pitchFamily="18" charset="0"/>
                        <a:ea typeface="Cambria Math" panose="02040503050406030204" pitchFamily="18" charset="0"/>
                      </a:rPr>
                      <m:t>∝</m:t>
                    </m:r>
                    <m:f>
                      <m:fPr>
                        <m:ctrlPr>
                          <a:rPr lang="en-US" sz="4000" i="1">
                            <a:latin typeface="Cambria Math" panose="02040503050406030204" pitchFamily="18" charset="0"/>
                            <a:ea typeface="Cambria Math" panose="02040503050406030204" pitchFamily="18" charset="0"/>
                          </a:rPr>
                        </m:ctrlPr>
                      </m:fPr>
                      <m:num>
                        <m:r>
                          <a:rPr lang="en-US" sz="4000" i="1">
                            <a:latin typeface="Cambria Math" panose="02040503050406030204" pitchFamily="18" charset="0"/>
                            <a:ea typeface="Cambria Math" panose="02040503050406030204" pitchFamily="18" charset="0"/>
                          </a:rPr>
                          <m:t>1</m:t>
                        </m:r>
                      </m:num>
                      <m:den>
                        <m:sSubSup>
                          <m:sSubSupPr>
                            <m:ctrlPr>
                              <a:rPr lang="en-US" sz="4000" i="1">
                                <a:latin typeface="Cambria Math" panose="02040503050406030204" pitchFamily="18" charset="0"/>
                                <a:ea typeface="Cambria Math" panose="02040503050406030204" pitchFamily="18" charset="0"/>
                              </a:rPr>
                            </m:ctrlPr>
                          </m:sSubSupPr>
                          <m:e>
                            <m:r>
                              <a:rPr lang="en-US" sz="4000" i="1">
                                <a:latin typeface="Cambria Math" panose="02040503050406030204" pitchFamily="18" charset="0"/>
                                <a:ea typeface="Cambria Math" panose="02040503050406030204" pitchFamily="18" charset="0"/>
                              </a:rPr>
                              <m:t>𝑇</m:t>
                            </m:r>
                          </m:e>
                          <m:sub>
                            <m:r>
                              <a:rPr lang="en-US" sz="4000" i="1">
                                <a:latin typeface="Cambria Math" panose="02040503050406030204" pitchFamily="18" charset="0"/>
                                <a:ea typeface="Cambria Math" panose="02040503050406030204" pitchFamily="18" charset="0"/>
                              </a:rPr>
                              <m:t>2</m:t>
                            </m:r>
                          </m:sub>
                          <m:sup>
                            <m:r>
                              <a:rPr lang="en-US" sz="4000" i="1">
                                <a:latin typeface="Cambria Math" panose="02040503050406030204" pitchFamily="18" charset="0"/>
                                <a:ea typeface="Cambria Math" panose="02040503050406030204" pitchFamily="18" charset="0"/>
                              </a:rPr>
                              <m:t>∗</m:t>
                            </m:r>
                          </m:sup>
                        </m:sSubSup>
                        <m:rad>
                          <m:radPr>
                            <m:degHide m:val="on"/>
                            <m:ctrlPr>
                              <a:rPr lang="en-US" sz="4000" i="1">
                                <a:latin typeface="Cambria Math" panose="02040503050406030204" pitchFamily="18" charset="0"/>
                                <a:ea typeface="Cambria Math" panose="02040503050406030204" pitchFamily="18" charset="0"/>
                              </a:rPr>
                            </m:ctrlPr>
                          </m:radPr>
                          <m:deg/>
                          <m:e>
                            <m:r>
                              <a:rPr lang="en-US" sz="4000" i="1">
                                <a:latin typeface="Cambria Math" panose="02040503050406030204" pitchFamily="18" charset="0"/>
                                <a:ea typeface="Cambria Math" panose="02040503050406030204" pitchFamily="18" charset="0"/>
                              </a:rPr>
                              <m:t>𝑁</m:t>
                            </m:r>
                          </m:e>
                        </m:rad>
                      </m:den>
                    </m:f>
                  </m:oMath>
                </a14:m>
                <a:endParaRPr lang="en-US" sz="4000" dirty="0"/>
              </a:p>
              <a:p>
                <a:endParaRPr lang="en-US" sz="3600" b="1" u="sng" dirty="0"/>
              </a:p>
            </p:txBody>
          </p:sp>
        </mc:Choice>
        <mc:Fallback xmlns="">
          <p:sp>
            <p:nvSpPr>
              <p:cNvPr id="586" name="TextBox 585">
                <a:extLst>
                  <a:ext uri="{FF2B5EF4-FFF2-40B4-BE49-F238E27FC236}">
                    <a16:creationId xmlns:a16="http://schemas.microsoft.com/office/drawing/2014/main" id="{607730D4-1453-473D-95AE-DD3EABD03629}"/>
                  </a:ext>
                </a:extLst>
              </p:cNvPr>
              <p:cNvSpPr txBox="1">
                <a:spLocks noRot="1" noChangeAspect="1" noMove="1" noResize="1" noEditPoints="1" noAdjustHandles="1" noChangeArrowheads="1" noChangeShapeType="1" noTextEdit="1"/>
              </p:cNvSpPr>
              <p:nvPr/>
            </p:nvSpPr>
            <p:spPr>
              <a:xfrm>
                <a:off x="22631400" y="9906000"/>
                <a:ext cx="7359363" cy="1618007"/>
              </a:xfrm>
              <a:prstGeom prst="rect">
                <a:avLst/>
              </a:prstGeom>
              <a:blipFill>
                <a:blip r:embed="rId35"/>
                <a:stretch>
                  <a:fillRect l="-2568"/>
                </a:stretch>
              </a:blipFill>
            </p:spPr>
            <p:txBody>
              <a:bodyPr/>
              <a:lstStyle/>
              <a:p>
                <a:r>
                  <a:rPr lang="en-US">
                    <a:noFill/>
                  </a:rPr>
                  <a:t> </a:t>
                </a:r>
              </a:p>
            </p:txBody>
          </p:sp>
        </mc:Fallback>
      </mc:AlternateContent>
      <p:sp>
        <p:nvSpPr>
          <p:cNvPr id="588" name="TextBox 587">
            <a:extLst>
              <a:ext uri="{FF2B5EF4-FFF2-40B4-BE49-F238E27FC236}">
                <a16:creationId xmlns:a16="http://schemas.microsoft.com/office/drawing/2014/main" id="{F8BB88CB-748A-18C2-D7BD-116E97036180}"/>
              </a:ext>
            </a:extLst>
          </p:cNvPr>
          <p:cNvSpPr txBox="1"/>
          <p:nvPr/>
        </p:nvSpPr>
        <p:spPr>
          <a:xfrm>
            <a:off x="22462778" y="29408977"/>
            <a:ext cx="9998422" cy="1046440"/>
          </a:xfrm>
          <a:prstGeom prst="rect">
            <a:avLst/>
          </a:prstGeom>
          <a:solidFill>
            <a:srgbClr val="4E2A84"/>
          </a:solidFill>
        </p:spPr>
        <p:txBody>
          <a:bodyPr wrap="square" rtlCol="0">
            <a:spAutoFit/>
          </a:bodyPr>
          <a:lstStyle/>
          <a:p>
            <a:pPr algn="ctr"/>
            <a:r>
              <a:rPr lang="en-US" sz="6200" b="1" dirty="0">
                <a:solidFill>
                  <a:schemeClr val="bg1"/>
                </a:solidFill>
                <a:latin typeface="Arial" pitchFamily="34" charset="0"/>
                <a:cs typeface="Arial" pitchFamily="34" charset="0"/>
              </a:rPr>
              <a:t>References</a:t>
            </a:r>
          </a:p>
        </p:txBody>
      </p:sp>
      <p:sp>
        <p:nvSpPr>
          <p:cNvPr id="589" name="TextBox 588">
            <a:extLst>
              <a:ext uri="{FF2B5EF4-FFF2-40B4-BE49-F238E27FC236}">
                <a16:creationId xmlns:a16="http://schemas.microsoft.com/office/drawing/2014/main" id="{4F237660-6124-33AA-4A68-230198126FB4}"/>
              </a:ext>
            </a:extLst>
          </p:cNvPr>
          <p:cNvSpPr txBox="1"/>
          <p:nvPr/>
        </p:nvSpPr>
        <p:spPr>
          <a:xfrm>
            <a:off x="33525229" y="29408977"/>
            <a:ext cx="9984351" cy="1046440"/>
          </a:xfrm>
          <a:prstGeom prst="rect">
            <a:avLst/>
          </a:prstGeom>
          <a:solidFill>
            <a:srgbClr val="4E2A84"/>
          </a:solidFill>
        </p:spPr>
        <p:txBody>
          <a:bodyPr wrap="square" rtlCol="0">
            <a:spAutoFit/>
          </a:bodyPr>
          <a:lstStyle/>
          <a:p>
            <a:pPr algn="ctr"/>
            <a:r>
              <a:rPr lang="en-US" sz="6200" b="1" dirty="0">
                <a:solidFill>
                  <a:schemeClr val="bg1"/>
                </a:solidFill>
                <a:latin typeface="Arial" pitchFamily="34" charset="0"/>
                <a:cs typeface="Arial" pitchFamily="34" charset="0"/>
              </a:rPr>
              <a:t>Acknowledgements</a:t>
            </a:r>
          </a:p>
        </p:txBody>
      </p:sp>
      <p:sp>
        <p:nvSpPr>
          <p:cNvPr id="593" name="TextBox 592">
            <a:extLst>
              <a:ext uri="{FF2B5EF4-FFF2-40B4-BE49-F238E27FC236}">
                <a16:creationId xmlns:a16="http://schemas.microsoft.com/office/drawing/2014/main" id="{6F94F719-5A05-B6E5-B8D2-387301FCF916}"/>
              </a:ext>
            </a:extLst>
          </p:cNvPr>
          <p:cNvSpPr txBox="1"/>
          <p:nvPr/>
        </p:nvSpPr>
        <p:spPr>
          <a:xfrm>
            <a:off x="22478380" y="30406394"/>
            <a:ext cx="9982820" cy="1815882"/>
          </a:xfrm>
          <a:prstGeom prst="rect">
            <a:avLst/>
          </a:prstGeom>
          <a:noFill/>
          <a:ln>
            <a:noFill/>
          </a:ln>
        </p:spPr>
        <p:txBody>
          <a:bodyPr wrap="square" rtlCol="0">
            <a:spAutoFit/>
          </a:bodyPr>
          <a:lstStyle/>
          <a:p>
            <a:pPr marL="285750" indent="-285750">
              <a:buFont typeface="Arial" panose="020B0604020202020204" pitchFamily="34" charset="0"/>
              <a:buChar char="•"/>
            </a:pPr>
            <a:r>
              <a:rPr lang="en-US" sz="1600" dirty="0"/>
              <a:t>R. Senaratne, S. V. Rajagopal, Z. A. Geiger, K. M. Fujiwara, V. Lebedev, and D. M. Weld, </a:t>
            </a:r>
            <a:r>
              <a:rPr lang="en-US" sz="1600" i="1" dirty="0"/>
              <a:t>Effusive atomic oven nozzle design using an aligned microcapillary array</a:t>
            </a:r>
            <a:r>
              <a:rPr lang="en-US" sz="1600" dirty="0"/>
              <a:t>, Rev. Sci. </a:t>
            </a:r>
            <a:r>
              <a:rPr lang="en-US" sz="1600" dirty="0" err="1"/>
              <a:t>Instrum</a:t>
            </a:r>
            <a:r>
              <a:rPr lang="en-US" sz="1600" dirty="0"/>
              <a:t>. </a:t>
            </a:r>
            <a:r>
              <a:rPr lang="en-US" sz="1600" b="1" dirty="0"/>
              <a:t>86</a:t>
            </a:r>
            <a:r>
              <a:rPr lang="en-US" sz="1600" dirty="0"/>
              <a:t>, 023105 (2015).</a:t>
            </a:r>
          </a:p>
          <a:p>
            <a:pPr marL="285750" indent="-285750">
              <a:buFont typeface="Arial" panose="020B0604020202020204" pitchFamily="34" charset="0"/>
              <a:buChar char="•"/>
            </a:pPr>
            <a:r>
              <a:rPr lang="en-US" sz="1600" dirty="0"/>
              <a:t>ACME Collaboration. </a:t>
            </a:r>
            <a:r>
              <a:rPr lang="en-US" sz="1600" i="1" dirty="0"/>
              <a:t>Improved limit on the electric dipole moment of the electron</a:t>
            </a:r>
            <a:r>
              <a:rPr lang="en-US" sz="1600" dirty="0"/>
              <a:t>, Nature </a:t>
            </a:r>
            <a:r>
              <a:rPr lang="en-US" sz="1600" b="1" dirty="0"/>
              <a:t>562</a:t>
            </a:r>
            <a:r>
              <a:rPr lang="en-US" sz="1600" dirty="0"/>
              <a:t>, 355–360 (2018).</a:t>
            </a:r>
          </a:p>
          <a:p>
            <a:pPr marL="285750" indent="-285750">
              <a:buFont typeface="Arial" panose="020B0604020202020204" pitchFamily="34" charset="0"/>
              <a:buChar char="•"/>
            </a:pPr>
            <a:r>
              <a:rPr lang="en-US" sz="1600" dirty="0"/>
              <a:t>S. I. Kanorsky, A. Weis, J. Wurster, and T. W. </a:t>
            </a:r>
            <a:r>
              <a:rPr lang="en-US" sz="1600" dirty="0" err="1"/>
              <a:t>Hänsch</a:t>
            </a:r>
            <a:r>
              <a:rPr lang="en-US" sz="1600" dirty="0"/>
              <a:t>, </a:t>
            </a:r>
            <a:r>
              <a:rPr lang="en-US" sz="1600" i="1" dirty="0"/>
              <a:t>Millihertz magnetic resonance spectroscopy of Cs atoms in body-centered-cubic ⁴He</a:t>
            </a:r>
            <a:r>
              <a:rPr lang="en-US" sz="1600" dirty="0"/>
              <a:t>, Phys. Rev. A </a:t>
            </a:r>
            <a:r>
              <a:rPr lang="en-US" sz="1600" b="1" dirty="0"/>
              <a:t>54</a:t>
            </a:r>
            <a:r>
              <a:rPr lang="en-US" sz="1600" dirty="0"/>
              <a:t>, R1010 (1996).</a:t>
            </a:r>
          </a:p>
          <a:p>
            <a:pPr marL="285750" indent="-285750">
              <a:buFont typeface="Arial" panose="020B0604020202020204" pitchFamily="34" charset="0"/>
              <a:buChar char="•"/>
            </a:pPr>
            <a:r>
              <a:rPr lang="en-US" sz="1600" dirty="0"/>
              <a:t>U. </a:t>
            </a:r>
            <a:r>
              <a:rPr lang="en-US" sz="1600" dirty="0" err="1"/>
              <a:t>Dargyte</a:t>
            </a:r>
            <a:r>
              <a:rPr lang="en-US" sz="1600" dirty="0"/>
              <a:t>, D. M. Lancaster, and J. D. Weinstein, </a:t>
            </a:r>
            <a:r>
              <a:rPr lang="en-US" sz="1600" i="1" dirty="0"/>
              <a:t>Optical and spin-coherence properties of rubidium atoms trapped in solid neon</a:t>
            </a:r>
            <a:r>
              <a:rPr lang="en-US" sz="1600" dirty="0"/>
              <a:t>, Phys. Rev. A </a:t>
            </a:r>
            <a:r>
              <a:rPr lang="en-US" sz="1600" b="1" dirty="0"/>
              <a:t>104</a:t>
            </a:r>
            <a:r>
              <a:rPr lang="en-US" sz="1600" dirty="0"/>
              <a:t>, 032611 (2021).</a:t>
            </a:r>
            <a:endParaRPr lang="en-US" sz="1500" dirty="0"/>
          </a:p>
        </p:txBody>
      </p:sp>
      <p:sp>
        <p:nvSpPr>
          <p:cNvPr id="595" name="TextBox 594">
            <a:extLst>
              <a:ext uri="{FF2B5EF4-FFF2-40B4-BE49-F238E27FC236}">
                <a16:creationId xmlns:a16="http://schemas.microsoft.com/office/drawing/2014/main" id="{48A230BD-62D3-8264-BE84-CED383910B84}"/>
              </a:ext>
            </a:extLst>
          </p:cNvPr>
          <p:cNvSpPr txBox="1"/>
          <p:nvPr/>
        </p:nvSpPr>
        <p:spPr>
          <a:xfrm>
            <a:off x="7953929" y="18664568"/>
            <a:ext cx="4494623" cy="1246495"/>
          </a:xfrm>
          <a:prstGeom prst="rect">
            <a:avLst/>
          </a:prstGeom>
          <a:noFill/>
        </p:spPr>
        <p:txBody>
          <a:bodyPr wrap="square" rtlCol="0">
            <a:spAutoFit/>
          </a:bodyPr>
          <a:lstStyle/>
          <a:p>
            <a:pPr marL="342900" indent="-342900">
              <a:buFont typeface="Arial" panose="020B0604020202020204" pitchFamily="34" charset="0"/>
              <a:buChar char="•"/>
            </a:pPr>
            <a:endParaRPr lang="en-US" sz="1500" dirty="0"/>
          </a:p>
          <a:p>
            <a:endParaRPr lang="en-US" sz="1500" dirty="0"/>
          </a:p>
          <a:p>
            <a:r>
              <a:rPr lang="en-US" sz="1500" dirty="0"/>
              <a:t>Original nozzle design modified from:</a:t>
            </a:r>
          </a:p>
          <a:p>
            <a:r>
              <a:rPr lang="en-US" sz="1500" i="1" dirty="0"/>
              <a:t>R. Senaratne et al.</a:t>
            </a:r>
            <a:r>
              <a:rPr lang="en-US" sz="1500" dirty="0"/>
              <a:t>, </a:t>
            </a:r>
            <a:r>
              <a:rPr lang="en-US" sz="1500" i="1" dirty="0"/>
              <a:t>Rev. Sci. </a:t>
            </a:r>
            <a:r>
              <a:rPr lang="en-US" sz="1500" i="1" dirty="0" err="1"/>
              <a:t>Instrum</a:t>
            </a:r>
            <a:r>
              <a:rPr lang="en-US" sz="1500" i="1" dirty="0"/>
              <a:t>.</a:t>
            </a:r>
            <a:r>
              <a:rPr lang="en-US" sz="1500" dirty="0"/>
              <a:t> </a:t>
            </a:r>
            <a:r>
              <a:rPr lang="en-US" sz="1500" b="1" dirty="0"/>
              <a:t>86</a:t>
            </a:r>
            <a:r>
              <a:rPr lang="en-US" sz="1500" dirty="0"/>
              <a:t>, 023105 (2015).</a:t>
            </a:r>
          </a:p>
          <a:p>
            <a:endParaRPr lang="en-US" sz="1500" dirty="0"/>
          </a:p>
        </p:txBody>
      </p:sp>
      <p:pic>
        <p:nvPicPr>
          <p:cNvPr id="10" name="Picture 9">
            <a:extLst>
              <a:ext uri="{FF2B5EF4-FFF2-40B4-BE49-F238E27FC236}">
                <a16:creationId xmlns:a16="http://schemas.microsoft.com/office/drawing/2014/main" id="{699EA04A-2776-5295-9AB9-EA878ABB5380}"/>
              </a:ext>
            </a:extLst>
          </p:cNvPr>
          <p:cNvPicPr>
            <a:picLocks noChangeAspect="1"/>
          </p:cNvPicPr>
          <p:nvPr/>
        </p:nvPicPr>
        <p:blipFill>
          <a:blip r:embed="rId36"/>
          <a:srcRect l="1517" t="1" r="2023" b="2829"/>
          <a:stretch>
            <a:fillRect/>
          </a:stretch>
        </p:blipFill>
        <p:spPr>
          <a:xfrm rot="5400000">
            <a:off x="17318317" y="18036879"/>
            <a:ext cx="15489143" cy="5022472"/>
          </a:xfrm>
          <a:prstGeom prst="rect">
            <a:avLst/>
          </a:prstGeom>
        </p:spPr>
      </p:pic>
      <p:sp>
        <p:nvSpPr>
          <p:cNvPr id="11" name="TextBox 10">
            <a:extLst>
              <a:ext uri="{FF2B5EF4-FFF2-40B4-BE49-F238E27FC236}">
                <a16:creationId xmlns:a16="http://schemas.microsoft.com/office/drawing/2014/main" id="{D2909B21-4C04-0A5E-1057-F6DD220BA586}"/>
              </a:ext>
            </a:extLst>
          </p:cNvPr>
          <p:cNvSpPr txBox="1"/>
          <p:nvPr/>
        </p:nvSpPr>
        <p:spPr>
          <a:xfrm>
            <a:off x="27782120" y="14113542"/>
            <a:ext cx="1786216" cy="477054"/>
          </a:xfrm>
          <a:prstGeom prst="rect">
            <a:avLst/>
          </a:prstGeom>
          <a:noFill/>
        </p:spPr>
        <p:txBody>
          <a:bodyPr wrap="square" rtlCol="0">
            <a:spAutoFit/>
          </a:bodyPr>
          <a:lstStyle/>
          <a:p>
            <a:r>
              <a:rPr lang="en-US" sz="2500" u="sng" dirty="0"/>
              <a:t>Hoist Rings </a:t>
            </a:r>
          </a:p>
        </p:txBody>
      </p:sp>
      <p:sp>
        <p:nvSpPr>
          <p:cNvPr id="14" name="TextBox 13">
            <a:extLst>
              <a:ext uri="{FF2B5EF4-FFF2-40B4-BE49-F238E27FC236}">
                <a16:creationId xmlns:a16="http://schemas.microsoft.com/office/drawing/2014/main" id="{C3F1B3CF-A1B7-37BB-DA92-5985B6ED93EB}"/>
              </a:ext>
            </a:extLst>
          </p:cNvPr>
          <p:cNvSpPr txBox="1"/>
          <p:nvPr/>
        </p:nvSpPr>
        <p:spPr>
          <a:xfrm>
            <a:off x="27961782" y="15432301"/>
            <a:ext cx="2682044" cy="584775"/>
          </a:xfrm>
          <a:prstGeom prst="rect">
            <a:avLst/>
          </a:prstGeom>
          <a:noFill/>
        </p:spPr>
        <p:txBody>
          <a:bodyPr wrap="square" rtlCol="0">
            <a:spAutoFit/>
          </a:bodyPr>
          <a:lstStyle/>
          <a:p>
            <a:r>
              <a:rPr lang="en-US" sz="3200" b="1" u="sng" dirty="0"/>
              <a:t>Beam source</a:t>
            </a:r>
            <a:endParaRPr lang="en-US" sz="3200" u="sng" dirty="0"/>
          </a:p>
        </p:txBody>
      </p:sp>
      <p:sp>
        <p:nvSpPr>
          <p:cNvPr id="15" name="TextBox 14">
            <a:extLst>
              <a:ext uri="{FF2B5EF4-FFF2-40B4-BE49-F238E27FC236}">
                <a16:creationId xmlns:a16="http://schemas.microsoft.com/office/drawing/2014/main" id="{C314A000-D4F7-45B0-7FF9-0657EBA17912}"/>
              </a:ext>
            </a:extLst>
          </p:cNvPr>
          <p:cNvSpPr txBox="1"/>
          <p:nvPr/>
        </p:nvSpPr>
        <p:spPr>
          <a:xfrm>
            <a:off x="27886112" y="21056126"/>
            <a:ext cx="2909690" cy="1246495"/>
          </a:xfrm>
          <a:prstGeom prst="rect">
            <a:avLst/>
          </a:prstGeom>
          <a:noFill/>
        </p:spPr>
        <p:txBody>
          <a:bodyPr wrap="square" rtlCol="0">
            <a:spAutoFit/>
          </a:bodyPr>
          <a:lstStyle/>
          <a:p>
            <a:r>
              <a:rPr lang="en-US" sz="2500" u="sng" dirty="0"/>
              <a:t>Borosilicate </a:t>
            </a:r>
            <a:r>
              <a:rPr lang="en-US" sz="2500" b="1" u="sng" dirty="0"/>
              <a:t>glass tube </a:t>
            </a:r>
            <a:r>
              <a:rPr lang="en-US" sz="2500" u="sng" dirty="0"/>
              <a:t>for </a:t>
            </a:r>
          </a:p>
          <a:p>
            <a:r>
              <a:rPr lang="en-US" sz="2500" u="sng" dirty="0"/>
              <a:t>crystal growth</a:t>
            </a:r>
          </a:p>
        </p:txBody>
      </p:sp>
      <p:sp>
        <p:nvSpPr>
          <p:cNvPr id="18" name="TextBox 17">
            <a:extLst>
              <a:ext uri="{FF2B5EF4-FFF2-40B4-BE49-F238E27FC236}">
                <a16:creationId xmlns:a16="http://schemas.microsoft.com/office/drawing/2014/main" id="{41DB679A-F5B3-E99F-7BF2-2818AA13AD12}"/>
              </a:ext>
            </a:extLst>
          </p:cNvPr>
          <p:cNvSpPr txBox="1"/>
          <p:nvPr/>
        </p:nvSpPr>
        <p:spPr>
          <a:xfrm>
            <a:off x="27962312" y="20104533"/>
            <a:ext cx="2819400" cy="477054"/>
          </a:xfrm>
          <a:prstGeom prst="rect">
            <a:avLst/>
          </a:prstGeom>
          <a:noFill/>
        </p:spPr>
        <p:txBody>
          <a:bodyPr wrap="square" rtlCol="0">
            <a:spAutoFit/>
          </a:bodyPr>
          <a:lstStyle/>
          <a:p>
            <a:r>
              <a:rPr lang="en-US" sz="2500" u="sng" dirty="0"/>
              <a:t>Copper heat shield</a:t>
            </a:r>
          </a:p>
        </p:txBody>
      </p:sp>
      <p:sp>
        <p:nvSpPr>
          <p:cNvPr id="23" name="TextBox 22">
            <a:extLst>
              <a:ext uri="{FF2B5EF4-FFF2-40B4-BE49-F238E27FC236}">
                <a16:creationId xmlns:a16="http://schemas.microsoft.com/office/drawing/2014/main" id="{A09B7222-712F-AA14-A71A-C698DD5BCCBE}"/>
              </a:ext>
            </a:extLst>
          </p:cNvPr>
          <p:cNvSpPr txBox="1"/>
          <p:nvPr/>
        </p:nvSpPr>
        <p:spPr>
          <a:xfrm>
            <a:off x="27968136" y="18152142"/>
            <a:ext cx="1600200" cy="477054"/>
          </a:xfrm>
          <a:prstGeom prst="rect">
            <a:avLst/>
          </a:prstGeom>
          <a:noFill/>
        </p:spPr>
        <p:txBody>
          <a:bodyPr wrap="square" rtlCol="0">
            <a:spAutoFit/>
          </a:bodyPr>
          <a:lstStyle/>
          <a:p>
            <a:r>
              <a:rPr lang="en-US" sz="2500" u="sng" dirty="0"/>
              <a:t>Beam pipe</a:t>
            </a:r>
          </a:p>
        </p:txBody>
      </p:sp>
      <p:sp>
        <p:nvSpPr>
          <p:cNvPr id="24" name="TextBox 23">
            <a:extLst>
              <a:ext uri="{FF2B5EF4-FFF2-40B4-BE49-F238E27FC236}">
                <a16:creationId xmlns:a16="http://schemas.microsoft.com/office/drawing/2014/main" id="{F56AA26C-5955-CBAF-4F14-C3F944D04AA2}"/>
              </a:ext>
            </a:extLst>
          </p:cNvPr>
          <p:cNvSpPr txBox="1"/>
          <p:nvPr/>
        </p:nvSpPr>
        <p:spPr>
          <a:xfrm>
            <a:off x="28022550" y="23702119"/>
            <a:ext cx="2286000" cy="477054"/>
          </a:xfrm>
          <a:prstGeom prst="rect">
            <a:avLst/>
          </a:prstGeom>
          <a:noFill/>
        </p:spPr>
        <p:txBody>
          <a:bodyPr wrap="square" rtlCol="0">
            <a:spAutoFit/>
          </a:bodyPr>
          <a:lstStyle/>
          <a:p>
            <a:r>
              <a:rPr lang="en-US" sz="2500" u="sng" dirty="0"/>
              <a:t>Mounting</a:t>
            </a:r>
            <a:r>
              <a:rPr lang="en-US" sz="2500" dirty="0"/>
              <a:t> </a:t>
            </a:r>
            <a:r>
              <a:rPr lang="en-US" sz="2500" u="sng" dirty="0"/>
              <a:t>Plate</a:t>
            </a:r>
          </a:p>
        </p:txBody>
      </p:sp>
      <p:sp>
        <p:nvSpPr>
          <p:cNvPr id="25" name="TextBox 24">
            <a:extLst>
              <a:ext uri="{FF2B5EF4-FFF2-40B4-BE49-F238E27FC236}">
                <a16:creationId xmlns:a16="http://schemas.microsoft.com/office/drawing/2014/main" id="{4F64A973-AA74-EDB8-C123-4481098399C6}"/>
              </a:ext>
            </a:extLst>
          </p:cNvPr>
          <p:cNvSpPr txBox="1"/>
          <p:nvPr/>
        </p:nvSpPr>
        <p:spPr>
          <a:xfrm>
            <a:off x="27947649" y="26439212"/>
            <a:ext cx="2436719" cy="861774"/>
          </a:xfrm>
          <a:prstGeom prst="rect">
            <a:avLst/>
          </a:prstGeom>
          <a:noFill/>
        </p:spPr>
        <p:txBody>
          <a:bodyPr wrap="square" rtlCol="0">
            <a:spAutoFit/>
          </a:bodyPr>
          <a:lstStyle/>
          <a:p>
            <a:r>
              <a:rPr lang="en-US" sz="2500" b="1" u="sng" dirty="0"/>
              <a:t>Custom compact ARS cryocooler</a:t>
            </a:r>
            <a:endParaRPr lang="en-US" sz="2500" u="sng" dirty="0"/>
          </a:p>
        </p:txBody>
      </p:sp>
      <p:cxnSp>
        <p:nvCxnSpPr>
          <p:cNvPr id="27" name="Straight Arrow Connector 26">
            <a:extLst>
              <a:ext uri="{FF2B5EF4-FFF2-40B4-BE49-F238E27FC236}">
                <a16:creationId xmlns:a16="http://schemas.microsoft.com/office/drawing/2014/main" id="{BAA898DF-DE92-23B9-8188-16DBBF97D515}"/>
              </a:ext>
            </a:extLst>
          </p:cNvPr>
          <p:cNvCxnSpPr>
            <a:cxnSpLocks/>
            <a:stCxn id="14" idx="1"/>
          </p:cNvCxnSpPr>
          <p:nvPr/>
        </p:nvCxnSpPr>
        <p:spPr>
          <a:xfrm flipH="1">
            <a:off x="25319440" y="15724689"/>
            <a:ext cx="2642342" cy="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29" name="Straight Arrow Connector 28">
            <a:extLst>
              <a:ext uri="{FF2B5EF4-FFF2-40B4-BE49-F238E27FC236}">
                <a16:creationId xmlns:a16="http://schemas.microsoft.com/office/drawing/2014/main" id="{85C5B6DC-717E-2854-6EF1-A6C643C202CB}"/>
              </a:ext>
            </a:extLst>
          </p:cNvPr>
          <p:cNvCxnSpPr>
            <a:cxnSpLocks/>
            <a:stCxn id="11" idx="1"/>
          </p:cNvCxnSpPr>
          <p:nvPr/>
        </p:nvCxnSpPr>
        <p:spPr>
          <a:xfrm flipH="1">
            <a:off x="25981112" y="14352069"/>
            <a:ext cx="1801008" cy="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30" name="Straight Arrow Connector 29">
            <a:extLst>
              <a:ext uri="{FF2B5EF4-FFF2-40B4-BE49-F238E27FC236}">
                <a16:creationId xmlns:a16="http://schemas.microsoft.com/office/drawing/2014/main" id="{8F262B42-046F-42A6-0A2D-418C5E7BFBA9}"/>
              </a:ext>
            </a:extLst>
          </p:cNvPr>
          <p:cNvCxnSpPr>
            <a:cxnSpLocks/>
            <a:stCxn id="23" idx="1"/>
          </p:cNvCxnSpPr>
          <p:nvPr/>
        </p:nvCxnSpPr>
        <p:spPr>
          <a:xfrm flipH="1">
            <a:off x="25277596" y="18390669"/>
            <a:ext cx="2690540" cy="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31" name="Straight Arrow Connector 30">
            <a:extLst>
              <a:ext uri="{FF2B5EF4-FFF2-40B4-BE49-F238E27FC236}">
                <a16:creationId xmlns:a16="http://schemas.microsoft.com/office/drawing/2014/main" id="{444BF097-EE25-2630-4BBF-EB2CC735182D}"/>
              </a:ext>
            </a:extLst>
          </p:cNvPr>
          <p:cNvCxnSpPr>
            <a:cxnSpLocks/>
          </p:cNvCxnSpPr>
          <p:nvPr/>
        </p:nvCxnSpPr>
        <p:spPr>
          <a:xfrm flipH="1">
            <a:off x="26362112" y="26769256"/>
            <a:ext cx="1333190" cy="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32" name="Straight Arrow Connector 31">
            <a:extLst>
              <a:ext uri="{FF2B5EF4-FFF2-40B4-BE49-F238E27FC236}">
                <a16:creationId xmlns:a16="http://schemas.microsoft.com/office/drawing/2014/main" id="{B3FB5037-8070-AA08-69ED-0AC3BC8B9DD5}"/>
              </a:ext>
            </a:extLst>
          </p:cNvPr>
          <p:cNvCxnSpPr>
            <a:cxnSpLocks/>
            <a:stCxn id="18" idx="1"/>
          </p:cNvCxnSpPr>
          <p:nvPr/>
        </p:nvCxnSpPr>
        <p:spPr>
          <a:xfrm flipH="1">
            <a:off x="25904912" y="20343060"/>
            <a:ext cx="2057400" cy="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35" name="Straight Arrow Connector 34">
            <a:extLst>
              <a:ext uri="{FF2B5EF4-FFF2-40B4-BE49-F238E27FC236}">
                <a16:creationId xmlns:a16="http://schemas.microsoft.com/office/drawing/2014/main" id="{A1743638-97E2-0613-2F07-06E92093D56B}"/>
              </a:ext>
            </a:extLst>
          </p:cNvPr>
          <p:cNvCxnSpPr>
            <a:cxnSpLocks/>
          </p:cNvCxnSpPr>
          <p:nvPr/>
        </p:nvCxnSpPr>
        <p:spPr>
          <a:xfrm flipH="1">
            <a:off x="25142912" y="21853342"/>
            <a:ext cx="2756404" cy="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36" name="Straight Arrow Connector 35">
            <a:extLst>
              <a:ext uri="{FF2B5EF4-FFF2-40B4-BE49-F238E27FC236}">
                <a16:creationId xmlns:a16="http://schemas.microsoft.com/office/drawing/2014/main" id="{4C3655C9-6D11-C417-1810-25C98CB2936B}"/>
              </a:ext>
            </a:extLst>
          </p:cNvPr>
          <p:cNvCxnSpPr>
            <a:cxnSpLocks/>
          </p:cNvCxnSpPr>
          <p:nvPr/>
        </p:nvCxnSpPr>
        <p:spPr>
          <a:xfrm flipH="1">
            <a:off x="26437853" y="23940646"/>
            <a:ext cx="1447800" cy="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pic>
        <p:nvPicPr>
          <p:cNvPr id="37" name="Picture 36">
            <a:extLst>
              <a:ext uri="{FF2B5EF4-FFF2-40B4-BE49-F238E27FC236}">
                <a16:creationId xmlns:a16="http://schemas.microsoft.com/office/drawing/2014/main" id="{2F5F14E0-DE5D-01E3-9269-6C5AC61AA37B}"/>
              </a:ext>
            </a:extLst>
          </p:cNvPr>
          <p:cNvPicPr>
            <a:picLocks noChangeAspect="1"/>
          </p:cNvPicPr>
          <p:nvPr/>
        </p:nvPicPr>
        <p:blipFill>
          <a:blip r:embed="rId37"/>
          <a:stretch>
            <a:fillRect/>
          </a:stretch>
        </p:blipFill>
        <p:spPr>
          <a:xfrm>
            <a:off x="31165799" y="24588210"/>
            <a:ext cx="12288083" cy="3988727"/>
          </a:xfrm>
          <a:prstGeom prst="rect">
            <a:avLst/>
          </a:prstGeom>
        </p:spPr>
      </p:pic>
      <p:pic>
        <p:nvPicPr>
          <p:cNvPr id="38" name="Picture 37" descr="A close-up of a test tube&#10;&#10;AI-generated content may be incorrect.">
            <a:extLst>
              <a:ext uri="{FF2B5EF4-FFF2-40B4-BE49-F238E27FC236}">
                <a16:creationId xmlns:a16="http://schemas.microsoft.com/office/drawing/2014/main" id="{45624203-43FC-75B6-035F-EE821B5AFE98}"/>
              </a:ext>
            </a:extLst>
          </p:cNvPr>
          <p:cNvPicPr>
            <a:picLocks noChangeAspect="1"/>
          </p:cNvPicPr>
          <p:nvPr/>
        </p:nvPicPr>
        <p:blipFill>
          <a:blip r:embed="rId38">
            <a:extLst>
              <a:ext uri="{28A0092B-C50C-407E-A947-70E740481C1C}">
                <a14:useLocalDpi xmlns:a14="http://schemas.microsoft.com/office/drawing/2010/main" val="0"/>
              </a:ext>
            </a:extLst>
          </a:blip>
          <a:srcRect l="7965" r="9874"/>
          <a:stretch>
            <a:fillRect/>
          </a:stretch>
        </p:blipFill>
        <p:spPr>
          <a:xfrm>
            <a:off x="32025688" y="13806893"/>
            <a:ext cx="4811955" cy="4685393"/>
          </a:xfrm>
          <a:prstGeom prst="rect">
            <a:avLst/>
          </a:prstGeom>
        </p:spPr>
      </p:pic>
      <p:pic>
        <p:nvPicPr>
          <p:cNvPr id="39" name="Picture 38" descr="A close up of a glass tube&#10;&#10;AI-generated content may be incorrect.">
            <a:extLst>
              <a:ext uri="{FF2B5EF4-FFF2-40B4-BE49-F238E27FC236}">
                <a16:creationId xmlns:a16="http://schemas.microsoft.com/office/drawing/2014/main" id="{460C2044-8F30-06B4-31E9-3D1482609331}"/>
              </a:ext>
            </a:extLst>
          </p:cNvPr>
          <p:cNvPicPr>
            <a:picLocks noChangeAspect="1"/>
          </p:cNvPicPr>
          <p:nvPr/>
        </p:nvPicPr>
        <p:blipFill>
          <a:blip r:embed="rId39">
            <a:extLst>
              <a:ext uri="{28A0092B-C50C-407E-A947-70E740481C1C}">
                <a14:useLocalDpi xmlns:a14="http://schemas.microsoft.com/office/drawing/2010/main" val="0"/>
              </a:ext>
            </a:extLst>
          </a:blip>
          <a:srcRect l="33169" t="20380" r="33541" b="21444"/>
          <a:stretch>
            <a:fillRect/>
          </a:stretch>
        </p:blipFill>
        <p:spPr>
          <a:xfrm rot="5400000">
            <a:off x="37461107" y="13855964"/>
            <a:ext cx="4666642" cy="4587252"/>
          </a:xfrm>
          <a:prstGeom prst="rect">
            <a:avLst/>
          </a:prstGeom>
        </p:spPr>
      </p:pic>
      <p:pic>
        <p:nvPicPr>
          <p:cNvPr id="66" name="Picture 65">
            <a:extLst>
              <a:ext uri="{FF2B5EF4-FFF2-40B4-BE49-F238E27FC236}">
                <a16:creationId xmlns:a16="http://schemas.microsoft.com/office/drawing/2014/main" id="{F496FC07-6140-4B85-9816-D85E56BA790E}"/>
              </a:ext>
            </a:extLst>
          </p:cNvPr>
          <p:cNvPicPr>
            <a:picLocks noChangeAspect="1"/>
          </p:cNvPicPr>
          <p:nvPr/>
        </p:nvPicPr>
        <p:blipFill>
          <a:blip r:embed="rId40"/>
          <a:srcRect l="7785" r="22391" b="12909"/>
          <a:stretch>
            <a:fillRect/>
          </a:stretch>
        </p:blipFill>
        <p:spPr>
          <a:xfrm>
            <a:off x="37191527" y="19702132"/>
            <a:ext cx="6090073" cy="4522765"/>
          </a:xfrm>
          <a:prstGeom prst="rect">
            <a:avLst/>
          </a:prstGeom>
        </p:spPr>
      </p:pic>
      <p:cxnSp>
        <p:nvCxnSpPr>
          <p:cNvPr id="68" name="Straight Arrow Connector 67">
            <a:extLst>
              <a:ext uri="{FF2B5EF4-FFF2-40B4-BE49-F238E27FC236}">
                <a16:creationId xmlns:a16="http://schemas.microsoft.com/office/drawing/2014/main" id="{B6D1ABA2-73D0-19BA-B3AF-F243B0A8410D}"/>
              </a:ext>
            </a:extLst>
          </p:cNvPr>
          <p:cNvCxnSpPr>
            <a:cxnSpLocks/>
          </p:cNvCxnSpPr>
          <p:nvPr/>
        </p:nvCxnSpPr>
        <p:spPr>
          <a:xfrm>
            <a:off x="25828253" y="16860749"/>
            <a:ext cx="914400" cy="0"/>
          </a:xfrm>
          <a:prstGeom prst="straightConnector1">
            <a:avLst/>
          </a:prstGeom>
          <a:ln w="76200">
            <a:tailEnd type="triangle"/>
          </a:ln>
        </p:spPr>
        <p:style>
          <a:lnRef idx="1">
            <a:schemeClr val="dk1"/>
          </a:lnRef>
          <a:fillRef idx="0">
            <a:schemeClr val="dk1"/>
          </a:fillRef>
          <a:effectRef idx="0">
            <a:schemeClr val="dk1"/>
          </a:effectRef>
          <a:fontRef idx="minor">
            <a:schemeClr val="tx1"/>
          </a:fontRef>
        </p:style>
      </p:cxnSp>
      <p:cxnSp>
        <p:nvCxnSpPr>
          <p:cNvPr id="70" name="Straight Arrow Connector 69">
            <a:extLst>
              <a:ext uri="{FF2B5EF4-FFF2-40B4-BE49-F238E27FC236}">
                <a16:creationId xmlns:a16="http://schemas.microsoft.com/office/drawing/2014/main" id="{8B161B4B-36FE-237F-38F6-C4CB1E53E764}"/>
              </a:ext>
            </a:extLst>
          </p:cNvPr>
          <p:cNvCxnSpPr>
            <a:cxnSpLocks/>
          </p:cNvCxnSpPr>
          <p:nvPr/>
        </p:nvCxnSpPr>
        <p:spPr>
          <a:xfrm>
            <a:off x="25828253" y="28101684"/>
            <a:ext cx="914400" cy="0"/>
          </a:xfrm>
          <a:prstGeom prst="straightConnector1">
            <a:avLst/>
          </a:prstGeom>
          <a:ln w="76200">
            <a:tailEnd type="triangle"/>
          </a:ln>
        </p:spPr>
        <p:style>
          <a:lnRef idx="1">
            <a:schemeClr val="dk1"/>
          </a:lnRef>
          <a:fillRef idx="0">
            <a:schemeClr val="dk1"/>
          </a:fillRef>
          <a:effectRef idx="0">
            <a:schemeClr val="dk1"/>
          </a:effectRef>
          <a:fontRef idx="minor">
            <a:schemeClr val="tx1"/>
          </a:fontRef>
        </p:style>
      </p:cxnSp>
      <p:sp>
        <p:nvSpPr>
          <p:cNvPr id="71" name="TextBox 70">
            <a:extLst>
              <a:ext uri="{FF2B5EF4-FFF2-40B4-BE49-F238E27FC236}">
                <a16:creationId xmlns:a16="http://schemas.microsoft.com/office/drawing/2014/main" id="{5C6C8A25-BA3F-CE86-0333-B5FC3892D9FE}"/>
              </a:ext>
            </a:extLst>
          </p:cNvPr>
          <p:cNvSpPr txBox="1"/>
          <p:nvPr/>
        </p:nvSpPr>
        <p:spPr>
          <a:xfrm>
            <a:off x="26742653" y="16632149"/>
            <a:ext cx="3657600" cy="1246495"/>
          </a:xfrm>
          <a:prstGeom prst="rect">
            <a:avLst/>
          </a:prstGeom>
          <a:noFill/>
        </p:spPr>
        <p:txBody>
          <a:bodyPr wrap="square" rtlCol="0">
            <a:spAutoFit/>
          </a:bodyPr>
          <a:lstStyle/>
          <a:p>
            <a:r>
              <a:rPr lang="en-US" sz="2500" dirty="0"/>
              <a:t>To Argon handling system and pumps for inner vacuum system</a:t>
            </a:r>
          </a:p>
        </p:txBody>
      </p:sp>
      <p:sp>
        <p:nvSpPr>
          <p:cNvPr id="72" name="TextBox 71">
            <a:extLst>
              <a:ext uri="{FF2B5EF4-FFF2-40B4-BE49-F238E27FC236}">
                <a16:creationId xmlns:a16="http://schemas.microsoft.com/office/drawing/2014/main" id="{155C6E46-CDC3-9B8C-B0EF-CDB16FC1152B}"/>
              </a:ext>
            </a:extLst>
          </p:cNvPr>
          <p:cNvSpPr txBox="1"/>
          <p:nvPr/>
        </p:nvSpPr>
        <p:spPr>
          <a:xfrm>
            <a:off x="26714861" y="27877822"/>
            <a:ext cx="3657600" cy="477054"/>
          </a:xfrm>
          <a:prstGeom prst="rect">
            <a:avLst/>
          </a:prstGeom>
          <a:noFill/>
        </p:spPr>
        <p:txBody>
          <a:bodyPr wrap="square" rtlCol="0">
            <a:spAutoFit/>
          </a:bodyPr>
          <a:lstStyle/>
          <a:p>
            <a:r>
              <a:rPr lang="en-US" sz="2500" dirty="0"/>
              <a:t>To He compressor</a:t>
            </a:r>
          </a:p>
        </p:txBody>
      </p:sp>
      <p:cxnSp>
        <p:nvCxnSpPr>
          <p:cNvPr id="73" name="Straight Arrow Connector 72">
            <a:extLst>
              <a:ext uri="{FF2B5EF4-FFF2-40B4-BE49-F238E27FC236}">
                <a16:creationId xmlns:a16="http://schemas.microsoft.com/office/drawing/2014/main" id="{A5205BD3-EED4-B21B-7D43-5732E1BFC6C8}"/>
              </a:ext>
            </a:extLst>
          </p:cNvPr>
          <p:cNvCxnSpPr>
            <a:cxnSpLocks/>
          </p:cNvCxnSpPr>
          <p:nvPr/>
        </p:nvCxnSpPr>
        <p:spPr>
          <a:xfrm>
            <a:off x="27390044" y="22266283"/>
            <a:ext cx="1029009" cy="495379"/>
          </a:xfrm>
          <a:prstGeom prst="straightConnector1">
            <a:avLst/>
          </a:prstGeom>
          <a:ln w="76200">
            <a:tailEnd type="triangle"/>
          </a:ln>
        </p:spPr>
        <p:style>
          <a:lnRef idx="1">
            <a:schemeClr val="dk1"/>
          </a:lnRef>
          <a:fillRef idx="0">
            <a:schemeClr val="dk1"/>
          </a:fillRef>
          <a:effectRef idx="0">
            <a:schemeClr val="dk1"/>
          </a:effectRef>
          <a:fontRef idx="minor">
            <a:schemeClr val="tx1"/>
          </a:fontRef>
        </p:style>
      </p:cxnSp>
      <p:sp>
        <p:nvSpPr>
          <p:cNvPr id="75" name="TextBox 74">
            <a:extLst>
              <a:ext uri="{FF2B5EF4-FFF2-40B4-BE49-F238E27FC236}">
                <a16:creationId xmlns:a16="http://schemas.microsoft.com/office/drawing/2014/main" id="{8C7B5581-7DE1-1B14-3B21-8C2F377CE113}"/>
              </a:ext>
            </a:extLst>
          </p:cNvPr>
          <p:cNvSpPr txBox="1"/>
          <p:nvPr/>
        </p:nvSpPr>
        <p:spPr>
          <a:xfrm>
            <a:off x="28342853" y="22596523"/>
            <a:ext cx="2590800" cy="861774"/>
          </a:xfrm>
          <a:prstGeom prst="rect">
            <a:avLst/>
          </a:prstGeom>
          <a:noFill/>
        </p:spPr>
        <p:txBody>
          <a:bodyPr wrap="square" rtlCol="0">
            <a:spAutoFit/>
          </a:bodyPr>
          <a:lstStyle/>
          <a:p>
            <a:r>
              <a:rPr lang="en-US" sz="2500" u="sng" dirty="0"/>
              <a:t>To pumps for outer vacuum</a:t>
            </a:r>
          </a:p>
        </p:txBody>
      </p:sp>
      <p:sp>
        <p:nvSpPr>
          <p:cNvPr id="82" name="TextBox 81">
            <a:extLst>
              <a:ext uri="{FF2B5EF4-FFF2-40B4-BE49-F238E27FC236}">
                <a16:creationId xmlns:a16="http://schemas.microsoft.com/office/drawing/2014/main" id="{EDCB3EF0-EE9D-F458-BAEC-433DCE80FCAC}"/>
              </a:ext>
            </a:extLst>
          </p:cNvPr>
          <p:cNvSpPr txBox="1"/>
          <p:nvPr/>
        </p:nvSpPr>
        <p:spPr>
          <a:xfrm>
            <a:off x="31987588" y="18594836"/>
            <a:ext cx="9776459" cy="523220"/>
          </a:xfrm>
          <a:prstGeom prst="rect">
            <a:avLst/>
          </a:prstGeom>
          <a:noFill/>
          <a:ln>
            <a:noFill/>
          </a:ln>
        </p:spPr>
        <p:txBody>
          <a:bodyPr wrap="square" rtlCol="0">
            <a:spAutoFit/>
          </a:bodyPr>
          <a:lstStyle/>
          <a:p>
            <a:r>
              <a:rPr lang="en-US" sz="2800" dirty="0"/>
              <a:t>Left: </a:t>
            </a:r>
            <a:r>
              <a:rPr lang="en-US" sz="2800" dirty="0" err="1"/>
              <a:t>thorcam</a:t>
            </a:r>
            <a:r>
              <a:rPr lang="en-US" sz="2800" dirty="0"/>
              <a:t>	             Right: </a:t>
            </a:r>
            <a:r>
              <a:rPr lang="en-US" sz="2800" dirty="0" err="1"/>
              <a:t>iphone</a:t>
            </a:r>
            <a:r>
              <a:rPr lang="en-US" sz="2800" dirty="0"/>
              <a:t> photo  </a:t>
            </a:r>
          </a:p>
        </p:txBody>
      </p:sp>
      <p:sp>
        <p:nvSpPr>
          <p:cNvPr id="84" name="Rectangle 83">
            <a:extLst>
              <a:ext uri="{FF2B5EF4-FFF2-40B4-BE49-F238E27FC236}">
                <a16:creationId xmlns:a16="http://schemas.microsoft.com/office/drawing/2014/main" id="{A5DD6361-F728-283B-0C18-68221934E393}"/>
              </a:ext>
            </a:extLst>
          </p:cNvPr>
          <p:cNvSpPr/>
          <p:nvPr/>
        </p:nvSpPr>
        <p:spPr>
          <a:xfrm>
            <a:off x="31089928" y="19650067"/>
            <a:ext cx="6157130" cy="5810303"/>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3" name="TextBox 82">
            <a:extLst>
              <a:ext uri="{FF2B5EF4-FFF2-40B4-BE49-F238E27FC236}">
                <a16:creationId xmlns:a16="http://schemas.microsoft.com/office/drawing/2014/main" id="{70646180-66C4-6CF6-F03D-9E9AF78CFCA4}"/>
              </a:ext>
            </a:extLst>
          </p:cNvPr>
          <p:cNvSpPr txBox="1"/>
          <p:nvPr/>
        </p:nvSpPr>
        <p:spPr>
          <a:xfrm>
            <a:off x="33374428" y="13083722"/>
            <a:ext cx="9776459" cy="584775"/>
          </a:xfrm>
          <a:prstGeom prst="rect">
            <a:avLst/>
          </a:prstGeom>
          <a:noFill/>
          <a:ln>
            <a:noFill/>
          </a:ln>
        </p:spPr>
        <p:txBody>
          <a:bodyPr wrap="square" rtlCol="0">
            <a:spAutoFit/>
          </a:bodyPr>
          <a:lstStyle/>
          <a:p>
            <a:r>
              <a:rPr lang="en-US" sz="3200" b="1" u="sng" dirty="0"/>
              <a:t>Pictures of Cm scale transparent argon crystals</a:t>
            </a:r>
          </a:p>
        </p:txBody>
      </p:sp>
      <p:sp>
        <p:nvSpPr>
          <p:cNvPr id="81" name="TextBox 80">
            <a:extLst>
              <a:ext uri="{FF2B5EF4-FFF2-40B4-BE49-F238E27FC236}">
                <a16:creationId xmlns:a16="http://schemas.microsoft.com/office/drawing/2014/main" id="{DF1C083F-D1CC-68F8-7F9B-798D29015513}"/>
              </a:ext>
            </a:extLst>
          </p:cNvPr>
          <p:cNvSpPr txBox="1"/>
          <p:nvPr/>
        </p:nvSpPr>
        <p:spPr>
          <a:xfrm>
            <a:off x="31149071" y="20397397"/>
            <a:ext cx="6183633" cy="5170646"/>
          </a:xfrm>
          <a:prstGeom prst="rect">
            <a:avLst/>
          </a:prstGeom>
          <a:noFill/>
        </p:spPr>
        <p:txBody>
          <a:bodyPr wrap="square" rtlCol="0">
            <a:spAutoFit/>
          </a:bodyPr>
          <a:lstStyle/>
          <a:p>
            <a:pPr marL="457200" indent="-457200">
              <a:buFont typeface="Arial" panose="020B0604020202020204" pitchFamily="34" charset="0"/>
              <a:buChar char="•"/>
            </a:pPr>
            <a:r>
              <a:rPr lang="en-US" sz="3000" dirty="0"/>
              <a:t>Optically transparent cm scale argon crystals have been grown using the Bridgeman-</a:t>
            </a:r>
            <a:r>
              <a:rPr lang="en-US" sz="3000" dirty="0" err="1"/>
              <a:t>Stockbarger</a:t>
            </a:r>
            <a:r>
              <a:rPr lang="en-US" sz="3000" dirty="0"/>
              <a:t> method at cryogenic temperatures</a:t>
            </a:r>
          </a:p>
          <a:p>
            <a:pPr marL="457200" indent="-457200">
              <a:buFont typeface="Arial" panose="020B0604020202020204" pitchFamily="34" charset="0"/>
              <a:buChar char="•"/>
            </a:pPr>
            <a:r>
              <a:rPr lang="en-US" sz="3000" dirty="0"/>
              <a:t>Portable cryostat supports optical access and is compatible with APS 28ID Beamline</a:t>
            </a:r>
          </a:p>
          <a:p>
            <a:pPr marL="457200" indent="-457200">
              <a:buFont typeface="Arial" panose="020B0604020202020204" pitchFamily="34" charset="0"/>
              <a:buChar char="•"/>
            </a:pPr>
            <a:r>
              <a:rPr lang="en-US" sz="3000" dirty="0"/>
              <a:t>Beam source and cryostat Integration is on the horizon</a:t>
            </a:r>
          </a:p>
          <a:p>
            <a:pPr marL="457200" indent="-457200">
              <a:buFont typeface="Arial" panose="020B0604020202020204" pitchFamily="34" charset="0"/>
              <a:buChar char="•"/>
            </a:pPr>
            <a:r>
              <a:rPr lang="en-US" sz="3000" dirty="0"/>
              <a:t>Will use to study inhomogeneous broadening in dopant ensemble</a:t>
            </a:r>
          </a:p>
        </p:txBody>
      </p:sp>
      <p:sp>
        <p:nvSpPr>
          <p:cNvPr id="85" name="TextBox 84">
            <a:extLst>
              <a:ext uri="{FF2B5EF4-FFF2-40B4-BE49-F238E27FC236}">
                <a16:creationId xmlns:a16="http://schemas.microsoft.com/office/drawing/2014/main" id="{A6924F84-89FC-5531-C636-C9C9257FB414}"/>
              </a:ext>
            </a:extLst>
          </p:cNvPr>
          <p:cNvSpPr txBox="1"/>
          <p:nvPr/>
        </p:nvSpPr>
        <p:spPr>
          <a:xfrm>
            <a:off x="31223020" y="19751066"/>
            <a:ext cx="2476362" cy="646331"/>
          </a:xfrm>
          <a:prstGeom prst="rect">
            <a:avLst/>
          </a:prstGeom>
          <a:noFill/>
          <a:ln>
            <a:noFill/>
          </a:ln>
        </p:spPr>
        <p:txBody>
          <a:bodyPr wrap="square" rtlCol="0">
            <a:spAutoFit/>
          </a:bodyPr>
          <a:lstStyle/>
          <a:p>
            <a:r>
              <a:rPr lang="en-US" sz="3600" b="1" u="sng" dirty="0"/>
              <a:t>Overview</a:t>
            </a:r>
          </a:p>
        </p:txBody>
      </p:sp>
      <p:sp>
        <p:nvSpPr>
          <p:cNvPr id="87" name="TextBox 86">
            <a:extLst>
              <a:ext uri="{FF2B5EF4-FFF2-40B4-BE49-F238E27FC236}">
                <a16:creationId xmlns:a16="http://schemas.microsoft.com/office/drawing/2014/main" id="{06BFBDC5-3A41-C35E-FA39-681E8D4EFA4A}"/>
              </a:ext>
            </a:extLst>
          </p:cNvPr>
          <p:cNvSpPr txBox="1"/>
          <p:nvPr/>
        </p:nvSpPr>
        <p:spPr>
          <a:xfrm>
            <a:off x="27127200" y="18614740"/>
            <a:ext cx="3495581" cy="1246495"/>
          </a:xfrm>
          <a:prstGeom prst="rect">
            <a:avLst/>
          </a:prstGeom>
          <a:noFill/>
        </p:spPr>
        <p:txBody>
          <a:bodyPr wrap="square" rtlCol="0">
            <a:spAutoFit/>
          </a:bodyPr>
          <a:lstStyle/>
          <a:p>
            <a:pPr marL="342900" indent="-342900">
              <a:buFont typeface="Arial" panose="020B0604020202020204" pitchFamily="34" charset="0"/>
              <a:buChar char="•"/>
            </a:pPr>
            <a:r>
              <a:rPr lang="en-US" sz="2500" dirty="0"/>
              <a:t>Handles heat load between beam source and growth volume</a:t>
            </a:r>
          </a:p>
        </p:txBody>
      </p:sp>
      <p:sp>
        <p:nvSpPr>
          <p:cNvPr id="90" name="TextBox 89">
            <a:extLst>
              <a:ext uri="{FF2B5EF4-FFF2-40B4-BE49-F238E27FC236}">
                <a16:creationId xmlns:a16="http://schemas.microsoft.com/office/drawing/2014/main" id="{023EE2A4-AC80-B8E6-908D-AFCD0F12369C}"/>
              </a:ext>
            </a:extLst>
          </p:cNvPr>
          <p:cNvSpPr txBox="1"/>
          <p:nvPr/>
        </p:nvSpPr>
        <p:spPr>
          <a:xfrm>
            <a:off x="27279600" y="24258100"/>
            <a:ext cx="3495581" cy="861774"/>
          </a:xfrm>
          <a:prstGeom prst="rect">
            <a:avLst/>
          </a:prstGeom>
          <a:noFill/>
        </p:spPr>
        <p:txBody>
          <a:bodyPr wrap="square" rtlCol="0">
            <a:spAutoFit/>
          </a:bodyPr>
          <a:lstStyle/>
          <a:p>
            <a:pPr marL="342900" indent="-342900">
              <a:buFont typeface="Arial" panose="020B0604020202020204" pitchFamily="34" charset="0"/>
              <a:buChar char="•"/>
            </a:pPr>
            <a:r>
              <a:rPr lang="en-US" sz="2500" dirty="0"/>
              <a:t>Compatible with APS 28-ID diffractometer</a:t>
            </a:r>
          </a:p>
        </p:txBody>
      </p:sp>
    </p:spTree>
  </p:cSld>
  <p:clrMapOvr>
    <a:masterClrMapping/>
  </p:clrMapOvr>
</p:sld>
</file>

<file path=ppt/theme/theme1.xml><?xml version="1.0" encoding="utf-8"?>
<a:theme xmlns:a="http://schemas.openxmlformats.org/drawingml/2006/main" name="Office Theme">
  <a:themeElements>
    <a:clrScheme name="Apex">
      <a:dk1>
        <a:sysClr val="windowText" lastClr="000000"/>
      </a:dk1>
      <a:lt1>
        <a:sysClr val="window" lastClr="FFFFFF"/>
      </a:lt1>
      <a:dk2>
        <a:srgbClr val="69676D"/>
      </a:dk2>
      <a:lt2>
        <a:srgbClr val="C9C2D1"/>
      </a:lt2>
      <a:accent1>
        <a:srgbClr val="CEB966"/>
      </a:accent1>
      <a:accent2>
        <a:srgbClr val="9CB084"/>
      </a:accent2>
      <a:accent3>
        <a:srgbClr val="6BB1C9"/>
      </a:accent3>
      <a:accent4>
        <a:srgbClr val="6585CF"/>
      </a:accent4>
      <a:accent5>
        <a:srgbClr val="7E6BC9"/>
      </a:accent5>
      <a:accent6>
        <a:srgbClr val="A379BB"/>
      </a:accent6>
      <a:hlink>
        <a:srgbClr val="410082"/>
      </a:hlink>
      <a:folHlink>
        <a:srgbClr val="932968"/>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1A26A4B32F3A5149A630672A0E35C747" ma:contentTypeVersion="11" ma:contentTypeDescription="Create a new document." ma:contentTypeScope="" ma:versionID="f3d76493030de4012ba5f5cf74ca5903">
  <xsd:schema xmlns:xsd="http://www.w3.org/2001/XMLSchema" xmlns:xs="http://www.w3.org/2001/XMLSchema" xmlns:p="http://schemas.microsoft.com/office/2006/metadata/properties" xmlns:ns3="a3b42213-2d2e-45ef-8677-fd035c7d6183" targetNamespace="http://schemas.microsoft.com/office/2006/metadata/properties" ma:root="true" ma:fieldsID="99a6b72bf5b1adf25bfdc375261bb36e" ns3:_="">
    <xsd:import namespace="a3b42213-2d2e-45ef-8677-fd035c7d6183"/>
    <xsd:element name="properties">
      <xsd:complexType>
        <xsd:sequence>
          <xsd:element name="documentManagement">
            <xsd:complexType>
              <xsd:all>
                <xsd:element ref="ns3:MediaServiceMetadata" minOccurs="0"/>
                <xsd:element ref="ns3:MediaServiceFastMetadata" minOccurs="0"/>
                <xsd:element ref="ns3:MediaServiceSearchProperties" minOccurs="0"/>
                <xsd:element ref="ns3:MediaServiceObjectDetectorVersions" minOccurs="0"/>
                <xsd:element ref="ns3:MediaServiceDateTaken" minOccurs="0"/>
                <xsd:element ref="ns3:MediaServiceSystemTags" minOccurs="0"/>
                <xsd:element ref="ns3:MediaServiceOCR" minOccurs="0"/>
                <xsd:element ref="ns3:MediaServiceGenerationTime" minOccurs="0"/>
                <xsd:element ref="ns3:MediaServiceEventHashCode" minOccurs="0"/>
                <xsd:element ref="ns3:MediaLengthInSeconds" minOccurs="0"/>
                <xsd:element ref="ns3: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3b42213-2d2e-45ef-8677-fd035c7d618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SystemTags" ma:index="13" nillable="true" ma:displayName="MediaServiceSystemTags" ma:hidden="true" ma:internalName="MediaServiceSystemTags" ma:readOnly="true">
      <xsd:simpleType>
        <xsd:restriction base="dms:Note"/>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MediaServiceLocation" ma:index="18" nillable="true" ma:displayName="Location" ma:indexed="true" ma:internalName="MediaServiceLocatio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CC1C1D6-EA78-4FDD-8620-4FE534E9F59D}">
  <ds:schemaRefs>
    <ds:schemaRef ds:uri="http://schemas.microsoft.com/office/2006/documentManagement/types"/>
    <ds:schemaRef ds:uri="http://schemas.microsoft.com/office/infopath/2007/PartnerControls"/>
    <ds:schemaRef ds:uri="http://purl.org/dc/dcmitype/"/>
    <ds:schemaRef ds:uri="http://schemas.openxmlformats.org/package/2006/metadata/core-properties"/>
    <ds:schemaRef ds:uri="http://purl.org/dc/elements/1.1/"/>
    <ds:schemaRef ds:uri="http://purl.org/dc/terms/"/>
    <ds:schemaRef ds:uri="http://schemas.microsoft.com/office/2006/metadata/properties"/>
    <ds:schemaRef ds:uri="a3b42213-2d2e-45ef-8677-fd035c7d6183"/>
    <ds:schemaRef ds:uri="http://www.w3.org/XML/1998/namespace"/>
  </ds:schemaRefs>
</ds:datastoreItem>
</file>

<file path=customXml/itemProps2.xml><?xml version="1.0" encoding="utf-8"?>
<ds:datastoreItem xmlns:ds="http://schemas.openxmlformats.org/officeDocument/2006/customXml" ds:itemID="{9419D7E5-FC7C-4A98-8CF6-42C19A84828E}">
  <ds:schemaRefs>
    <ds:schemaRef ds:uri="http://schemas.microsoft.com/sharepoint/v3/contenttype/forms"/>
  </ds:schemaRefs>
</ds:datastoreItem>
</file>

<file path=customXml/itemProps3.xml><?xml version="1.0" encoding="utf-8"?>
<ds:datastoreItem xmlns:ds="http://schemas.openxmlformats.org/officeDocument/2006/customXml" ds:itemID="{39C49B04-5A4E-4F91-AC43-800029904B5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3b42213-2d2e-45ef-8677-fd035c7d618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0</TotalTime>
  <Words>966</Words>
  <Application>Microsoft Office PowerPoint</Application>
  <PresentationFormat>Custom</PresentationFormat>
  <Paragraphs>121</Paragraphs>
  <Slides>1</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Aptos</vt:lpstr>
      <vt:lpstr>Arial</vt:lpstr>
      <vt:lpstr>Calibri</vt:lpstr>
      <vt:lpstr>Cambria Math</vt:lpstr>
      <vt:lpstr>Lao UI</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2017-09-15T21:10:20Z</dcterms:created>
  <dcterms:modified xsi:type="dcterms:W3CDTF">2025-11-30T21:49:48Z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0x0101001A26A4B32F3A5149A630672A0E35C747</vt:lpwstr>
  </property>
</Properties>
</file>