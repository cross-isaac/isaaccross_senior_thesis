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3"/>
  </p:notesMasterIdLst>
  <p:sldIdLst>
    <p:sldId id="256" r:id="rId2"/>
    <p:sldId id="257" r:id="rId3"/>
    <p:sldId id="291" r:id="rId4"/>
    <p:sldId id="259" r:id="rId5"/>
    <p:sldId id="261" r:id="rId6"/>
    <p:sldId id="285" r:id="rId7"/>
    <p:sldId id="287" r:id="rId8"/>
    <p:sldId id="262" r:id="rId9"/>
    <p:sldId id="288" r:id="rId10"/>
    <p:sldId id="263" r:id="rId11"/>
    <p:sldId id="264" r:id="rId12"/>
    <p:sldId id="265" r:id="rId13"/>
    <p:sldId id="268" r:id="rId14"/>
    <p:sldId id="269" r:id="rId15"/>
    <p:sldId id="270" r:id="rId16"/>
    <p:sldId id="289" r:id="rId17"/>
    <p:sldId id="290" r:id="rId18"/>
    <p:sldId id="293" r:id="rId19"/>
    <p:sldId id="273" r:id="rId20"/>
    <p:sldId id="274" r:id="rId21"/>
    <p:sldId id="279" r:id="rId22"/>
    <p:sldId id="275" r:id="rId23"/>
    <p:sldId id="277" r:id="rId24"/>
    <p:sldId id="276" r:id="rId25"/>
    <p:sldId id="280" r:id="rId26"/>
    <p:sldId id="281" r:id="rId27"/>
    <p:sldId id="292" r:id="rId28"/>
    <p:sldId id="258" r:id="rId29"/>
    <p:sldId id="282" r:id="rId30"/>
    <p:sldId id="284" r:id="rId31"/>
    <p:sldId id="283"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319" y="7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d5ce1fc61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d5ce1fc61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F8343617-403C-9D23-E29E-CB92DE34F5C6}"/>
            </a:ext>
          </a:extLst>
        </p:cNvPr>
        <p:cNvGrpSpPr/>
        <p:nvPr/>
      </p:nvGrpSpPr>
      <p:grpSpPr>
        <a:xfrm>
          <a:off x="0" y="0"/>
          <a:ext cx="0" cy="0"/>
          <a:chOff x="0" y="0"/>
          <a:chExt cx="0" cy="0"/>
        </a:xfrm>
      </p:grpSpPr>
      <p:sp>
        <p:nvSpPr>
          <p:cNvPr id="79" name="Google Shape;79;g3d5ce1fc613_1_140:notes">
            <a:extLst>
              <a:ext uri="{FF2B5EF4-FFF2-40B4-BE49-F238E27FC236}">
                <a16:creationId xmlns:a16="http://schemas.microsoft.com/office/drawing/2014/main" id="{55648648-1B4E-7A6E-8AC6-A438B93E1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d5ce1fc613_1_140:notes">
            <a:extLst>
              <a:ext uri="{FF2B5EF4-FFF2-40B4-BE49-F238E27FC236}">
                <a16:creationId xmlns:a16="http://schemas.microsoft.com/office/drawing/2014/main" id="{7D471D58-F43E-AA37-D498-9F31D42A4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98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d5ce1fc613_1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d5ce1fc613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such that a doped </a:t>
            </a:r>
            <a:r>
              <a:rPr lang="en-US" dirty="0" err="1"/>
              <a:t>cryocrystal</a:t>
            </a:r>
            <a:r>
              <a:rPr lang="en-US" dirty="0"/>
              <a:t> could in principle provide in seconds the same uncertainty obtained by ACME in their 350-hour data set. Said a different way, the doped crystal would have over 1013 molecules in a 1 mm3 volume, which can be compared with the few hundred thousand molecules in the ACME-II beam at any given time.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d5ce1fc61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5ce1fc61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Expect to grow slower/ UHV</a:t>
            </a: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BCF0D44-7CB2-86D3-C1B2-5DE9076B854D}"/>
            </a:ext>
          </a:extLst>
        </p:cNvPr>
        <p:cNvGrpSpPr/>
        <p:nvPr/>
      </p:nvGrpSpPr>
      <p:grpSpPr>
        <a:xfrm>
          <a:off x="0" y="0"/>
          <a:ext cx="0" cy="0"/>
          <a:chOff x="0" y="0"/>
          <a:chExt cx="0" cy="0"/>
        </a:xfrm>
      </p:grpSpPr>
      <p:sp>
        <p:nvSpPr>
          <p:cNvPr id="92" name="Google Shape;92;g3d5ce1fc613_0_28:notes">
            <a:extLst>
              <a:ext uri="{FF2B5EF4-FFF2-40B4-BE49-F238E27FC236}">
                <a16:creationId xmlns:a16="http://schemas.microsoft.com/office/drawing/2014/main" id="{B5B69225-5DA3-B767-8BAF-B78FBB1EE4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5ce1fc613_0_28:notes">
            <a:extLst>
              <a:ext uri="{FF2B5EF4-FFF2-40B4-BE49-F238E27FC236}">
                <a16:creationId xmlns:a16="http://schemas.microsoft.com/office/drawing/2014/main" id="{7F0403F1-1E83-7BBA-A818-E574A9304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Expect to grow slower/ UHV</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405512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23E26CB-DF83-3D49-2A1C-B1F8442174F9}"/>
            </a:ext>
          </a:extLst>
        </p:cNvPr>
        <p:cNvGrpSpPr/>
        <p:nvPr/>
      </p:nvGrpSpPr>
      <p:grpSpPr>
        <a:xfrm>
          <a:off x="0" y="0"/>
          <a:ext cx="0" cy="0"/>
          <a:chOff x="0" y="0"/>
          <a:chExt cx="0" cy="0"/>
        </a:xfrm>
      </p:grpSpPr>
      <p:sp>
        <p:nvSpPr>
          <p:cNvPr id="92" name="Google Shape;92;g3d5ce1fc613_0_28:notes">
            <a:extLst>
              <a:ext uri="{FF2B5EF4-FFF2-40B4-BE49-F238E27FC236}">
                <a16:creationId xmlns:a16="http://schemas.microsoft.com/office/drawing/2014/main" id="{F58EAF41-8E8D-A155-6402-FF09C74EF5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5ce1fc613_0_28:notes">
            <a:extLst>
              <a:ext uri="{FF2B5EF4-FFF2-40B4-BE49-F238E27FC236}">
                <a16:creationId xmlns:a16="http://schemas.microsoft.com/office/drawing/2014/main" id="{1BFACA0F-2101-6A3F-BD11-1471DA9B9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Expect to grow slower/ UHV</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38690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d5ce1fc61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d5ce1fc61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Also want slower growth rates than others therefore lower Ar Pressure and therefore even lower Rb pressure….</a:t>
            </a: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2BA30220-E62B-AC17-1F68-ECDF18EE463F}"/>
            </a:ext>
          </a:extLst>
        </p:cNvPr>
        <p:cNvGrpSpPr/>
        <p:nvPr/>
      </p:nvGrpSpPr>
      <p:grpSpPr>
        <a:xfrm>
          <a:off x="0" y="0"/>
          <a:ext cx="0" cy="0"/>
          <a:chOff x="0" y="0"/>
          <a:chExt cx="0" cy="0"/>
        </a:xfrm>
      </p:grpSpPr>
      <p:sp>
        <p:nvSpPr>
          <p:cNvPr id="104" name="Google Shape;104;g3d5ce1fc613_0_55:notes">
            <a:extLst>
              <a:ext uri="{FF2B5EF4-FFF2-40B4-BE49-F238E27FC236}">
                <a16:creationId xmlns:a16="http://schemas.microsoft.com/office/drawing/2014/main" id="{BD249C6D-0859-D518-0975-3CB2D15D5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d5ce1fc613_0_55:notes">
            <a:extLst>
              <a:ext uri="{FF2B5EF4-FFF2-40B4-BE49-F238E27FC236}">
                <a16:creationId xmlns:a16="http://schemas.microsoft.com/office/drawing/2014/main" id="{40665F6E-5661-AFB2-E9E3-0AC644AA35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Also want slower growth rates than others therefore lower Ar Pressure and therefore even lower Rb pressure….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1924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5ce1fc613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d5ce1fc613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Check this shit plz</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d5ce1fc613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d5ce1fc613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Make it more clear how bridgman-stockbarger forces these connections and its a mechnical constraint.</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5ce1fc613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d5ce1fc613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 prepared for why not just increase Ar and Rb high enough and let it fly everywhere. </a:t>
            </a:r>
            <a:endParaRPr/>
          </a:p>
          <a:p>
            <a:pPr marL="0" lvl="0" indent="0" algn="l" rtl="0">
              <a:spcBef>
                <a:spcPts val="0"/>
              </a:spcBef>
              <a:spcAft>
                <a:spcPts val="0"/>
              </a:spcAft>
              <a:buNone/>
            </a:pPr>
            <a:endParaRPr/>
          </a:p>
          <a:p>
            <a:pPr marL="0" lvl="0" indent="0" algn="l" rtl="0">
              <a:spcBef>
                <a:spcPts val="0"/>
              </a:spcBef>
              <a:spcAft>
                <a:spcPts val="0"/>
              </a:spcAft>
              <a:buNone/>
            </a:pPr>
            <a:r>
              <a:rPr lang="en"/>
              <a:t>Think about Neon, gets very expensive….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d5ce1fc613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d5ce1fc613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5ce1fc61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d5ce1fc61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d5ce1fc61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d5ce1fc61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F6537854-FB2B-CA56-3DB5-16A772B04A5D}"/>
            </a:ext>
          </a:extLst>
        </p:cNvPr>
        <p:cNvGrpSpPr/>
        <p:nvPr/>
      </p:nvGrpSpPr>
      <p:grpSpPr>
        <a:xfrm>
          <a:off x="0" y="0"/>
          <a:ext cx="0" cy="0"/>
          <a:chOff x="0" y="0"/>
          <a:chExt cx="0" cy="0"/>
        </a:xfrm>
      </p:grpSpPr>
      <p:sp>
        <p:nvSpPr>
          <p:cNvPr id="260" name="Google Shape;260;g3d5ce1fc613_1_88:notes">
            <a:extLst>
              <a:ext uri="{FF2B5EF4-FFF2-40B4-BE49-F238E27FC236}">
                <a16:creationId xmlns:a16="http://schemas.microsoft.com/office/drawing/2014/main" id="{D42C128B-4BB2-7895-FFD3-64BB84CC0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d5ce1fc613_1_88:notes">
            <a:extLst>
              <a:ext uri="{FF2B5EF4-FFF2-40B4-BE49-F238E27FC236}">
                <a16:creationId xmlns:a16="http://schemas.microsoft.com/office/drawing/2014/main" id="{6BC15376-BD5B-F06E-0BC6-6B141933B5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Add line about sensitivity (acme stats) and time to grow crystal</a:t>
            </a:r>
            <a:endParaRPr dirty="0"/>
          </a:p>
        </p:txBody>
      </p:sp>
    </p:spTree>
    <p:extLst>
      <p:ext uri="{BB962C8B-B14F-4D97-AF65-F5344CB8AC3E}">
        <p14:creationId xmlns:p14="http://schemas.microsoft.com/office/powerpoint/2010/main" val="4262446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E17E5D60-9DA1-D157-77E6-4280B30CF474}"/>
            </a:ext>
          </a:extLst>
        </p:cNvPr>
        <p:cNvGrpSpPr/>
        <p:nvPr/>
      </p:nvGrpSpPr>
      <p:grpSpPr>
        <a:xfrm>
          <a:off x="0" y="0"/>
          <a:ext cx="0" cy="0"/>
          <a:chOff x="0" y="0"/>
          <a:chExt cx="0" cy="0"/>
        </a:xfrm>
      </p:grpSpPr>
      <p:sp>
        <p:nvSpPr>
          <p:cNvPr id="260" name="Google Shape;260;g3d5ce1fc613_1_88:notes">
            <a:extLst>
              <a:ext uri="{FF2B5EF4-FFF2-40B4-BE49-F238E27FC236}">
                <a16:creationId xmlns:a16="http://schemas.microsoft.com/office/drawing/2014/main" id="{7E7F7D58-2552-2046-060D-576C4F0B23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d5ce1fc613_1_88:notes">
            <a:extLst>
              <a:ext uri="{FF2B5EF4-FFF2-40B4-BE49-F238E27FC236}">
                <a16:creationId xmlns:a16="http://schemas.microsoft.com/office/drawing/2014/main" id="{B0DC41B5-DE8B-CBA2-3853-8F383A4451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Add line about sensitivity (acme stats) and time to grow crystal</a:t>
            </a:r>
            <a:endParaRPr dirty="0"/>
          </a:p>
        </p:txBody>
      </p:sp>
    </p:spTree>
    <p:extLst>
      <p:ext uri="{BB962C8B-B14F-4D97-AF65-F5344CB8AC3E}">
        <p14:creationId xmlns:p14="http://schemas.microsoft.com/office/powerpoint/2010/main" val="3620072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02A9FA55-FD1C-DD7E-02B3-7F7BE12ADAF2}"/>
            </a:ext>
          </a:extLst>
        </p:cNvPr>
        <p:cNvGrpSpPr/>
        <p:nvPr/>
      </p:nvGrpSpPr>
      <p:grpSpPr>
        <a:xfrm>
          <a:off x="0" y="0"/>
          <a:ext cx="0" cy="0"/>
          <a:chOff x="0" y="0"/>
          <a:chExt cx="0" cy="0"/>
        </a:xfrm>
      </p:grpSpPr>
      <p:sp>
        <p:nvSpPr>
          <p:cNvPr id="260" name="Google Shape;260;g3d5ce1fc613_1_88:notes">
            <a:extLst>
              <a:ext uri="{FF2B5EF4-FFF2-40B4-BE49-F238E27FC236}">
                <a16:creationId xmlns:a16="http://schemas.microsoft.com/office/drawing/2014/main" id="{DFDD5F52-18A0-7781-7C9E-2BB0E8D484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d5ce1fc613_1_88:notes">
            <a:extLst>
              <a:ext uri="{FF2B5EF4-FFF2-40B4-BE49-F238E27FC236}">
                <a16:creationId xmlns:a16="http://schemas.microsoft.com/office/drawing/2014/main" id="{C49DFF4C-78EC-FCD5-CA5D-33F87D3B64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Add line about sensitivity (acme stats) and time to grow crystal</a:t>
            </a:r>
            <a:endParaRPr dirty="0"/>
          </a:p>
        </p:txBody>
      </p:sp>
    </p:spTree>
    <p:extLst>
      <p:ext uri="{BB962C8B-B14F-4D97-AF65-F5344CB8AC3E}">
        <p14:creationId xmlns:p14="http://schemas.microsoft.com/office/powerpoint/2010/main" val="3783273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d5ce1fc613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d5ce1fc613_1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d5ce1fc613_1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d5ce1fc613_1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5ce1fc613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d5ce1fc613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Cut</a:t>
            </a:r>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d5ce1fc61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d5ce1fc61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d5ce1fc613_1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d5ce1fc613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Cut</a:t>
            </a:r>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E208BC04-B3DF-5151-E4F7-C741E201A0CE}"/>
            </a:ext>
          </a:extLst>
        </p:cNvPr>
        <p:cNvGrpSpPr/>
        <p:nvPr/>
      </p:nvGrpSpPr>
      <p:grpSpPr>
        <a:xfrm>
          <a:off x="0" y="0"/>
          <a:ext cx="0" cy="0"/>
          <a:chOff x="0" y="0"/>
          <a:chExt cx="0" cy="0"/>
        </a:xfrm>
      </p:grpSpPr>
      <p:sp>
        <p:nvSpPr>
          <p:cNvPr id="87" name="Google Shape;87;g3d5ce1fc613_1_145:notes">
            <a:extLst>
              <a:ext uri="{FF2B5EF4-FFF2-40B4-BE49-F238E27FC236}">
                <a16:creationId xmlns:a16="http://schemas.microsoft.com/office/drawing/2014/main" id="{CFD502B5-5D06-D592-A207-AB5BB93A1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d5ce1fc613_1_145:notes">
            <a:extLst>
              <a:ext uri="{FF2B5EF4-FFF2-40B4-BE49-F238E27FC236}">
                <a16:creationId xmlns:a16="http://schemas.microsoft.com/office/drawing/2014/main" id="{7E98B0EC-52C3-FC85-AC0A-A7653BD189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504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772E2B2-0513-7B80-64A8-D9DCC1C7AF20}"/>
            </a:ext>
          </a:extLst>
        </p:cNvPr>
        <p:cNvGrpSpPr/>
        <p:nvPr/>
      </p:nvGrpSpPr>
      <p:grpSpPr>
        <a:xfrm>
          <a:off x="0" y="0"/>
          <a:ext cx="0" cy="0"/>
          <a:chOff x="0" y="0"/>
          <a:chExt cx="0" cy="0"/>
        </a:xfrm>
      </p:grpSpPr>
      <p:sp>
        <p:nvSpPr>
          <p:cNvPr id="72" name="Google Shape;72;g3d5ce1fc613_1_154:notes">
            <a:extLst>
              <a:ext uri="{FF2B5EF4-FFF2-40B4-BE49-F238E27FC236}">
                <a16:creationId xmlns:a16="http://schemas.microsoft.com/office/drawing/2014/main" id="{C206730A-BD09-6AB4-DD3C-FFA99E2E1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d5ce1fc613_1_154:notes">
            <a:extLst>
              <a:ext uri="{FF2B5EF4-FFF2-40B4-BE49-F238E27FC236}">
                <a16:creationId xmlns:a16="http://schemas.microsoft.com/office/drawing/2014/main" id="{B3A6A3BD-B7B5-64EC-82DC-6730C02F57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6915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jpg"/><Relationship Id="rId7"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6.jp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8.jpg"/><Relationship Id="rId13" Type="http://schemas.openxmlformats.org/officeDocument/2006/relationships/image" Target="../media/image43.jpeg"/><Relationship Id="rId3" Type="http://schemas.openxmlformats.org/officeDocument/2006/relationships/image" Target="../media/image34.png"/><Relationship Id="rId7" Type="http://schemas.openxmlformats.org/officeDocument/2006/relationships/image" Target="../media/image37.jpg"/><Relationship Id="rId12" Type="http://schemas.openxmlformats.org/officeDocument/2006/relationships/image" Target="../media/image42.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6.jpg"/><Relationship Id="rId11" Type="http://schemas.openxmlformats.org/officeDocument/2006/relationships/image" Target="../media/image41.jpg"/><Relationship Id="rId5" Type="http://schemas.openxmlformats.org/officeDocument/2006/relationships/image" Target="../media/image4.jpg"/><Relationship Id="rId10" Type="http://schemas.openxmlformats.org/officeDocument/2006/relationships/image" Target="../media/image40.jpg"/><Relationship Id="rId4" Type="http://schemas.openxmlformats.org/officeDocument/2006/relationships/image" Target="../media/image35.png"/><Relationship Id="rId9" Type="http://schemas.openxmlformats.org/officeDocument/2006/relationships/image" Target="../media/image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jpeg"/></Relationships>
</file>

<file path=ppt/slides/_rels/slide2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696" y="36892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t> </a:t>
            </a:r>
            <a:r>
              <a:rPr lang="en" sz="4650"/>
              <a:t>A Dual-Species Beam Source </a:t>
            </a:r>
            <a:endParaRPr sz="4650"/>
          </a:p>
          <a:p>
            <a:pPr marL="0" lvl="0" indent="0" algn="ctr" rtl="0">
              <a:spcBef>
                <a:spcPts val="0"/>
              </a:spcBef>
              <a:spcAft>
                <a:spcPts val="0"/>
              </a:spcAft>
              <a:buClr>
                <a:schemeClr val="dk1"/>
              </a:buClr>
              <a:buSzPts val="990"/>
              <a:buFont typeface="Arial"/>
              <a:buNone/>
            </a:pPr>
            <a:r>
              <a:rPr lang="en" sz="4650"/>
              <a:t>for Doped Cryogenic Crystal Growth </a:t>
            </a:r>
            <a:endParaRPr sz="4650"/>
          </a:p>
        </p:txBody>
      </p:sp>
      <p:sp>
        <p:nvSpPr>
          <p:cNvPr id="55" name="Google Shape;55;p13"/>
          <p:cNvSpPr txBox="1">
            <a:spLocks noGrp="1"/>
          </p:cNvSpPr>
          <p:nvPr>
            <p:ph type="subTitle" idx="1"/>
          </p:nvPr>
        </p:nvSpPr>
        <p:spPr>
          <a:xfrm>
            <a:off x="311700" y="2571750"/>
            <a:ext cx="8520600" cy="792600"/>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800"/>
              <a:t>Isaac K. Cross</a:t>
            </a:r>
            <a:endParaRPr sz="1800"/>
          </a:p>
          <a:p>
            <a:pPr marL="0" lvl="0" indent="0" algn="ctr" rtl="0">
              <a:lnSpc>
                <a:spcPct val="150000"/>
              </a:lnSpc>
              <a:spcBef>
                <a:spcPts val="0"/>
              </a:spcBef>
              <a:spcAft>
                <a:spcPts val="0"/>
              </a:spcAft>
              <a:buNone/>
            </a:pPr>
            <a:r>
              <a:rPr lang="en" sz="1800"/>
              <a:t>04/14/2026 CFP Pre-talk</a:t>
            </a:r>
            <a:endParaRPr sz="1800"/>
          </a:p>
        </p:txBody>
      </p:sp>
      <p:pic>
        <p:nvPicPr>
          <p:cNvPr id="56" name="Google Shape;56;p13"/>
          <p:cNvPicPr preferRelativeResize="0"/>
          <p:nvPr/>
        </p:nvPicPr>
        <p:blipFill>
          <a:blip r:embed="rId3">
            <a:alphaModFix/>
          </a:blip>
          <a:stretch>
            <a:fillRect/>
          </a:stretch>
        </p:blipFill>
        <p:spPr>
          <a:xfrm>
            <a:off x="0" y="3759002"/>
            <a:ext cx="1365275" cy="1359800"/>
          </a:xfrm>
          <a:prstGeom prst="rect">
            <a:avLst/>
          </a:prstGeom>
          <a:noFill/>
          <a:ln>
            <a:noFill/>
          </a:ln>
        </p:spPr>
      </p:pic>
      <p:pic>
        <p:nvPicPr>
          <p:cNvPr id="57" name="Google Shape;57;p13"/>
          <p:cNvPicPr preferRelativeResize="0"/>
          <p:nvPr/>
        </p:nvPicPr>
        <p:blipFill>
          <a:blip r:embed="rId4">
            <a:alphaModFix/>
          </a:blip>
          <a:stretch>
            <a:fillRect/>
          </a:stretch>
        </p:blipFill>
        <p:spPr>
          <a:xfrm>
            <a:off x="3492511" y="4380625"/>
            <a:ext cx="2158975" cy="703500"/>
          </a:xfrm>
          <a:prstGeom prst="rect">
            <a:avLst/>
          </a:prstGeom>
          <a:noFill/>
          <a:ln>
            <a:noFill/>
          </a:ln>
        </p:spPr>
      </p:pic>
      <p:pic>
        <p:nvPicPr>
          <p:cNvPr id="58" name="Google Shape;58;p13"/>
          <p:cNvPicPr preferRelativeResize="0"/>
          <p:nvPr/>
        </p:nvPicPr>
        <p:blipFill rotWithShape="1">
          <a:blip r:embed="rId5">
            <a:alphaModFix/>
          </a:blip>
          <a:srcRect b="3911"/>
          <a:stretch/>
        </p:blipFill>
        <p:spPr>
          <a:xfrm>
            <a:off x="7532400" y="3624375"/>
            <a:ext cx="1582800" cy="1520925"/>
          </a:xfrm>
          <a:prstGeom prst="rect">
            <a:avLst/>
          </a:prstGeom>
          <a:noFill/>
          <a:ln>
            <a:noFill/>
          </a:ln>
        </p:spPr>
      </p:pic>
      <p:pic>
        <p:nvPicPr>
          <p:cNvPr id="59" name="Google Shape;59;p13" title="logo2.jpg"/>
          <p:cNvPicPr preferRelativeResize="0"/>
          <p:nvPr/>
        </p:nvPicPr>
        <p:blipFill>
          <a:blip r:embed="rId6">
            <a:alphaModFix/>
          </a:blip>
          <a:stretch>
            <a:fillRect/>
          </a:stretch>
        </p:blipFill>
        <p:spPr>
          <a:xfrm>
            <a:off x="2468588" y="3476188"/>
            <a:ext cx="420682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title="9x9x4 crystal 4 dopants .png"/>
          <p:cNvPicPr preferRelativeResize="0"/>
          <p:nvPr/>
        </p:nvPicPr>
        <p:blipFill rotWithShape="1">
          <a:blip r:embed="rId3">
            <a:alphaModFix/>
          </a:blip>
          <a:srcRect l="4702" t="13904" r="6920"/>
          <a:stretch/>
        </p:blipFill>
        <p:spPr>
          <a:xfrm>
            <a:off x="228062" y="1017725"/>
            <a:ext cx="6477226" cy="3549501"/>
          </a:xfrm>
          <a:prstGeom prst="rect">
            <a:avLst/>
          </a:prstGeom>
          <a:noFill/>
          <a:ln>
            <a:noFill/>
          </a:ln>
        </p:spPr>
      </p:pic>
      <p:cxnSp>
        <p:nvCxnSpPr>
          <p:cNvPr id="65" name="Google Shape;65;p14"/>
          <p:cNvCxnSpPr>
            <a:stCxn id="66" idx="1"/>
          </p:cNvCxnSpPr>
          <p:nvPr/>
        </p:nvCxnSpPr>
        <p:spPr>
          <a:xfrm rot="10800000">
            <a:off x="6135851" y="1554500"/>
            <a:ext cx="988800" cy="49200"/>
          </a:xfrm>
          <a:prstGeom prst="straightConnector1">
            <a:avLst/>
          </a:prstGeom>
          <a:noFill/>
          <a:ln w="38100" cap="flat" cmpd="sng">
            <a:solidFill>
              <a:srgbClr val="0000FF"/>
            </a:solidFill>
            <a:prstDash val="solid"/>
            <a:round/>
            <a:headEnd type="none" w="med" len="med"/>
            <a:tailEnd type="triangle" w="med" len="med"/>
          </a:ln>
        </p:spPr>
      </p:cxnSp>
      <p:sp>
        <p:nvSpPr>
          <p:cNvPr id="66" name="Google Shape;66;p14"/>
          <p:cNvSpPr txBox="1"/>
          <p:nvPr/>
        </p:nvSpPr>
        <p:spPr>
          <a:xfrm>
            <a:off x="7124651" y="1271300"/>
            <a:ext cx="1976400" cy="66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Inert Cryogenic Noble Gas Crystal Host</a:t>
            </a:r>
            <a:endParaRPr sz="1800">
              <a:solidFill>
                <a:schemeClr val="dk1"/>
              </a:solidFill>
            </a:endParaRPr>
          </a:p>
          <a:p>
            <a:pPr marL="0" lvl="0" indent="0" algn="l" rtl="0">
              <a:spcBef>
                <a:spcPts val="0"/>
              </a:spcBef>
              <a:spcAft>
                <a:spcPts val="0"/>
              </a:spcAft>
              <a:buNone/>
            </a:pPr>
            <a:r>
              <a:rPr lang="en" sz="1800">
                <a:solidFill>
                  <a:schemeClr val="dk1"/>
                </a:solidFill>
              </a:rPr>
              <a:t>(e.g. Argon)</a:t>
            </a:r>
            <a:endParaRPr sz="1800">
              <a:solidFill>
                <a:schemeClr val="dk1"/>
              </a:solidFill>
            </a:endParaRPr>
          </a:p>
        </p:txBody>
      </p:sp>
      <p:cxnSp>
        <p:nvCxnSpPr>
          <p:cNvPr id="67" name="Google Shape;67;p14"/>
          <p:cNvCxnSpPr>
            <a:cxnSpLocks/>
            <a:stCxn id="68" idx="1"/>
          </p:cNvCxnSpPr>
          <p:nvPr/>
        </p:nvCxnSpPr>
        <p:spPr>
          <a:xfrm flipH="1" flipV="1">
            <a:off x="3799438" y="2571750"/>
            <a:ext cx="3325200" cy="375300"/>
          </a:xfrm>
          <a:prstGeom prst="straightConnector1">
            <a:avLst/>
          </a:prstGeom>
          <a:noFill/>
          <a:ln w="38100" cap="flat" cmpd="sng">
            <a:solidFill>
              <a:srgbClr val="980000"/>
            </a:solidFill>
            <a:prstDash val="solid"/>
            <a:round/>
            <a:headEnd type="none" w="med" len="med"/>
            <a:tailEnd type="triangle" w="med" len="med"/>
          </a:ln>
        </p:spPr>
      </p:cxnSp>
      <mc:AlternateContent xmlns:mc="http://schemas.openxmlformats.org/markup-compatibility/2006" xmlns:a14="http://schemas.microsoft.com/office/drawing/2010/main">
        <mc:Choice Requires="a14">
          <p:sp>
            <p:nvSpPr>
              <p:cNvPr id="68" name="Google Shape;68;p14"/>
              <p:cNvSpPr txBox="1"/>
              <p:nvPr/>
            </p:nvSpPr>
            <p:spPr>
              <a:xfrm>
                <a:off x="7124638" y="2614650"/>
                <a:ext cx="1976400" cy="664800"/>
              </a:xfrm>
              <a:prstGeom prst="rect">
                <a:avLst/>
              </a:prstGeom>
              <a:noFill/>
              <a:ln>
                <a:noFill/>
              </a:ln>
            </p:spPr>
            <p:txBody>
              <a:bodyPr spcFirstLastPara="1" wrap="square" lIns="91425" tIns="91425" rIns="91425" bIns="91425" anchor="t" anchorCtr="0">
                <a:noAutofit/>
              </a:bodyPr>
              <a:lstStyle/>
              <a:p>
                <a:r>
                  <a:rPr lang="en-US" sz="1800" dirty="0">
                    <a:solidFill>
                      <a:schemeClr val="dk1"/>
                    </a:solidFill>
                  </a:rPr>
                  <a:t>Dopant to be probed (e.g. Rb), up to </a:t>
                </a:r>
                <a14:m>
                  <m:oMath xmlns:m="http://schemas.openxmlformats.org/officeDocument/2006/math">
                    <m:sSup>
                      <m:sSupPr>
                        <m:ctrlPr>
                          <a:rPr lang="en-US" sz="1800" i="1">
                            <a:solidFill>
                              <a:schemeClr val="dk1"/>
                            </a:solidFill>
                            <a:latin typeface="Cambria Math" panose="02040503050406030204" pitchFamily="18" charset="0"/>
                          </a:rPr>
                        </m:ctrlPr>
                      </m:sSupPr>
                      <m:e>
                        <m:r>
                          <a:rPr lang="en-US" sz="1800" i="1">
                            <a:solidFill>
                              <a:schemeClr val="dk1"/>
                            </a:solidFill>
                            <a:latin typeface="Cambria Math" panose="02040503050406030204" pitchFamily="18" charset="0"/>
                          </a:rPr>
                          <m:t>10</m:t>
                        </m:r>
                      </m:e>
                      <m:sup>
                        <m:r>
                          <a:rPr lang="en-US" sz="1800" i="1">
                            <a:solidFill>
                              <a:schemeClr val="dk1"/>
                            </a:solidFill>
                            <a:latin typeface="Cambria Math" panose="02040503050406030204" pitchFamily="18" charset="0"/>
                          </a:rPr>
                          <m:t>19</m:t>
                        </m:r>
                      </m:sup>
                    </m:sSup>
                  </m:oMath>
                </a14:m>
                <a:r>
                  <a:rPr lang="en-US" sz="1800" dirty="0">
                    <a:solidFill>
                      <a:schemeClr val="dk1"/>
                    </a:solidFill>
                  </a:rPr>
                  <a:t> </a:t>
                </a:r>
                <a14:m>
                  <m:oMath xmlns:m="http://schemas.openxmlformats.org/officeDocument/2006/math">
                    <m:r>
                      <m:rPr>
                        <m:sty m:val="p"/>
                      </m:rPr>
                      <a:rPr lang="en-US" sz="1800" b="0" i="0" smtClean="0">
                        <a:solidFill>
                          <a:schemeClr val="dk1"/>
                        </a:solidFill>
                        <a:latin typeface="Cambria Math" panose="02040503050406030204" pitchFamily="18" charset="0"/>
                      </a:rPr>
                      <m:t>dopants</m:t>
                    </m:r>
                    <m:r>
                      <a:rPr lang="en-US" sz="1800" b="0" i="0" smtClean="0">
                        <a:solidFill>
                          <a:schemeClr val="dk1"/>
                        </a:solidFill>
                        <a:latin typeface="Cambria Math" panose="02040503050406030204" pitchFamily="18" charset="0"/>
                      </a:rPr>
                      <m:t>/</m:t>
                    </m:r>
                    <m:r>
                      <m:rPr>
                        <m:sty m:val="p"/>
                      </m:rPr>
                      <a:rPr lang="en-US" sz="1800" b="0" i="0" smtClean="0">
                        <a:solidFill>
                          <a:schemeClr val="dk1"/>
                        </a:solidFill>
                        <a:latin typeface="Cambria Math" panose="02040503050406030204" pitchFamily="18" charset="0"/>
                      </a:rPr>
                      <m:t>m</m:t>
                    </m:r>
                    <m:sSup>
                      <m:sSupPr>
                        <m:ctrlPr>
                          <a:rPr lang="en-US" sz="1800" b="0" i="1" smtClean="0">
                            <a:solidFill>
                              <a:schemeClr val="dk1"/>
                            </a:solidFill>
                            <a:latin typeface="Cambria Math" panose="02040503050406030204" pitchFamily="18" charset="0"/>
                          </a:rPr>
                        </m:ctrlPr>
                      </m:sSupPr>
                      <m:e>
                        <m:r>
                          <m:rPr>
                            <m:sty m:val="p"/>
                          </m:rPr>
                          <a:rPr lang="en-US" sz="1800" b="0" i="0" smtClean="0">
                            <a:solidFill>
                              <a:schemeClr val="dk1"/>
                            </a:solidFill>
                            <a:latin typeface="Cambria Math" panose="02040503050406030204" pitchFamily="18" charset="0"/>
                          </a:rPr>
                          <m:t>m</m:t>
                        </m:r>
                      </m:e>
                      <m:sup>
                        <m:r>
                          <a:rPr lang="en-US" sz="1800" b="0" i="0" smtClean="0">
                            <a:solidFill>
                              <a:schemeClr val="dk1"/>
                            </a:solidFill>
                            <a:latin typeface="Cambria Math" panose="02040503050406030204" pitchFamily="18" charset="0"/>
                          </a:rPr>
                          <m:t>3</m:t>
                        </m:r>
                      </m:sup>
                    </m:sSup>
                  </m:oMath>
                </a14:m>
                <a:endParaRPr lang="en-US" sz="1800" dirty="0">
                  <a:solidFill>
                    <a:schemeClr val="dk1"/>
                  </a:solidFill>
                </a:endParaRPr>
              </a:p>
              <a:p>
                <a:pPr marL="0" lvl="0" indent="0" algn="l" rtl="0">
                  <a:spcBef>
                    <a:spcPts val="0"/>
                  </a:spcBef>
                  <a:spcAft>
                    <a:spcPts val="0"/>
                  </a:spcAft>
                  <a:buNone/>
                </a:pPr>
                <a:endParaRPr sz="1800" dirty="0">
                  <a:solidFill>
                    <a:schemeClr val="dk1"/>
                  </a:solidFill>
                </a:endParaRPr>
              </a:p>
            </p:txBody>
          </p:sp>
        </mc:Choice>
        <mc:Fallback xmlns="">
          <p:sp>
            <p:nvSpPr>
              <p:cNvPr id="68" name="Google Shape;68;p14"/>
              <p:cNvSpPr txBox="1">
                <a:spLocks noRot="1" noChangeAspect="1" noMove="1" noResize="1" noEditPoints="1" noAdjustHandles="1" noChangeArrowheads="1" noChangeShapeType="1" noTextEdit="1"/>
              </p:cNvSpPr>
              <p:nvPr/>
            </p:nvSpPr>
            <p:spPr>
              <a:xfrm>
                <a:off x="7124638" y="2614650"/>
                <a:ext cx="1976400" cy="664800"/>
              </a:xfrm>
              <a:prstGeom prst="rect">
                <a:avLst/>
              </a:prstGeom>
              <a:blipFill>
                <a:blip r:embed="rId4"/>
                <a:stretch>
                  <a:fillRect l="-2778" r="-2469" b="-94495"/>
                </a:stretch>
              </a:blipFill>
              <a:ln>
                <a:noFill/>
              </a:ln>
            </p:spPr>
            <p:txBody>
              <a:bodyPr/>
              <a:lstStyle/>
              <a:p>
                <a:r>
                  <a:rPr lang="en-US">
                    <a:noFill/>
                  </a:rPr>
                  <a:t> </a:t>
                </a:r>
              </a:p>
            </p:txBody>
          </p:sp>
        </mc:Fallback>
      </mc:AlternateContent>
      <p:sp>
        <p:nvSpPr>
          <p:cNvPr id="69" name="Google Shape;69;p14"/>
          <p:cNvSpPr txBox="1"/>
          <p:nvPr/>
        </p:nvSpPr>
        <p:spPr>
          <a:xfrm>
            <a:off x="228063" y="4567225"/>
            <a:ext cx="1360200" cy="4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*Not to scale</a:t>
            </a:r>
            <a:endParaRPr sz="1200">
              <a:solidFill>
                <a:schemeClr val="dk1"/>
              </a:solidFill>
            </a:endParaRPr>
          </a:p>
        </p:txBody>
      </p:sp>
      <p:sp>
        <p:nvSpPr>
          <p:cNvPr id="70" name="Google Shape;70;p14"/>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Doped Cryogenic Crystal</a:t>
            </a:r>
            <a:endParaRPr b="1" u="sn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715EDCFF-70A0-B67B-885B-38010B179ACF}"/>
            </a:ext>
          </a:extLst>
        </p:cNvPr>
        <p:cNvGrpSpPr/>
        <p:nvPr/>
      </p:nvGrpSpPr>
      <p:grpSpPr>
        <a:xfrm>
          <a:off x="0" y="0"/>
          <a:ext cx="0" cy="0"/>
          <a:chOff x="0" y="0"/>
          <a:chExt cx="0" cy="0"/>
        </a:xfrm>
      </p:grpSpPr>
      <p:pic>
        <p:nvPicPr>
          <p:cNvPr id="82" name="Google Shape;82;p16">
            <a:extLst>
              <a:ext uri="{FF2B5EF4-FFF2-40B4-BE49-F238E27FC236}">
                <a16:creationId xmlns:a16="http://schemas.microsoft.com/office/drawing/2014/main" id="{52C1086B-DBB2-145D-22BB-B99EA003F518}"/>
              </a:ext>
            </a:extLst>
          </p:cNvPr>
          <p:cNvPicPr preferRelativeResize="0"/>
          <p:nvPr/>
        </p:nvPicPr>
        <p:blipFill rotWithShape="1">
          <a:blip r:embed="rId3">
            <a:alphaModFix/>
          </a:blip>
          <a:srcRect r="53904"/>
          <a:stretch/>
        </p:blipFill>
        <p:spPr>
          <a:xfrm>
            <a:off x="391015" y="1196551"/>
            <a:ext cx="2372584" cy="2479665"/>
          </a:xfrm>
          <a:prstGeom prst="rect">
            <a:avLst/>
          </a:prstGeom>
          <a:noFill/>
          <a:ln>
            <a:noFill/>
          </a:ln>
        </p:spPr>
      </p:pic>
      <p:pic>
        <p:nvPicPr>
          <p:cNvPr id="83" name="Google Shape;83;p16">
            <a:extLst>
              <a:ext uri="{FF2B5EF4-FFF2-40B4-BE49-F238E27FC236}">
                <a16:creationId xmlns:a16="http://schemas.microsoft.com/office/drawing/2014/main" id="{0F6F23C3-8A24-8B95-9BD2-30532FBB5418}"/>
              </a:ext>
            </a:extLst>
          </p:cNvPr>
          <p:cNvPicPr preferRelativeResize="0"/>
          <p:nvPr/>
        </p:nvPicPr>
        <p:blipFill rotWithShape="1">
          <a:blip r:embed="rId3">
            <a:alphaModFix/>
          </a:blip>
          <a:srcRect l="53904"/>
          <a:stretch/>
        </p:blipFill>
        <p:spPr>
          <a:xfrm>
            <a:off x="3110617" y="1196551"/>
            <a:ext cx="2372584" cy="2479665"/>
          </a:xfrm>
          <a:prstGeom prst="rect">
            <a:avLst/>
          </a:prstGeom>
          <a:noFill/>
          <a:ln>
            <a:noFill/>
          </a:ln>
        </p:spPr>
      </p:pic>
      <p:sp>
        <p:nvSpPr>
          <p:cNvPr id="2" name="Google Shape;70;p14">
            <a:extLst>
              <a:ext uri="{FF2B5EF4-FFF2-40B4-BE49-F238E27FC236}">
                <a16:creationId xmlns:a16="http://schemas.microsoft.com/office/drawing/2014/main" id="{D3226DBE-11DE-D20B-5262-B964EDDB2665}"/>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u="sng" dirty="0"/>
              <a:t>Leading EDM Platforms</a:t>
            </a:r>
          </a:p>
        </p:txBody>
      </p:sp>
      <p:pic>
        <p:nvPicPr>
          <p:cNvPr id="4" name="Google Shape;84;p16">
            <a:extLst>
              <a:ext uri="{FF2B5EF4-FFF2-40B4-BE49-F238E27FC236}">
                <a16:creationId xmlns:a16="http://schemas.microsoft.com/office/drawing/2014/main" id="{DE00BEC4-8ABD-0294-DA10-C8B3A564BAE2}"/>
              </a:ext>
            </a:extLst>
          </p:cNvPr>
          <p:cNvPicPr preferRelativeResize="0"/>
          <p:nvPr/>
        </p:nvPicPr>
        <p:blipFill>
          <a:blip r:embed="rId4">
            <a:alphaModFix/>
          </a:blip>
          <a:stretch>
            <a:fillRect/>
          </a:stretch>
        </p:blipFill>
        <p:spPr>
          <a:xfrm>
            <a:off x="311700" y="3817803"/>
            <a:ext cx="6413351" cy="1372821"/>
          </a:xfrm>
          <a:prstGeom prst="rect">
            <a:avLst/>
          </a:prstGeom>
          <a:noFill/>
          <a:ln>
            <a:noFill/>
          </a:ln>
        </p:spPr>
      </p:pic>
    </p:spTree>
    <p:extLst>
      <p:ext uri="{BB962C8B-B14F-4D97-AF65-F5344CB8AC3E}">
        <p14:creationId xmlns:p14="http://schemas.microsoft.com/office/powerpoint/2010/main" val="368412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16"/>
          <p:cNvPicPr preferRelativeResize="0"/>
          <p:nvPr/>
        </p:nvPicPr>
        <p:blipFill rotWithShape="1">
          <a:blip r:embed="rId3">
            <a:alphaModFix/>
          </a:blip>
          <a:srcRect r="53904"/>
          <a:stretch/>
        </p:blipFill>
        <p:spPr>
          <a:xfrm>
            <a:off x="391015" y="1196551"/>
            <a:ext cx="2372584" cy="2479665"/>
          </a:xfrm>
          <a:prstGeom prst="rect">
            <a:avLst/>
          </a:prstGeom>
          <a:noFill/>
          <a:ln>
            <a:noFill/>
          </a:ln>
        </p:spPr>
      </p:pic>
      <p:pic>
        <p:nvPicPr>
          <p:cNvPr id="83" name="Google Shape;83;p16"/>
          <p:cNvPicPr preferRelativeResize="0"/>
          <p:nvPr/>
        </p:nvPicPr>
        <p:blipFill rotWithShape="1">
          <a:blip r:embed="rId3">
            <a:alphaModFix/>
          </a:blip>
          <a:srcRect l="53904"/>
          <a:stretch/>
        </p:blipFill>
        <p:spPr>
          <a:xfrm>
            <a:off x="3110617" y="1196551"/>
            <a:ext cx="2372584" cy="2479665"/>
          </a:xfrm>
          <a:prstGeom prst="rect">
            <a:avLst/>
          </a:prstGeom>
          <a:noFill/>
          <a:ln>
            <a:noFill/>
          </a:ln>
        </p:spPr>
      </p:pic>
      <p:pic>
        <p:nvPicPr>
          <p:cNvPr id="84" name="Google Shape;84;p16"/>
          <p:cNvPicPr preferRelativeResize="0"/>
          <p:nvPr/>
        </p:nvPicPr>
        <p:blipFill>
          <a:blip r:embed="rId4">
            <a:alphaModFix/>
          </a:blip>
          <a:stretch>
            <a:fillRect/>
          </a:stretch>
        </p:blipFill>
        <p:spPr>
          <a:xfrm>
            <a:off x="311700" y="3817803"/>
            <a:ext cx="6413351" cy="1372821"/>
          </a:xfrm>
          <a:prstGeom prst="rect">
            <a:avLst/>
          </a:prstGeom>
          <a:noFill/>
          <a:ln>
            <a:noFill/>
          </a:ln>
        </p:spPr>
      </p:pic>
      <p:sp>
        <p:nvSpPr>
          <p:cNvPr id="2" name="Google Shape;70;p14">
            <a:extLst>
              <a:ext uri="{FF2B5EF4-FFF2-40B4-BE49-F238E27FC236}">
                <a16:creationId xmlns:a16="http://schemas.microsoft.com/office/drawing/2014/main" id="{F15ACDA0-D482-67E7-0E1E-8D20E171C3B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u="sng" dirty="0"/>
              <a:t>Leading EDM Platforms</a:t>
            </a:r>
          </a:p>
        </p:txBody>
      </p:sp>
      <p:pic>
        <p:nvPicPr>
          <p:cNvPr id="3" name="Google Shape;90;p17">
            <a:extLst>
              <a:ext uri="{FF2B5EF4-FFF2-40B4-BE49-F238E27FC236}">
                <a16:creationId xmlns:a16="http://schemas.microsoft.com/office/drawing/2014/main" id="{31D6E059-B64F-ABFF-F11E-6AA6B6BAF196}"/>
              </a:ext>
            </a:extLst>
          </p:cNvPr>
          <p:cNvPicPr preferRelativeResize="0"/>
          <p:nvPr/>
        </p:nvPicPr>
        <p:blipFill>
          <a:blip r:embed="rId5">
            <a:alphaModFix/>
          </a:blip>
          <a:srcRect l="30530" t="1688" r="41949" b="30379"/>
          <a:stretch>
            <a:fillRect/>
          </a:stretch>
        </p:blipFill>
        <p:spPr>
          <a:xfrm>
            <a:off x="5999859" y="1406769"/>
            <a:ext cx="2722110" cy="2269447"/>
          </a:xfrm>
          <a:prstGeom prst="rect">
            <a:avLst/>
          </a:prstGeom>
          <a:noFill/>
          <a:ln>
            <a:noFill/>
          </a:ln>
        </p:spPr>
      </p:pic>
      <p:sp>
        <p:nvSpPr>
          <p:cNvPr id="4" name="Google Shape;70;p14">
            <a:extLst>
              <a:ext uri="{FF2B5EF4-FFF2-40B4-BE49-F238E27FC236}">
                <a16:creationId xmlns:a16="http://schemas.microsoft.com/office/drawing/2014/main" id="{7269EAE1-A016-E627-D4DB-A952E03D8870}"/>
              </a:ext>
            </a:extLst>
          </p:cNvPr>
          <p:cNvSpPr txBox="1">
            <a:spLocks/>
          </p:cNvSpPr>
          <p:nvPr/>
        </p:nvSpPr>
        <p:spPr>
          <a:xfrm>
            <a:off x="5999859" y="1049626"/>
            <a:ext cx="272211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Doped Crystals?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Our Growth Method</a:t>
            </a:r>
            <a:endParaRPr b="1" u="sng" dirty="0"/>
          </a:p>
        </p:txBody>
      </p:sp>
      <p:pic>
        <p:nvPicPr>
          <p:cNvPr id="96" name="Google Shape;96;p18"/>
          <p:cNvPicPr preferRelativeResize="0"/>
          <p:nvPr/>
        </p:nvPicPr>
        <p:blipFill>
          <a:blip r:embed="rId3">
            <a:alphaModFix/>
          </a:blip>
          <a:srcRect l="61581" t="3171" r="933"/>
          <a:stretch>
            <a:fillRect/>
          </a:stretch>
        </p:blipFill>
        <p:spPr>
          <a:xfrm>
            <a:off x="6628365" y="1270230"/>
            <a:ext cx="2254285" cy="1895246"/>
          </a:xfrm>
          <a:prstGeom prst="rect">
            <a:avLst/>
          </a:prstGeom>
          <a:noFill/>
          <a:ln>
            <a:noFill/>
          </a:ln>
        </p:spPr>
      </p:pic>
      <p:pic>
        <p:nvPicPr>
          <p:cNvPr id="97" name="Google Shape;97;p18"/>
          <p:cNvPicPr preferRelativeResize="0"/>
          <p:nvPr/>
        </p:nvPicPr>
        <p:blipFill>
          <a:blip r:embed="rId4">
            <a:alphaModFix/>
          </a:blip>
          <a:stretch>
            <a:fillRect/>
          </a:stretch>
        </p:blipFill>
        <p:spPr>
          <a:xfrm>
            <a:off x="261350" y="1087175"/>
            <a:ext cx="1260649" cy="3888266"/>
          </a:xfrm>
          <a:prstGeom prst="rect">
            <a:avLst/>
          </a:prstGeom>
          <a:noFill/>
          <a:ln>
            <a:noFill/>
          </a:ln>
        </p:spPr>
      </p:pic>
      <p:pic>
        <p:nvPicPr>
          <p:cNvPr id="98" name="Google Shape;98;p18"/>
          <p:cNvPicPr preferRelativeResize="0"/>
          <p:nvPr/>
        </p:nvPicPr>
        <p:blipFill>
          <a:blip r:embed="rId5">
            <a:alphaModFix/>
          </a:blip>
          <a:stretch>
            <a:fillRect/>
          </a:stretch>
        </p:blipFill>
        <p:spPr>
          <a:xfrm>
            <a:off x="905118" y="1319941"/>
            <a:ext cx="1526352" cy="3730258"/>
          </a:xfrm>
          <a:prstGeom prst="rect">
            <a:avLst/>
          </a:prstGeom>
          <a:noFill/>
          <a:ln>
            <a:noFill/>
          </a:ln>
        </p:spPr>
      </p:pic>
      <p:sp>
        <p:nvSpPr>
          <p:cNvPr id="29" name="Rectangle 28">
            <a:extLst>
              <a:ext uri="{FF2B5EF4-FFF2-40B4-BE49-F238E27FC236}">
                <a16:creationId xmlns:a16="http://schemas.microsoft.com/office/drawing/2014/main" id="{4FD59373-40EF-CDB6-C8D3-F66E277173F3}"/>
              </a:ext>
            </a:extLst>
          </p:cNvPr>
          <p:cNvSpPr/>
          <p:nvPr/>
        </p:nvSpPr>
        <p:spPr>
          <a:xfrm>
            <a:off x="8238882" y="1990165"/>
            <a:ext cx="593418" cy="70338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136609CD-A9CE-4647-A581-49248B4B54CF}"/>
            </a:ext>
          </a:extLst>
        </p:cNvPr>
        <p:cNvGrpSpPr/>
        <p:nvPr/>
      </p:nvGrpSpPr>
      <p:grpSpPr>
        <a:xfrm>
          <a:off x="0" y="0"/>
          <a:ext cx="0" cy="0"/>
          <a:chOff x="0" y="0"/>
          <a:chExt cx="0" cy="0"/>
        </a:xfrm>
      </p:grpSpPr>
      <p:sp>
        <p:nvSpPr>
          <p:cNvPr id="95" name="Google Shape;95;p18">
            <a:extLst>
              <a:ext uri="{FF2B5EF4-FFF2-40B4-BE49-F238E27FC236}">
                <a16:creationId xmlns:a16="http://schemas.microsoft.com/office/drawing/2014/main" id="{03207F44-A80E-B68B-F650-54BC5EA3CF1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Our Growth Method</a:t>
            </a:r>
            <a:endParaRPr b="1" u="sng" dirty="0"/>
          </a:p>
        </p:txBody>
      </p:sp>
      <p:pic>
        <p:nvPicPr>
          <p:cNvPr id="96" name="Google Shape;96;p18">
            <a:extLst>
              <a:ext uri="{FF2B5EF4-FFF2-40B4-BE49-F238E27FC236}">
                <a16:creationId xmlns:a16="http://schemas.microsoft.com/office/drawing/2014/main" id="{76A3504C-B886-4F3B-BA5F-17C0885F27EB}"/>
              </a:ext>
            </a:extLst>
          </p:cNvPr>
          <p:cNvPicPr preferRelativeResize="0"/>
          <p:nvPr/>
        </p:nvPicPr>
        <p:blipFill>
          <a:blip r:embed="rId3">
            <a:alphaModFix/>
          </a:blip>
          <a:stretch>
            <a:fillRect/>
          </a:stretch>
        </p:blipFill>
        <p:spPr>
          <a:xfrm>
            <a:off x="2925253" y="1208168"/>
            <a:ext cx="6013550" cy="1957308"/>
          </a:xfrm>
          <a:prstGeom prst="rect">
            <a:avLst/>
          </a:prstGeom>
          <a:noFill/>
          <a:ln>
            <a:noFill/>
          </a:ln>
        </p:spPr>
      </p:pic>
      <p:pic>
        <p:nvPicPr>
          <p:cNvPr id="97" name="Google Shape;97;p18">
            <a:extLst>
              <a:ext uri="{FF2B5EF4-FFF2-40B4-BE49-F238E27FC236}">
                <a16:creationId xmlns:a16="http://schemas.microsoft.com/office/drawing/2014/main" id="{426413BB-B9CC-8290-F041-3DFAAC06B07A}"/>
              </a:ext>
            </a:extLst>
          </p:cNvPr>
          <p:cNvPicPr preferRelativeResize="0"/>
          <p:nvPr/>
        </p:nvPicPr>
        <p:blipFill>
          <a:blip r:embed="rId4">
            <a:alphaModFix/>
          </a:blip>
          <a:stretch>
            <a:fillRect/>
          </a:stretch>
        </p:blipFill>
        <p:spPr>
          <a:xfrm>
            <a:off x="261350" y="1087175"/>
            <a:ext cx="1260649" cy="3888266"/>
          </a:xfrm>
          <a:prstGeom prst="rect">
            <a:avLst/>
          </a:prstGeom>
          <a:noFill/>
          <a:ln>
            <a:noFill/>
          </a:ln>
        </p:spPr>
      </p:pic>
      <p:pic>
        <p:nvPicPr>
          <p:cNvPr id="98" name="Google Shape;98;p18">
            <a:extLst>
              <a:ext uri="{FF2B5EF4-FFF2-40B4-BE49-F238E27FC236}">
                <a16:creationId xmlns:a16="http://schemas.microsoft.com/office/drawing/2014/main" id="{9343C6C4-8818-5C4C-C5A7-C701119654F9}"/>
              </a:ext>
            </a:extLst>
          </p:cNvPr>
          <p:cNvPicPr preferRelativeResize="0"/>
          <p:nvPr/>
        </p:nvPicPr>
        <p:blipFill>
          <a:blip r:embed="rId5">
            <a:alphaModFix/>
          </a:blip>
          <a:stretch>
            <a:fillRect/>
          </a:stretch>
        </p:blipFill>
        <p:spPr>
          <a:xfrm>
            <a:off x="905118" y="1319941"/>
            <a:ext cx="1526352" cy="3730258"/>
          </a:xfrm>
          <a:prstGeom prst="rect">
            <a:avLst/>
          </a:prstGeom>
          <a:noFill/>
          <a:ln>
            <a:noFill/>
          </a:ln>
        </p:spPr>
      </p:pic>
      <p:pic>
        <p:nvPicPr>
          <p:cNvPr id="2" name="Google Shape;99;p18">
            <a:extLst>
              <a:ext uri="{FF2B5EF4-FFF2-40B4-BE49-F238E27FC236}">
                <a16:creationId xmlns:a16="http://schemas.microsoft.com/office/drawing/2014/main" id="{FA01686F-D814-2E59-2028-E49A97A9884D}"/>
              </a:ext>
            </a:extLst>
          </p:cNvPr>
          <p:cNvPicPr preferRelativeResize="0"/>
          <p:nvPr/>
        </p:nvPicPr>
        <p:blipFill>
          <a:blip r:embed="rId6">
            <a:alphaModFix/>
          </a:blip>
          <a:stretch>
            <a:fillRect/>
          </a:stretch>
        </p:blipFill>
        <p:spPr>
          <a:xfrm>
            <a:off x="3493100" y="3426331"/>
            <a:ext cx="2786400" cy="1298626"/>
          </a:xfrm>
          <a:prstGeom prst="rect">
            <a:avLst/>
          </a:prstGeom>
          <a:noFill/>
          <a:ln>
            <a:noFill/>
          </a:ln>
        </p:spPr>
      </p:pic>
      <p:cxnSp>
        <p:nvCxnSpPr>
          <p:cNvPr id="3" name="Google Shape;100;p18">
            <a:extLst>
              <a:ext uri="{FF2B5EF4-FFF2-40B4-BE49-F238E27FC236}">
                <a16:creationId xmlns:a16="http://schemas.microsoft.com/office/drawing/2014/main" id="{EE2D5893-8119-D460-12BB-E99288EE3565}"/>
              </a:ext>
            </a:extLst>
          </p:cNvPr>
          <p:cNvCxnSpPr>
            <a:cxnSpLocks/>
          </p:cNvCxnSpPr>
          <p:nvPr/>
        </p:nvCxnSpPr>
        <p:spPr>
          <a:xfrm>
            <a:off x="4457675" y="3138850"/>
            <a:ext cx="173708" cy="217069"/>
          </a:xfrm>
          <a:prstGeom prst="straightConnector1">
            <a:avLst/>
          </a:prstGeom>
          <a:noFill/>
          <a:ln w="9525" cap="flat" cmpd="sng">
            <a:solidFill>
              <a:schemeClr val="dk2"/>
            </a:solidFill>
            <a:prstDash val="solid"/>
            <a:round/>
            <a:headEnd type="none" w="med" len="med"/>
            <a:tailEnd type="triangle" w="med" len="med"/>
          </a:ln>
        </p:spPr>
      </p:cxnSp>
      <p:sp>
        <p:nvSpPr>
          <p:cNvPr id="4" name="Google Shape;101;p18">
            <a:extLst>
              <a:ext uri="{FF2B5EF4-FFF2-40B4-BE49-F238E27FC236}">
                <a16:creationId xmlns:a16="http://schemas.microsoft.com/office/drawing/2014/main" id="{30D33F01-B6A0-C9FB-2E8C-4CFEE7F921B0}"/>
              </a:ext>
            </a:extLst>
          </p:cNvPr>
          <p:cNvSpPr txBox="1"/>
          <p:nvPr/>
        </p:nvSpPr>
        <p:spPr>
          <a:xfrm>
            <a:off x="4327556" y="4698475"/>
            <a:ext cx="1671900" cy="60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2"/>
                </a:solidFill>
              </a:rPr>
              <a:t>Ar Crystals!</a:t>
            </a:r>
            <a:endParaRPr sz="1600" dirty="0">
              <a:solidFill>
                <a:schemeClr val="dk2"/>
              </a:solidFill>
            </a:endParaRPr>
          </a:p>
        </p:txBody>
      </p:sp>
    </p:spTree>
    <p:extLst>
      <p:ext uri="{BB962C8B-B14F-4D97-AF65-F5344CB8AC3E}">
        <p14:creationId xmlns:p14="http://schemas.microsoft.com/office/powerpoint/2010/main" val="1342571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098B504-760D-A1A0-517C-39311449781A}"/>
            </a:ext>
          </a:extLst>
        </p:cNvPr>
        <p:cNvGrpSpPr/>
        <p:nvPr/>
      </p:nvGrpSpPr>
      <p:grpSpPr>
        <a:xfrm>
          <a:off x="0" y="0"/>
          <a:ext cx="0" cy="0"/>
          <a:chOff x="0" y="0"/>
          <a:chExt cx="0" cy="0"/>
        </a:xfrm>
      </p:grpSpPr>
      <p:sp>
        <p:nvSpPr>
          <p:cNvPr id="95" name="Google Shape;95;p18">
            <a:extLst>
              <a:ext uri="{FF2B5EF4-FFF2-40B4-BE49-F238E27FC236}">
                <a16:creationId xmlns:a16="http://schemas.microsoft.com/office/drawing/2014/main" id="{8D6C79D8-A4E9-EBAD-8014-B05C6D140D5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Our Growth Method</a:t>
            </a:r>
            <a:endParaRPr b="1" u="sng" dirty="0"/>
          </a:p>
        </p:txBody>
      </p:sp>
      <p:pic>
        <p:nvPicPr>
          <p:cNvPr id="96" name="Google Shape;96;p18">
            <a:extLst>
              <a:ext uri="{FF2B5EF4-FFF2-40B4-BE49-F238E27FC236}">
                <a16:creationId xmlns:a16="http://schemas.microsoft.com/office/drawing/2014/main" id="{C847B900-8641-6D1A-336C-3290B2AC0C35}"/>
              </a:ext>
            </a:extLst>
          </p:cNvPr>
          <p:cNvPicPr preferRelativeResize="0"/>
          <p:nvPr/>
        </p:nvPicPr>
        <p:blipFill>
          <a:blip r:embed="rId3">
            <a:alphaModFix/>
          </a:blip>
          <a:stretch>
            <a:fillRect/>
          </a:stretch>
        </p:blipFill>
        <p:spPr>
          <a:xfrm>
            <a:off x="2925253" y="1208168"/>
            <a:ext cx="6013550" cy="1957308"/>
          </a:xfrm>
          <a:prstGeom prst="rect">
            <a:avLst/>
          </a:prstGeom>
          <a:noFill/>
          <a:ln>
            <a:noFill/>
          </a:ln>
        </p:spPr>
      </p:pic>
      <p:pic>
        <p:nvPicPr>
          <p:cNvPr id="97" name="Google Shape;97;p18">
            <a:extLst>
              <a:ext uri="{FF2B5EF4-FFF2-40B4-BE49-F238E27FC236}">
                <a16:creationId xmlns:a16="http://schemas.microsoft.com/office/drawing/2014/main" id="{F8106E63-B51E-4A8B-DCC1-887D231B6ABD}"/>
              </a:ext>
            </a:extLst>
          </p:cNvPr>
          <p:cNvPicPr preferRelativeResize="0"/>
          <p:nvPr/>
        </p:nvPicPr>
        <p:blipFill>
          <a:blip r:embed="rId4">
            <a:alphaModFix/>
          </a:blip>
          <a:stretch>
            <a:fillRect/>
          </a:stretch>
        </p:blipFill>
        <p:spPr>
          <a:xfrm>
            <a:off x="261350" y="1087175"/>
            <a:ext cx="1260649" cy="3888266"/>
          </a:xfrm>
          <a:prstGeom prst="rect">
            <a:avLst/>
          </a:prstGeom>
          <a:noFill/>
          <a:ln>
            <a:noFill/>
          </a:ln>
        </p:spPr>
      </p:pic>
      <p:pic>
        <p:nvPicPr>
          <p:cNvPr id="98" name="Google Shape;98;p18">
            <a:extLst>
              <a:ext uri="{FF2B5EF4-FFF2-40B4-BE49-F238E27FC236}">
                <a16:creationId xmlns:a16="http://schemas.microsoft.com/office/drawing/2014/main" id="{E621F046-FE54-B94C-4EFE-5189B719A633}"/>
              </a:ext>
            </a:extLst>
          </p:cNvPr>
          <p:cNvPicPr preferRelativeResize="0"/>
          <p:nvPr/>
        </p:nvPicPr>
        <p:blipFill>
          <a:blip r:embed="rId5">
            <a:alphaModFix/>
          </a:blip>
          <a:stretch>
            <a:fillRect/>
          </a:stretch>
        </p:blipFill>
        <p:spPr>
          <a:xfrm>
            <a:off x="905118" y="1319941"/>
            <a:ext cx="1526352" cy="3730258"/>
          </a:xfrm>
          <a:prstGeom prst="rect">
            <a:avLst/>
          </a:prstGeom>
          <a:noFill/>
          <a:ln>
            <a:noFill/>
          </a:ln>
        </p:spPr>
      </p:pic>
      <p:sp>
        <p:nvSpPr>
          <p:cNvPr id="3" name="Rectangle 2">
            <a:extLst>
              <a:ext uri="{FF2B5EF4-FFF2-40B4-BE49-F238E27FC236}">
                <a16:creationId xmlns:a16="http://schemas.microsoft.com/office/drawing/2014/main" id="{6CB1BABF-D7D9-DB05-5AD5-EC890787C566}"/>
              </a:ext>
            </a:extLst>
          </p:cNvPr>
          <p:cNvSpPr/>
          <p:nvPr/>
        </p:nvSpPr>
        <p:spPr>
          <a:xfrm>
            <a:off x="769585" y="1638472"/>
            <a:ext cx="219291" cy="1787859"/>
          </a:xfrm>
          <a:prstGeom prst="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Google Shape;100;p18">
            <a:extLst>
              <a:ext uri="{FF2B5EF4-FFF2-40B4-BE49-F238E27FC236}">
                <a16:creationId xmlns:a16="http://schemas.microsoft.com/office/drawing/2014/main" id="{6628DA51-61A6-163C-A5AB-59807B8B9017}"/>
              </a:ext>
            </a:extLst>
          </p:cNvPr>
          <p:cNvCxnSpPr>
            <a:cxnSpLocks/>
          </p:cNvCxnSpPr>
          <p:nvPr/>
        </p:nvCxnSpPr>
        <p:spPr>
          <a:xfrm flipH="1">
            <a:off x="1067490" y="2341857"/>
            <a:ext cx="1857763" cy="0"/>
          </a:xfrm>
          <a:prstGeom prst="straightConnector1">
            <a:avLst/>
          </a:prstGeom>
          <a:ln>
            <a:solidFill>
              <a:schemeClr val="accent5"/>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2" name="Google Shape;99;p18">
            <a:extLst>
              <a:ext uri="{FF2B5EF4-FFF2-40B4-BE49-F238E27FC236}">
                <a16:creationId xmlns:a16="http://schemas.microsoft.com/office/drawing/2014/main" id="{922F321A-59FF-9FE5-7784-0F2896EFCC62}"/>
              </a:ext>
            </a:extLst>
          </p:cNvPr>
          <p:cNvPicPr preferRelativeResize="0"/>
          <p:nvPr/>
        </p:nvPicPr>
        <p:blipFill>
          <a:blip r:embed="rId6">
            <a:alphaModFix/>
          </a:blip>
          <a:stretch>
            <a:fillRect/>
          </a:stretch>
        </p:blipFill>
        <p:spPr>
          <a:xfrm>
            <a:off x="3493100" y="3426331"/>
            <a:ext cx="2786400" cy="1298626"/>
          </a:xfrm>
          <a:prstGeom prst="rect">
            <a:avLst/>
          </a:prstGeom>
          <a:noFill/>
          <a:ln>
            <a:noFill/>
          </a:ln>
        </p:spPr>
      </p:pic>
      <p:cxnSp>
        <p:nvCxnSpPr>
          <p:cNvPr id="5" name="Google Shape;100;p18">
            <a:extLst>
              <a:ext uri="{FF2B5EF4-FFF2-40B4-BE49-F238E27FC236}">
                <a16:creationId xmlns:a16="http://schemas.microsoft.com/office/drawing/2014/main" id="{3334E03C-4829-08C0-CF0D-6885EF6EC476}"/>
              </a:ext>
            </a:extLst>
          </p:cNvPr>
          <p:cNvCxnSpPr>
            <a:cxnSpLocks/>
          </p:cNvCxnSpPr>
          <p:nvPr/>
        </p:nvCxnSpPr>
        <p:spPr>
          <a:xfrm>
            <a:off x="4457675" y="3138850"/>
            <a:ext cx="173708" cy="217069"/>
          </a:xfrm>
          <a:prstGeom prst="straightConnector1">
            <a:avLst/>
          </a:prstGeom>
          <a:noFill/>
          <a:ln w="9525" cap="flat" cmpd="sng">
            <a:solidFill>
              <a:schemeClr val="dk2"/>
            </a:solidFill>
            <a:prstDash val="solid"/>
            <a:round/>
            <a:headEnd type="none" w="med" len="med"/>
            <a:tailEnd type="triangle" w="med" len="med"/>
          </a:ln>
        </p:spPr>
      </p:cxnSp>
      <p:sp>
        <p:nvSpPr>
          <p:cNvPr id="6" name="Google Shape;101;p18">
            <a:extLst>
              <a:ext uri="{FF2B5EF4-FFF2-40B4-BE49-F238E27FC236}">
                <a16:creationId xmlns:a16="http://schemas.microsoft.com/office/drawing/2014/main" id="{54B101E2-418F-580C-8EA3-62D4660CFF10}"/>
              </a:ext>
            </a:extLst>
          </p:cNvPr>
          <p:cNvSpPr txBox="1"/>
          <p:nvPr/>
        </p:nvSpPr>
        <p:spPr>
          <a:xfrm>
            <a:off x="4327556" y="4698475"/>
            <a:ext cx="1671900" cy="60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2"/>
                </a:solidFill>
              </a:rPr>
              <a:t>Ar Crystals!</a:t>
            </a:r>
            <a:endParaRPr sz="1600" dirty="0">
              <a:solidFill>
                <a:schemeClr val="dk2"/>
              </a:solidFill>
            </a:endParaRPr>
          </a:p>
        </p:txBody>
      </p:sp>
    </p:spTree>
    <p:extLst>
      <p:ext uri="{BB962C8B-B14F-4D97-AF65-F5344CB8AC3E}">
        <p14:creationId xmlns:p14="http://schemas.microsoft.com/office/powerpoint/2010/main" val="2010780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9"/>
          <p:cNvPicPr preferRelativeResize="0"/>
          <p:nvPr/>
        </p:nvPicPr>
        <p:blipFill>
          <a:blip r:embed="rId3">
            <a:alphaModFix/>
          </a:blip>
          <a:stretch>
            <a:fillRect/>
          </a:stretch>
        </p:blipFill>
        <p:spPr>
          <a:xfrm>
            <a:off x="4297976" y="1201466"/>
            <a:ext cx="4500600" cy="2540338"/>
          </a:xfrm>
          <a:prstGeom prst="rect">
            <a:avLst/>
          </a:prstGeom>
          <a:noFill/>
          <a:ln>
            <a:noFill/>
          </a:ln>
        </p:spPr>
      </p:pic>
      <p:sp>
        <p:nvSpPr>
          <p:cNvPr id="108" name="Google Shape;108;p19"/>
          <p:cNvSpPr/>
          <p:nvPr/>
        </p:nvSpPr>
        <p:spPr>
          <a:xfrm rot="-5400000">
            <a:off x="1041057" y="1604992"/>
            <a:ext cx="1186200" cy="17079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9"/>
          <p:cNvSpPr/>
          <p:nvPr/>
        </p:nvSpPr>
        <p:spPr>
          <a:xfrm>
            <a:off x="1054981" y="1201466"/>
            <a:ext cx="131400" cy="78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9"/>
          <p:cNvSpPr/>
          <p:nvPr/>
        </p:nvSpPr>
        <p:spPr>
          <a:xfrm>
            <a:off x="850982" y="2719175"/>
            <a:ext cx="465900" cy="281400"/>
          </a:xfrm>
          <a:prstGeom prst="flowChartAlternateProcess">
            <a:avLst/>
          </a:prstGeom>
          <a:solidFill>
            <a:schemeClr val="lt2"/>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Rb</a:t>
            </a:r>
            <a:endParaRPr/>
          </a:p>
        </p:txBody>
      </p:sp>
      <p:sp>
        <p:nvSpPr>
          <p:cNvPr id="111" name="Google Shape;111;p19"/>
          <p:cNvSpPr txBox="1"/>
          <p:nvPr/>
        </p:nvSpPr>
        <p:spPr>
          <a:xfrm>
            <a:off x="1359824" y="1527407"/>
            <a:ext cx="6891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Ar</a:t>
            </a:r>
            <a:endParaRPr sz="1600">
              <a:solidFill>
                <a:schemeClr val="dk1"/>
              </a:solidFill>
            </a:endParaRPr>
          </a:p>
        </p:txBody>
      </p:sp>
      <p:sp>
        <p:nvSpPr>
          <p:cNvPr id="113" name="Google Shape;113;p19"/>
          <p:cNvSpPr/>
          <p:nvPr/>
        </p:nvSpPr>
        <p:spPr>
          <a:xfrm>
            <a:off x="1096832" y="1674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4" name="Google Shape;114;p19"/>
          <p:cNvCxnSpPr/>
          <p:nvPr/>
        </p:nvCxnSpPr>
        <p:spPr>
          <a:xfrm>
            <a:off x="1121657" y="1482525"/>
            <a:ext cx="6000" cy="820500"/>
          </a:xfrm>
          <a:prstGeom prst="straightConnector1">
            <a:avLst/>
          </a:prstGeom>
          <a:noFill/>
          <a:ln w="19050" cap="flat" cmpd="sng">
            <a:solidFill>
              <a:srgbClr val="4A86E8"/>
            </a:solidFill>
            <a:prstDash val="solid"/>
            <a:round/>
            <a:headEnd type="none" w="med" len="med"/>
            <a:tailEnd type="triangle" w="med" len="med"/>
          </a:ln>
        </p:spPr>
      </p:cxnSp>
      <p:sp>
        <p:nvSpPr>
          <p:cNvPr id="115" name="Google Shape;115;p19"/>
          <p:cNvSpPr/>
          <p:nvPr/>
        </p:nvSpPr>
        <p:spPr>
          <a:xfrm>
            <a:off x="3092600" y="1782000"/>
            <a:ext cx="161700" cy="135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9"/>
          <p:cNvSpPr txBox="1"/>
          <p:nvPr/>
        </p:nvSpPr>
        <p:spPr>
          <a:xfrm>
            <a:off x="4297976" y="3741816"/>
            <a:ext cx="4853700" cy="3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Regmi, 2013, M.S. thesis, University of Nevada, Reno. </a:t>
            </a:r>
            <a:endParaRPr sz="1200">
              <a:solidFill>
                <a:schemeClr val="dk1"/>
              </a:solidFill>
            </a:endParaRPr>
          </a:p>
          <a:p>
            <a:pPr marL="0" lvl="0" indent="0" algn="l" rtl="0">
              <a:spcBef>
                <a:spcPts val="0"/>
              </a:spcBef>
              <a:spcAft>
                <a:spcPts val="0"/>
              </a:spcAft>
              <a:buNone/>
            </a:pPr>
            <a:r>
              <a:rPr lang="en" sz="1200">
                <a:solidFill>
                  <a:schemeClr val="dk1"/>
                </a:solidFill>
              </a:rPr>
              <a:t>Weinstein Group</a:t>
            </a:r>
            <a:endParaRPr sz="1200">
              <a:solidFill>
                <a:schemeClr val="dk1"/>
              </a:solidFill>
            </a:endParaRPr>
          </a:p>
        </p:txBody>
      </p:sp>
      <mc:AlternateContent xmlns:mc="http://schemas.openxmlformats.org/markup-compatibility/2006" xmlns:a14="http://schemas.microsoft.com/office/drawing/2010/main">
        <mc:Choice Requires="a14">
          <p:sp>
            <p:nvSpPr>
              <p:cNvPr id="117" name="Google Shape;117;p19"/>
              <p:cNvSpPr txBox="1"/>
              <p:nvPr/>
            </p:nvSpPr>
            <p:spPr>
              <a:xfrm>
                <a:off x="336924" y="3489425"/>
                <a:ext cx="3573067" cy="4794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 sz="1800" dirty="0">
                    <a:solidFill>
                      <a:schemeClr val="dk2"/>
                    </a:solidFill>
                  </a:rPr>
                  <a:t>Dopant Density </a:t>
                </a:r>
                <a14:m>
                  <m:oMath xmlns:m="http://schemas.openxmlformats.org/officeDocument/2006/math">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𝑅𝑏</m:t>
                        </m:r>
                      </m:sub>
                    </m:sSub>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𝐴𝑟</m:t>
                        </m:r>
                      </m:sub>
                    </m:sSub>
                  </m:oMath>
                </a14:m>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r>
                  <a:rPr lang="en" sz="1800" dirty="0">
                    <a:solidFill>
                      <a:schemeClr val="dk2"/>
                    </a:solidFill>
                  </a:rPr>
                  <a:t>Growth Rate </a:t>
                </a:r>
                <a14:m>
                  <m:oMath xmlns:m="http://schemas.openxmlformats.org/officeDocument/2006/math">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𝐴𝑟</m:t>
                        </m:r>
                      </m:sub>
                    </m:sSub>
                    <m:sSub>
                      <m:sSubPr>
                        <m:ctrlPr>
                          <a:rPr lang="en-US" sz="1800" b="0" i="1" smtClean="0">
                            <a:solidFill>
                              <a:schemeClr val="dk2"/>
                            </a:solidFill>
                            <a:latin typeface="Cambria Math" panose="02040503050406030204" pitchFamily="18" charset="0"/>
                          </a:rPr>
                        </m:ctrlPr>
                      </m:sSubPr>
                      <m:e>
                        <m:r>
                          <m:rPr>
                            <m:sty m:val="p"/>
                          </m:rPr>
                          <a:rPr lang="en-US" sz="1800" b="0" i="0" smtClean="0">
                            <a:solidFill>
                              <a:schemeClr val="dk2"/>
                            </a:solidFill>
                            <a:latin typeface="Cambria Math" panose="02040503050406030204" pitchFamily="18" charset="0"/>
                          </a:rPr>
                          <m:t>C</m:t>
                        </m:r>
                      </m:e>
                      <m:sub>
                        <m:r>
                          <m:rPr>
                            <m:sty m:val="p"/>
                          </m:rPr>
                          <a:rPr lang="en-US" sz="1800" b="0" i="0" smtClean="0">
                            <a:solidFill>
                              <a:schemeClr val="dk2"/>
                            </a:solidFill>
                            <a:latin typeface="Cambria Math" panose="02040503050406030204" pitchFamily="18" charset="0"/>
                          </a:rPr>
                          <m:t>nozzle</m:t>
                        </m:r>
                      </m:sub>
                    </m:sSub>
                  </m:oMath>
                </a14:m>
                <a:endParaRPr lang="en" sz="1800" dirty="0">
                  <a:solidFill>
                    <a:schemeClr val="dk2"/>
                  </a:solidFill>
                </a:endParaRPr>
              </a:p>
              <a:p>
                <a:pPr marL="285750" lvl="0" indent="-285750">
                  <a:buFont typeface="Wingdings" panose="05000000000000000000" pitchFamily="2" charset="2"/>
                  <a:buChar char="§"/>
                </a:pPr>
                <a14:m>
                  <m:oMath xmlns:m="http://schemas.openxmlformats.org/officeDocument/2006/math">
                    <m:sSub>
                      <m:sSubPr>
                        <m:ctrlPr>
                          <a:rPr lang="en-US" sz="1800" i="1" dirty="0">
                            <a:solidFill>
                              <a:schemeClr val="dk2"/>
                            </a:solidFill>
                            <a:latin typeface="Cambria Math" panose="02040503050406030204" pitchFamily="18" charset="0"/>
                          </a:rPr>
                        </m:ctrlPr>
                      </m:sSubPr>
                      <m:e>
                        <m:r>
                          <a:rPr lang="en" sz="1800" i="1" dirty="0">
                            <a:solidFill>
                              <a:schemeClr val="dk2"/>
                            </a:solidFill>
                            <a:latin typeface="Cambria Math" panose="02040503050406030204" pitchFamily="18" charset="0"/>
                          </a:rPr>
                          <m:t>𝑃</m:t>
                        </m:r>
                      </m:e>
                      <m:sub>
                        <m:r>
                          <a:rPr lang="en-US" sz="1800" i="1" dirty="0">
                            <a:solidFill>
                              <a:schemeClr val="dk2"/>
                            </a:solidFill>
                            <a:latin typeface="Cambria Math" panose="02040503050406030204" pitchFamily="18" charset="0"/>
                          </a:rPr>
                          <m:t>𝑅</m:t>
                        </m:r>
                        <m:r>
                          <a:rPr lang="en" sz="1800" i="1" dirty="0">
                            <a:solidFill>
                              <a:schemeClr val="dk2"/>
                            </a:solidFill>
                            <a:latin typeface="Cambria Math" panose="02040503050406030204" pitchFamily="18" charset="0"/>
                          </a:rPr>
                          <m:t>𝑏</m:t>
                        </m:r>
                      </m:sub>
                    </m:sSub>
                    <m:r>
                      <a:rPr lang="en-US" sz="1800" i="1" dirty="0">
                        <a:solidFill>
                          <a:schemeClr val="dk2"/>
                        </a:solidFill>
                        <a:latin typeface="Cambria Math" panose="02040503050406030204" pitchFamily="18" charset="0"/>
                      </a:rPr>
                      <m:t>≪</m:t>
                    </m:r>
                    <m:sSub>
                      <m:sSubPr>
                        <m:ctrlPr>
                          <a:rPr lang="en-US" sz="1800" i="1" dirty="0">
                            <a:solidFill>
                              <a:schemeClr val="dk2"/>
                            </a:solidFill>
                            <a:latin typeface="Cambria Math" panose="02040503050406030204" pitchFamily="18" charset="0"/>
                          </a:rPr>
                        </m:ctrlPr>
                      </m:sSubPr>
                      <m:e>
                        <m:r>
                          <a:rPr lang="en" sz="1800" i="1" dirty="0">
                            <a:solidFill>
                              <a:schemeClr val="dk2"/>
                            </a:solidFill>
                            <a:latin typeface="Cambria Math" panose="02040503050406030204" pitchFamily="18" charset="0"/>
                          </a:rPr>
                          <m:t>𝑃</m:t>
                        </m:r>
                      </m:e>
                      <m:sub>
                        <m:r>
                          <a:rPr lang="en-US" sz="1800" i="1" dirty="0">
                            <a:solidFill>
                              <a:schemeClr val="dk2"/>
                            </a:solidFill>
                            <a:latin typeface="Cambria Math" panose="02040503050406030204" pitchFamily="18" charset="0"/>
                          </a:rPr>
                          <m:t>𝐴𝑟</m:t>
                        </m:r>
                      </m:sub>
                    </m:sSub>
                  </m:oMath>
                </a14:m>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p:txBody>
          </p:sp>
        </mc:Choice>
        <mc:Fallback xmlns="">
          <p:sp>
            <p:nvSpPr>
              <p:cNvPr id="117" name="Google Shape;117;p19"/>
              <p:cNvSpPr txBox="1">
                <a:spLocks noRot="1" noChangeAspect="1" noMove="1" noResize="1" noEditPoints="1" noAdjustHandles="1" noChangeArrowheads="1" noChangeShapeType="1" noTextEdit="1"/>
              </p:cNvSpPr>
              <p:nvPr/>
            </p:nvSpPr>
            <p:spPr>
              <a:xfrm>
                <a:off x="336924" y="3489425"/>
                <a:ext cx="3573067" cy="479400"/>
              </a:xfrm>
              <a:prstGeom prst="rect">
                <a:avLst/>
              </a:prstGeom>
              <a:blipFill>
                <a:blip r:embed="rId4"/>
                <a:stretch>
                  <a:fillRect l="-1024" b="-116456"/>
                </a:stretch>
              </a:blipFill>
              <a:ln>
                <a:noFill/>
              </a:ln>
            </p:spPr>
            <p:txBody>
              <a:bodyPr/>
              <a:lstStyle/>
              <a:p>
                <a:r>
                  <a:rPr lang="en-US">
                    <a:noFill/>
                  </a:rPr>
                  <a:t> </a:t>
                </a:r>
              </a:p>
            </p:txBody>
          </p:sp>
        </mc:Fallback>
      </mc:AlternateContent>
      <p:sp>
        <p:nvSpPr>
          <p:cNvPr id="120" name="Google Shape;120;p19"/>
          <p:cNvSpPr txBox="1"/>
          <p:nvPr/>
        </p:nvSpPr>
        <p:spPr>
          <a:xfrm>
            <a:off x="420800" y="4451250"/>
            <a:ext cx="2833500" cy="47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dk2"/>
              </a:solidFill>
            </a:endParaRPr>
          </a:p>
        </p:txBody>
      </p:sp>
      <p:sp>
        <p:nvSpPr>
          <p:cNvPr id="121" name="Google Shape;121;p19"/>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Beam Source Constraints</a:t>
            </a:r>
            <a:endParaRPr b="1" u="sng" dirty="0"/>
          </a:p>
        </p:txBody>
      </p:sp>
      <p:sp>
        <p:nvSpPr>
          <p:cNvPr id="5" name="Rectangle 4">
            <a:extLst>
              <a:ext uri="{FF2B5EF4-FFF2-40B4-BE49-F238E27FC236}">
                <a16:creationId xmlns:a16="http://schemas.microsoft.com/office/drawing/2014/main" id="{C46749AC-8779-4A65-6311-7840EE64D973}"/>
              </a:ext>
            </a:extLst>
          </p:cNvPr>
          <p:cNvSpPr/>
          <p:nvPr/>
        </p:nvSpPr>
        <p:spPr>
          <a:xfrm>
            <a:off x="2174296" y="2415400"/>
            <a:ext cx="334735" cy="870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2" name="Google Shape;112;p19"/>
          <p:cNvCxnSpPr/>
          <p:nvPr/>
        </p:nvCxnSpPr>
        <p:spPr>
          <a:xfrm>
            <a:off x="2110107" y="2458950"/>
            <a:ext cx="700800"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764C4859-E84D-E7DA-D686-EC1EA4B4564F}"/>
            </a:ext>
          </a:extLst>
        </p:cNvPr>
        <p:cNvGrpSpPr/>
        <p:nvPr/>
      </p:nvGrpSpPr>
      <p:grpSpPr>
        <a:xfrm>
          <a:off x="0" y="0"/>
          <a:ext cx="0" cy="0"/>
          <a:chOff x="0" y="0"/>
          <a:chExt cx="0" cy="0"/>
        </a:xfrm>
      </p:grpSpPr>
      <p:pic>
        <p:nvPicPr>
          <p:cNvPr id="107" name="Google Shape;107;p19">
            <a:extLst>
              <a:ext uri="{FF2B5EF4-FFF2-40B4-BE49-F238E27FC236}">
                <a16:creationId xmlns:a16="http://schemas.microsoft.com/office/drawing/2014/main" id="{7132A2D5-365C-CBAF-6DAF-A0A44DF35BB6}"/>
              </a:ext>
            </a:extLst>
          </p:cNvPr>
          <p:cNvPicPr preferRelativeResize="0"/>
          <p:nvPr/>
        </p:nvPicPr>
        <p:blipFill>
          <a:blip r:embed="rId3">
            <a:alphaModFix/>
          </a:blip>
          <a:stretch>
            <a:fillRect/>
          </a:stretch>
        </p:blipFill>
        <p:spPr>
          <a:xfrm>
            <a:off x="4297976" y="1201466"/>
            <a:ext cx="4500600" cy="2540338"/>
          </a:xfrm>
          <a:prstGeom prst="rect">
            <a:avLst/>
          </a:prstGeom>
          <a:noFill/>
          <a:ln>
            <a:noFill/>
          </a:ln>
        </p:spPr>
      </p:pic>
      <p:sp>
        <p:nvSpPr>
          <p:cNvPr id="108" name="Google Shape;108;p19">
            <a:extLst>
              <a:ext uri="{FF2B5EF4-FFF2-40B4-BE49-F238E27FC236}">
                <a16:creationId xmlns:a16="http://schemas.microsoft.com/office/drawing/2014/main" id="{555AAF38-24C4-B21F-8D33-E2CCEDC24CE3}"/>
              </a:ext>
            </a:extLst>
          </p:cNvPr>
          <p:cNvSpPr/>
          <p:nvPr/>
        </p:nvSpPr>
        <p:spPr>
          <a:xfrm rot="-5400000">
            <a:off x="1041057" y="1604992"/>
            <a:ext cx="1186200" cy="17079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9">
            <a:extLst>
              <a:ext uri="{FF2B5EF4-FFF2-40B4-BE49-F238E27FC236}">
                <a16:creationId xmlns:a16="http://schemas.microsoft.com/office/drawing/2014/main" id="{6BA1C8BC-6369-F4CC-A5C7-8FC2F904ADF4}"/>
              </a:ext>
            </a:extLst>
          </p:cNvPr>
          <p:cNvSpPr/>
          <p:nvPr/>
        </p:nvSpPr>
        <p:spPr>
          <a:xfrm>
            <a:off x="1054981" y="1201466"/>
            <a:ext cx="131400" cy="78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9">
            <a:extLst>
              <a:ext uri="{FF2B5EF4-FFF2-40B4-BE49-F238E27FC236}">
                <a16:creationId xmlns:a16="http://schemas.microsoft.com/office/drawing/2014/main" id="{069922D0-52F6-A8C6-37ED-8204BEB7EA3C}"/>
              </a:ext>
            </a:extLst>
          </p:cNvPr>
          <p:cNvSpPr/>
          <p:nvPr/>
        </p:nvSpPr>
        <p:spPr>
          <a:xfrm>
            <a:off x="850982" y="2719175"/>
            <a:ext cx="465900" cy="281400"/>
          </a:xfrm>
          <a:prstGeom prst="flowChartAlternateProcess">
            <a:avLst/>
          </a:prstGeom>
          <a:solidFill>
            <a:schemeClr val="lt2"/>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Rb</a:t>
            </a:r>
            <a:endParaRPr/>
          </a:p>
        </p:txBody>
      </p:sp>
      <p:sp>
        <p:nvSpPr>
          <p:cNvPr id="111" name="Google Shape;111;p19">
            <a:extLst>
              <a:ext uri="{FF2B5EF4-FFF2-40B4-BE49-F238E27FC236}">
                <a16:creationId xmlns:a16="http://schemas.microsoft.com/office/drawing/2014/main" id="{30F9F3C7-C751-C2CE-A826-00B3D5DC1AD6}"/>
              </a:ext>
            </a:extLst>
          </p:cNvPr>
          <p:cNvSpPr txBox="1"/>
          <p:nvPr/>
        </p:nvSpPr>
        <p:spPr>
          <a:xfrm>
            <a:off x="1359824" y="1527407"/>
            <a:ext cx="6891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Ar</a:t>
            </a:r>
            <a:endParaRPr sz="1600">
              <a:solidFill>
                <a:schemeClr val="dk1"/>
              </a:solidFill>
            </a:endParaRPr>
          </a:p>
        </p:txBody>
      </p:sp>
      <p:sp>
        <p:nvSpPr>
          <p:cNvPr id="113" name="Google Shape;113;p19">
            <a:extLst>
              <a:ext uri="{FF2B5EF4-FFF2-40B4-BE49-F238E27FC236}">
                <a16:creationId xmlns:a16="http://schemas.microsoft.com/office/drawing/2014/main" id="{1B654E09-1AE2-075A-C38B-7E53BF818A18}"/>
              </a:ext>
            </a:extLst>
          </p:cNvPr>
          <p:cNvSpPr/>
          <p:nvPr/>
        </p:nvSpPr>
        <p:spPr>
          <a:xfrm>
            <a:off x="1096832" y="1674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4" name="Google Shape;114;p19">
            <a:extLst>
              <a:ext uri="{FF2B5EF4-FFF2-40B4-BE49-F238E27FC236}">
                <a16:creationId xmlns:a16="http://schemas.microsoft.com/office/drawing/2014/main" id="{2A6C0F89-3618-5265-EEE9-F43801D4DB9B}"/>
              </a:ext>
            </a:extLst>
          </p:cNvPr>
          <p:cNvCxnSpPr/>
          <p:nvPr/>
        </p:nvCxnSpPr>
        <p:spPr>
          <a:xfrm>
            <a:off x="1121657" y="1482525"/>
            <a:ext cx="6000" cy="820500"/>
          </a:xfrm>
          <a:prstGeom prst="straightConnector1">
            <a:avLst/>
          </a:prstGeom>
          <a:noFill/>
          <a:ln w="19050" cap="flat" cmpd="sng">
            <a:solidFill>
              <a:srgbClr val="4A86E8"/>
            </a:solidFill>
            <a:prstDash val="solid"/>
            <a:round/>
            <a:headEnd type="none" w="med" len="med"/>
            <a:tailEnd type="triangle" w="med" len="med"/>
          </a:ln>
        </p:spPr>
      </p:cxnSp>
      <p:sp>
        <p:nvSpPr>
          <p:cNvPr id="115" name="Google Shape;115;p19">
            <a:extLst>
              <a:ext uri="{FF2B5EF4-FFF2-40B4-BE49-F238E27FC236}">
                <a16:creationId xmlns:a16="http://schemas.microsoft.com/office/drawing/2014/main" id="{1CB36428-8ECD-E3FF-2B14-110F34BE48D7}"/>
              </a:ext>
            </a:extLst>
          </p:cNvPr>
          <p:cNvSpPr/>
          <p:nvPr/>
        </p:nvSpPr>
        <p:spPr>
          <a:xfrm>
            <a:off x="3092600" y="1782000"/>
            <a:ext cx="161700" cy="135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9">
            <a:extLst>
              <a:ext uri="{FF2B5EF4-FFF2-40B4-BE49-F238E27FC236}">
                <a16:creationId xmlns:a16="http://schemas.microsoft.com/office/drawing/2014/main" id="{B150712D-EB98-9E84-F561-DA60FF4C044F}"/>
              </a:ext>
            </a:extLst>
          </p:cNvPr>
          <p:cNvSpPr txBox="1"/>
          <p:nvPr/>
        </p:nvSpPr>
        <p:spPr>
          <a:xfrm>
            <a:off x="4297976" y="3741816"/>
            <a:ext cx="4853700" cy="3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Regmi, 2013, M.S. thesis, University of Nevada, Reno. </a:t>
            </a:r>
            <a:endParaRPr sz="1200">
              <a:solidFill>
                <a:schemeClr val="dk1"/>
              </a:solidFill>
            </a:endParaRPr>
          </a:p>
          <a:p>
            <a:pPr marL="0" lvl="0" indent="0" algn="l" rtl="0">
              <a:spcBef>
                <a:spcPts val="0"/>
              </a:spcBef>
              <a:spcAft>
                <a:spcPts val="0"/>
              </a:spcAft>
              <a:buNone/>
            </a:pPr>
            <a:r>
              <a:rPr lang="en" sz="1200">
                <a:solidFill>
                  <a:schemeClr val="dk1"/>
                </a:solidFill>
              </a:rPr>
              <a:t>Weinstein Group</a:t>
            </a:r>
            <a:endParaRPr sz="1200">
              <a:solidFill>
                <a:schemeClr val="dk1"/>
              </a:solidFill>
            </a:endParaRPr>
          </a:p>
        </p:txBody>
      </p:sp>
      <mc:AlternateContent xmlns:mc="http://schemas.openxmlformats.org/markup-compatibility/2006" xmlns:a14="http://schemas.microsoft.com/office/drawing/2010/main">
        <mc:Choice Requires="a14">
          <p:sp>
            <p:nvSpPr>
              <p:cNvPr id="117" name="Google Shape;117;p19">
                <a:extLst>
                  <a:ext uri="{FF2B5EF4-FFF2-40B4-BE49-F238E27FC236}">
                    <a16:creationId xmlns:a16="http://schemas.microsoft.com/office/drawing/2014/main" id="{F8EE85A7-73EA-C33E-C39F-ACA095C5D5D7}"/>
                  </a:ext>
                </a:extLst>
              </p:cNvPr>
              <p:cNvSpPr txBox="1"/>
              <p:nvPr/>
            </p:nvSpPr>
            <p:spPr>
              <a:xfrm>
                <a:off x="336924" y="3489425"/>
                <a:ext cx="3573067" cy="4794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 sz="1800" dirty="0">
                    <a:solidFill>
                      <a:schemeClr val="dk2"/>
                    </a:solidFill>
                  </a:rPr>
                  <a:t>Dopant Density </a:t>
                </a:r>
                <a14:m>
                  <m:oMath xmlns:m="http://schemas.openxmlformats.org/officeDocument/2006/math">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𝑅𝑏</m:t>
                        </m:r>
                      </m:sub>
                    </m:sSub>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𝐴𝑟</m:t>
                        </m:r>
                      </m:sub>
                    </m:sSub>
                  </m:oMath>
                </a14:m>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r>
                  <a:rPr lang="en" sz="1800" dirty="0">
                    <a:solidFill>
                      <a:schemeClr val="dk2"/>
                    </a:solidFill>
                  </a:rPr>
                  <a:t>Growth Rate </a:t>
                </a:r>
                <a14:m>
                  <m:oMath xmlns:m="http://schemas.openxmlformats.org/officeDocument/2006/math">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𝐴𝑟</m:t>
                        </m:r>
                      </m:sub>
                    </m:sSub>
                    <m:sSub>
                      <m:sSubPr>
                        <m:ctrlPr>
                          <a:rPr lang="en-US" sz="1800" b="0" i="1" smtClean="0">
                            <a:solidFill>
                              <a:schemeClr val="dk2"/>
                            </a:solidFill>
                            <a:latin typeface="Cambria Math" panose="02040503050406030204" pitchFamily="18" charset="0"/>
                          </a:rPr>
                        </m:ctrlPr>
                      </m:sSubPr>
                      <m:e>
                        <m:r>
                          <m:rPr>
                            <m:sty m:val="p"/>
                          </m:rPr>
                          <a:rPr lang="en-US" sz="1800" b="0" i="0" smtClean="0">
                            <a:solidFill>
                              <a:schemeClr val="dk2"/>
                            </a:solidFill>
                            <a:latin typeface="Cambria Math" panose="02040503050406030204" pitchFamily="18" charset="0"/>
                          </a:rPr>
                          <m:t>C</m:t>
                        </m:r>
                      </m:e>
                      <m:sub>
                        <m:r>
                          <m:rPr>
                            <m:sty m:val="p"/>
                          </m:rPr>
                          <a:rPr lang="en-US" sz="1800" b="0" i="0" smtClean="0">
                            <a:solidFill>
                              <a:schemeClr val="dk2"/>
                            </a:solidFill>
                            <a:latin typeface="Cambria Math" panose="02040503050406030204" pitchFamily="18" charset="0"/>
                          </a:rPr>
                          <m:t>nozzle</m:t>
                        </m:r>
                      </m:sub>
                    </m:sSub>
                  </m:oMath>
                </a14:m>
                <a:endParaRPr lang="en" sz="1800" dirty="0">
                  <a:solidFill>
                    <a:schemeClr val="dk2"/>
                  </a:solidFill>
                </a:endParaRPr>
              </a:p>
              <a:p>
                <a:pPr marL="285750" lvl="0" indent="-285750">
                  <a:buFont typeface="Wingdings" panose="05000000000000000000" pitchFamily="2" charset="2"/>
                  <a:buChar char="§"/>
                </a:pPr>
                <a14:m>
                  <m:oMath xmlns:m="http://schemas.openxmlformats.org/officeDocument/2006/math">
                    <m:sSub>
                      <m:sSubPr>
                        <m:ctrlPr>
                          <a:rPr lang="en-US" sz="1800" i="1" dirty="0">
                            <a:solidFill>
                              <a:schemeClr val="dk2"/>
                            </a:solidFill>
                            <a:latin typeface="Cambria Math" panose="02040503050406030204" pitchFamily="18" charset="0"/>
                          </a:rPr>
                        </m:ctrlPr>
                      </m:sSubPr>
                      <m:e>
                        <m:r>
                          <a:rPr lang="en" sz="1800" i="1" dirty="0">
                            <a:solidFill>
                              <a:schemeClr val="dk2"/>
                            </a:solidFill>
                            <a:latin typeface="Cambria Math" panose="02040503050406030204" pitchFamily="18" charset="0"/>
                          </a:rPr>
                          <m:t>𝑃</m:t>
                        </m:r>
                      </m:e>
                      <m:sub>
                        <m:r>
                          <a:rPr lang="en-US" sz="1800" i="1" dirty="0">
                            <a:solidFill>
                              <a:schemeClr val="dk2"/>
                            </a:solidFill>
                            <a:latin typeface="Cambria Math" panose="02040503050406030204" pitchFamily="18" charset="0"/>
                          </a:rPr>
                          <m:t>𝑅</m:t>
                        </m:r>
                        <m:r>
                          <a:rPr lang="en" sz="1800" i="1" dirty="0">
                            <a:solidFill>
                              <a:schemeClr val="dk2"/>
                            </a:solidFill>
                            <a:latin typeface="Cambria Math" panose="02040503050406030204" pitchFamily="18" charset="0"/>
                          </a:rPr>
                          <m:t>𝑏</m:t>
                        </m:r>
                      </m:sub>
                    </m:sSub>
                    <m:r>
                      <a:rPr lang="en-US" sz="1800" i="1" dirty="0">
                        <a:solidFill>
                          <a:schemeClr val="dk2"/>
                        </a:solidFill>
                        <a:latin typeface="Cambria Math" panose="02040503050406030204" pitchFamily="18" charset="0"/>
                      </a:rPr>
                      <m:t>≪</m:t>
                    </m:r>
                    <m:sSub>
                      <m:sSubPr>
                        <m:ctrlPr>
                          <a:rPr lang="en-US" sz="1800" i="1" dirty="0">
                            <a:solidFill>
                              <a:schemeClr val="dk2"/>
                            </a:solidFill>
                            <a:latin typeface="Cambria Math" panose="02040503050406030204" pitchFamily="18" charset="0"/>
                          </a:rPr>
                        </m:ctrlPr>
                      </m:sSubPr>
                      <m:e>
                        <m:r>
                          <a:rPr lang="en" sz="1800" i="1" dirty="0">
                            <a:solidFill>
                              <a:schemeClr val="dk2"/>
                            </a:solidFill>
                            <a:latin typeface="Cambria Math" panose="02040503050406030204" pitchFamily="18" charset="0"/>
                          </a:rPr>
                          <m:t>𝑃</m:t>
                        </m:r>
                      </m:e>
                      <m:sub>
                        <m:r>
                          <a:rPr lang="en-US" sz="1800" i="1" dirty="0">
                            <a:solidFill>
                              <a:schemeClr val="dk2"/>
                            </a:solidFill>
                            <a:latin typeface="Cambria Math" panose="02040503050406030204" pitchFamily="18" charset="0"/>
                          </a:rPr>
                          <m:t>𝐴𝑟</m:t>
                        </m:r>
                      </m:sub>
                    </m:sSub>
                    <m:r>
                      <a:rPr lang="en-US" sz="1800" i="1" dirty="0">
                        <a:solidFill>
                          <a:schemeClr val="dk2"/>
                        </a:solidFill>
                        <a:latin typeface="Cambria Math" panose="02040503050406030204" pitchFamily="18" charset="0"/>
                      </a:rPr>
                      <m:t>⇒</m:t>
                    </m:r>
                    <m:r>
                      <a:rPr lang="en" sz="1800" i="1" dirty="0">
                        <a:solidFill>
                          <a:schemeClr val="dk2"/>
                        </a:solidFill>
                        <a:latin typeface="Cambria Math" panose="02040503050406030204" pitchFamily="18" charset="0"/>
                      </a:rPr>
                      <m:t> </m:t>
                    </m:r>
                    <m:sSub>
                      <m:sSubPr>
                        <m:ctrlPr>
                          <a:rPr lang="en-US" sz="1800" i="1" dirty="0">
                            <a:solidFill>
                              <a:schemeClr val="dk2"/>
                            </a:solidFill>
                            <a:latin typeface="Cambria Math" panose="02040503050406030204" pitchFamily="18" charset="0"/>
                          </a:rPr>
                        </m:ctrlPr>
                      </m:sSubPr>
                      <m:e>
                        <m:r>
                          <a:rPr lang="en" sz="1800" i="1" dirty="0">
                            <a:solidFill>
                              <a:schemeClr val="dk2"/>
                            </a:solidFill>
                            <a:latin typeface="Cambria Math" panose="02040503050406030204" pitchFamily="18" charset="0"/>
                          </a:rPr>
                          <m:t>𝑇</m:t>
                        </m:r>
                      </m:e>
                      <m:sub>
                        <m:r>
                          <a:rPr lang="en-US" sz="1800" i="1" dirty="0">
                            <a:solidFill>
                              <a:schemeClr val="dk2"/>
                            </a:solidFill>
                            <a:latin typeface="Cambria Math" panose="02040503050406030204" pitchFamily="18" charset="0"/>
                          </a:rPr>
                          <m:t>𝑅𝑏</m:t>
                        </m:r>
                      </m:sub>
                    </m:sSub>
                    <m:r>
                      <a:rPr lang="en-US" sz="1800" i="1" dirty="0">
                        <a:solidFill>
                          <a:schemeClr val="dk2"/>
                        </a:solidFill>
                        <a:latin typeface="Cambria Math" panose="02040503050406030204" pitchFamily="18" charset="0"/>
                      </a:rPr>
                      <m:t>&lt;</m:t>
                    </m:r>
                    <m:sSup>
                      <m:sSupPr>
                        <m:ctrlPr>
                          <a:rPr lang="en-US" sz="1800" i="1" dirty="0">
                            <a:solidFill>
                              <a:schemeClr val="dk2"/>
                            </a:solidFill>
                            <a:latin typeface="Cambria Math" panose="02040503050406030204" pitchFamily="18" charset="0"/>
                          </a:rPr>
                        </m:ctrlPr>
                      </m:sSupPr>
                      <m:e>
                        <m:r>
                          <a:rPr lang="en-US" sz="1800" i="1" dirty="0">
                            <a:solidFill>
                              <a:schemeClr val="dk2"/>
                            </a:solidFill>
                            <a:latin typeface="Cambria Math" panose="02040503050406030204" pitchFamily="18" charset="0"/>
                          </a:rPr>
                          <m:t>0</m:t>
                        </m:r>
                      </m:e>
                      <m:sup>
                        <m:r>
                          <a:rPr lang="en-US" sz="1800" i="1" dirty="0">
                            <a:solidFill>
                              <a:schemeClr val="dk2"/>
                            </a:solidFill>
                            <a:latin typeface="Cambria Math" panose="02040503050406030204" pitchFamily="18" charset="0"/>
                          </a:rPr>
                          <m:t>°</m:t>
                        </m:r>
                      </m:sup>
                    </m:sSup>
                    <m:r>
                      <a:rPr lang="en" sz="1800" i="1" dirty="0">
                        <a:solidFill>
                          <a:schemeClr val="dk2"/>
                        </a:solidFill>
                        <a:latin typeface="Cambria Math" panose="02040503050406030204" pitchFamily="18" charset="0"/>
                      </a:rPr>
                      <m:t>𝐶</m:t>
                    </m:r>
                  </m:oMath>
                </a14:m>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p:txBody>
          </p:sp>
        </mc:Choice>
        <mc:Fallback xmlns="">
          <p:sp>
            <p:nvSpPr>
              <p:cNvPr id="117" name="Google Shape;117;p19">
                <a:extLst>
                  <a:ext uri="{FF2B5EF4-FFF2-40B4-BE49-F238E27FC236}">
                    <a16:creationId xmlns:a16="http://schemas.microsoft.com/office/drawing/2014/main" id="{F8EE85A7-73EA-C33E-C39F-ACA095C5D5D7}"/>
                  </a:ext>
                </a:extLst>
              </p:cNvPr>
              <p:cNvSpPr txBox="1">
                <a:spLocks noRot="1" noChangeAspect="1" noMove="1" noResize="1" noEditPoints="1" noAdjustHandles="1" noChangeArrowheads="1" noChangeShapeType="1" noTextEdit="1"/>
              </p:cNvSpPr>
              <p:nvPr/>
            </p:nvSpPr>
            <p:spPr>
              <a:xfrm>
                <a:off x="336924" y="3489425"/>
                <a:ext cx="3573067" cy="479400"/>
              </a:xfrm>
              <a:prstGeom prst="rect">
                <a:avLst/>
              </a:prstGeom>
              <a:blipFill>
                <a:blip r:embed="rId4"/>
                <a:stretch>
                  <a:fillRect l="-1024" b="-118987"/>
                </a:stretch>
              </a:blipFill>
              <a:ln>
                <a:noFill/>
              </a:ln>
            </p:spPr>
            <p:txBody>
              <a:bodyPr/>
              <a:lstStyle/>
              <a:p>
                <a:r>
                  <a:rPr lang="en-US">
                    <a:noFill/>
                  </a:rPr>
                  <a:t> </a:t>
                </a:r>
              </a:p>
            </p:txBody>
          </p:sp>
        </mc:Fallback>
      </mc:AlternateContent>
      <p:sp>
        <p:nvSpPr>
          <p:cNvPr id="120" name="Google Shape;120;p19">
            <a:extLst>
              <a:ext uri="{FF2B5EF4-FFF2-40B4-BE49-F238E27FC236}">
                <a16:creationId xmlns:a16="http://schemas.microsoft.com/office/drawing/2014/main" id="{1C3FB911-A941-CFCF-1E69-FEFACAD28368}"/>
              </a:ext>
            </a:extLst>
          </p:cNvPr>
          <p:cNvSpPr txBox="1"/>
          <p:nvPr/>
        </p:nvSpPr>
        <p:spPr>
          <a:xfrm>
            <a:off x="420800" y="4451250"/>
            <a:ext cx="2833500" cy="47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dk2"/>
              </a:solidFill>
            </a:endParaRPr>
          </a:p>
        </p:txBody>
      </p:sp>
      <p:sp>
        <p:nvSpPr>
          <p:cNvPr id="121" name="Google Shape;121;p19">
            <a:extLst>
              <a:ext uri="{FF2B5EF4-FFF2-40B4-BE49-F238E27FC236}">
                <a16:creationId xmlns:a16="http://schemas.microsoft.com/office/drawing/2014/main" id="{7EC28938-4CA3-5B98-278E-2B7253968792}"/>
              </a:ext>
            </a:extLst>
          </p:cNvPr>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Beam Source Constraints</a:t>
            </a:r>
            <a:endParaRPr b="1" u="sng" dirty="0"/>
          </a:p>
        </p:txBody>
      </p:sp>
      <p:sp>
        <p:nvSpPr>
          <p:cNvPr id="5" name="Rectangle 4">
            <a:extLst>
              <a:ext uri="{FF2B5EF4-FFF2-40B4-BE49-F238E27FC236}">
                <a16:creationId xmlns:a16="http://schemas.microsoft.com/office/drawing/2014/main" id="{898B5CAD-F546-8FC4-8EC7-51E244D5F0D6}"/>
              </a:ext>
            </a:extLst>
          </p:cNvPr>
          <p:cNvSpPr/>
          <p:nvPr/>
        </p:nvSpPr>
        <p:spPr>
          <a:xfrm>
            <a:off x="2174296" y="2415400"/>
            <a:ext cx="334735" cy="870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2" name="Google Shape;112;p19">
            <a:extLst>
              <a:ext uri="{FF2B5EF4-FFF2-40B4-BE49-F238E27FC236}">
                <a16:creationId xmlns:a16="http://schemas.microsoft.com/office/drawing/2014/main" id="{82D4ECDF-6522-C7BB-1211-987E6698884B}"/>
              </a:ext>
            </a:extLst>
          </p:cNvPr>
          <p:cNvCxnSpPr/>
          <p:nvPr/>
        </p:nvCxnSpPr>
        <p:spPr>
          <a:xfrm>
            <a:off x="2110107" y="2458950"/>
            <a:ext cx="700800" cy="0"/>
          </a:xfrm>
          <a:prstGeom prst="straightConnector1">
            <a:avLst/>
          </a:prstGeom>
          <a:noFill/>
          <a:ln w="19050"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1390146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p:nvPr/>
        </p:nvSpPr>
        <p:spPr>
          <a:xfrm rot="-5400000">
            <a:off x="-103843" y="2884775"/>
            <a:ext cx="882300" cy="5631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0"/>
          <p:cNvSpPr/>
          <p:nvPr/>
        </p:nvSpPr>
        <p:spPr>
          <a:xfrm rot="-5400000">
            <a:off x="1041057" y="1604992"/>
            <a:ext cx="1186200" cy="17079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20"/>
          <p:cNvSpPr/>
          <p:nvPr/>
        </p:nvSpPr>
        <p:spPr>
          <a:xfrm>
            <a:off x="1054981" y="1201466"/>
            <a:ext cx="131400" cy="78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20"/>
          <p:cNvSpPr/>
          <p:nvPr/>
        </p:nvSpPr>
        <p:spPr>
          <a:xfrm>
            <a:off x="104357" y="3225800"/>
            <a:ext cx="465900" cy="281400"/>
          </a:xfrm>
          <a:prstGeom prst="flowChartAlternateProcess">
            <a:avLst/>
          </a:prstGeom>
          <a:solidFill>
            <a:schemeClr val="lt2"/>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Rb</a:t>
            </a:r>
            <a:endParaRPr/>
          </a:p>
        </p:txBody>
      </p:sp>
      <p:sp>
        <p:nvSpPr>
          <p:cNvPr id="130" name="Google Shape;130;p20"/>
          <p:cNvSpPr txBox="1"/>
          <p:nvPr/>
        </p:nvSpPr>
        <p:spPr>
          <a:xfrm>
            <a:off x="1359824" y="1527407"/>
            <a:ext cx="6891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Ar</a:t>
            </a:r>
            <a:endParaRPr sz="1600">
              <a:solidFill>
                <a:schemeClr val="dk1"/>
              </a:solidFill>
            </a:endParaRPr>
          </a:p>
        </p:txBody>
      </p:sp>
      <p:sp>
        <p:nvSpPr>
          <p:cNvPr id="132" name="Google Shape;132;p20"/>
          <p:cNvSpPr/>
          <p:nvPr/>
        </p:nvSpPr>
        <p:spPr>
          <a:xfrm>
            <a:off x="1096832" y="1674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 name="Google Shape;133;p20"/>
          <p:cNvSpPr/>
          <p:nvPr/>
        </p:nvSpPr>
        <p:spPr>
          <a:xfrm rot="5400000">
            <a:off x="688307" y="2688700"/>
            <a:ext cx="93600" cy="4137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4" name="Google Shape;134;p20"/>
          <p:cNvCxnSpPr/>
          <p:nvPr/>
        </p:nvCxnSpPr>
        <p:spPr>
          <a:xfrm>
            <a:off x="1121657" y="1482525"/>
            <a:ext cx="6000" cy="820500"/>
          </a:xfrm>
          <a:prstGeom prst="straightConnector1">
            <a:avLst/>
          </a:prstGeom>
          <a:noFill/>
          <a:ln w="19050" cap="flat" cmpd="sng">
            <a:solidFill>
              <a:srgbClr val="4A86E8"/>
            </a:solidFill>
            <a:prstDash val="solid"/>
            <a:round/>
            <a:headEnd type="none" w="med" len="med"/>
            <a:tailEnd type="triangle" w="med" len="med"/>
          </a:ln>
        </p:spPr>
      </p:cxnSp>
      <p:sp>
        <p:nvSpPr>
          <p:cNvPr id="135" name="Google Shape;135;p20"/>
          <p:cNvSpPr/>
          <p:nvPr/>
        </p:nvSpPr>
        <p:spPr>
          <a:xfrm rot="-5400000">
            <a:off x="770132" y="2503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6" name="Google Shape;136;p20"/>
          <p:cNvCxnSpPr>
            <a:stCxn id="135" idx="0"/>
            <a:endCxn id="135" idx="2"/>
          </p:cNvCxnSpPr>
          <p:nvPr/>
        </p:nvCxnSpPr>
        <p:spPr>
          <a:xfrm>
            <a:off x="401582" y="2895550"/>
            <a:ext cx="784800" cy="0"/>
          </a:xfrm>
          <a:prstGeom prst="straightConnector1">
            <a:avLst/>
          </a:prstGeom>
          <a:noFill/>
          <a:ln w="19050" cap="flat" cmpd="sng">
            <a:solidFill>
              <a:srgbClr val="980000"/>
            </a:solidFill>
            <a:prstDash val="solid"/>
            <a:round/>
            <a:headEnd type="none" w="med" len="med"/>
            <a:tailEnd type="triangle" w="med" len="med"/>
          </a:ln>
        </p:spPr>
      </p:cxnSp>
      <p:sp>
        <p:nvSpPr>
          <p:cNvPr id="137" name="Google Shape;137;p20"/>
          <p:cNvSpPr/>
          <p:nvPr/>
        </p:nvSpPr>
        <p:spPr>
          <a:xfrm>
            <a:off x="3092600" y="1782000"/>
            <a:ext cx="161700" cy="135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 name="Google Shape;139;p20"/>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Beam Source Constraints</a:t>
            </a:r>
            <a:endParaRPr b="1" u="sng"/>
          </a:p>
        </p:txBody>
      </p:sp>
      <p:sp>
        <p:nvSpPr>
          <p:cNvPr id="4" name="Google Shape;187;p22">
            <a:extLst>
              <a:ext uri="{FF2B5EF4-FFF2-40B4-BE49-F238E27FC236}">
                <a16:creationId xmlns:a16="http://schemas.microsoft.com/office/drawing/2014/main" id="{66399061-332D-F6EC-2F9C-0A8F89C538BE}"/>
              </a:ext>
            </a:extLst>
          </p:cNvPr>
          <p:cNvSpPr txBox="1"/>
          <p:nvPr/>
        </p:nvSpPr>
        <p:spPr>
          <a:xfrm>
            <a:off x="2525416" y="1220250"/>
            <a:ext cx="2144719"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1"/>
                </a:solidFill>
              </a:rPr>
              <a:t>“Mixing Chamber”</a:t>
            </a:r>
            <a:endParaRPr sz="1600" dirty="0">
              <a:solidFill>
                <a:schemeClr val="dk1"/>
              </a:solidFill>
            </a:endParaRPr>
          </a:p>
        </p:txBody>
      </p:sp>
      <p:cxnSp>
        <p:nvCxnSpPr>
          <p:cNvPr id="5" name="Google Shape;188;p22">
            <a:extLst>
              <a:ext uri="{FF2B5EF4-FFF2-40B4-BE49-F238E27FC236}">
                <a16:creationId xmlns:a16="http://schemas.microsoft.com/office/drawing/2014/main" id="{9FBC4065-03A7-33C6-01CB-A2FD039170C2}"/>
              </a:ext>
            </a:extLst>
          </p:cNvPr>
          <p:cNvCxnSpPr>
            <a:cxnSpLocks/>
          </p:cNvCxnSpPr>
          <p:nvPr/>
        </p:nvCxnSpPr>
        <p:spPr>
          <a:xfrm flipH="1">
            <a:off x="2222367" y="1527407"/>
            <a:ext cx="384294" cy="254593"/>
          </a:xfrm>
          <a:prstGeom prst="straightConnector1">
            <a:avLst/>
          </a:prstGeom>
          <a:noFill/>
          <a:ln w="9525" cap="flat" cmpd="sng">
            <a:solidFill>
              <a:schemeClr val="dk1"/>
            </a:solidFill>
            <a:prstDash val="solid"/>
            <a:round/>
            <a:headEnd type="none" w="med" len="med"/>
            <a:tailEnd type="triangle" w="med" len="med"/>
          </a:ln>
        </p:spPr>
      </p:cxnSp>
      <p:sp>
        <p:nvSpPr>
          <p:cNvPr id="9" name="Rectangle 8">
            <a:extLst>
              <a:ext uri="{FF2B5EF4-FFF2-40B4-BE49-F238E27FC236}">
                <a16:creationId xmlns:a16="http://schemas.microsoft.com/office/drawing/2014/main" id="{3CBDBE09-44ED-B50D-9D1E-309083507452}"/>
              </a:ext>
            </a:extLst>
          </p:cNvPr>
          <p:cNvSpPr/>
          <p:nvPr/>
        </p:nvSpPr>
        <p:spPr>
          <a:xfrm>
            <a:off x="2174296" y="2415400"/>
            <a:ext cx="334735" cy="870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1" name="Google Shape;131;p20"/>
          <p:cNvCxnSpPr/>
          <p:nvPr/>
        </p:nvCxnSpPr>
        <p:spPr>
          <a:xfrm>
            <a:off x="2110107" y="2458950"/>
            <a:ext cx="700800" cy="0"/>
          </a:xfrm>
          <a:prstGeom prst="straightConnector1">
            <a:avLst/>
          </a:prstGeom>
          <a:noFill/>
          <a:ln w="19050" cap="flat" cmpd="sng">
            <a:solidFill>
              <a:schemeClr val="dk2"/>
            </a:solidFill>
            <a:prstDash val="solid"/>
            <a:round/>
            <a:headEnd type="none" w="med" len="med"/>
            <a:tailEnd type="triangle" w="med" len="med"/>
          </a:ln>
        </p:spPr>
      </p:cxnSp>
      <mc:AlternateContent xmlns:mc="http://schemas.openxmlformats.org/markup-compatibility/2006" xmlns:a14="http://schemas.microsoft.com/office/drawing/2010/main">
        <mc:Choice Requires="a14">
          <p:sp>
            <p:nvSpPr>
              <p:cNvPr id="10" name="Google Shape;117;p19">
                <a:extLst>
                  <a:ext uri="{FF2B5EF4-FFF2-40B4-BE49-F238E27FC236}">
                    <a16:creationId xmlns:a16="http://schemas.microsoft.com/office/drawing/2014/main" id="{DC3819B7-E25E-8ACE-0FF0-C2762EADF721}"/>
                  </a:ext>
                </a:extLst>
              </p:cNvPr>
              <p:cNvSpPr txBox="1"/>
              <p:nvPr/>
            </p:nvSpPr>
            <p:spPr>
              <a:xfrm>
                <a:off x="337307" y="3790650"/>
                <a:ext cx="3573067" cy="4794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14:m>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𝑅𝑏𝑀𝑐</m:t>
                        </m:r>
                      </m:sub>
                    </m:sSub>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𝑃</m:t>
                        </m:r>
                      </m:e>
                      <m:sub>
                        <m:r>
                          <a:rPr lang="en-US" sz="1800" b="0" i="1" smtClean="0">
                            <a:solidFill>
                              <a:schemeClr val="dk2"/>
                            </a:solidFill>
                            <a:latin typeface="Cambria Math" panose="02040503050406030204" pitchFamily="18" charset="0"/>
                          </a:rPr>
                          <m:t>𝑅𝑏𝑅𝑠</m:t>
                        </m:r>
                      </m:sub>
                    </m:sSub>
                    <m:f>
                      <m:fPr>
                        <m:ctrlPr>
                          <a:rPr lang="en-US" sz="1800" b="0" i="1" smtClean="0">
                            <a:solidFill>
                              <a:schemeClr val="dk2"/>
                            </a:solidFill>
                            <a:latin typeface="Cambria Math" panose="02040503050406030204" pitchFamily="18" charset="0"/>
                          </a:rPr>
                        </m:ctrlPr>
                      </m:fPr>
                      <m:num>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𝐶</m:t>
                            </m:r>
                          </m:e>
                          <m:sub>
                            <m:r>
                              <a:rPr lang="en-US" sz="1800" b="0" i="1" smtClean="0">
                                <a:solidFill>
                                  <a:schemeClr val="dk2"/>
                                </a:solidFill>
                                <a:latin typeface="Cambria Math" panose="02040503050406030204" pitchFamily="18" charset="0"/>
                              </a:rPr>
                              <m:t>𝑉</m:t>
                            </m:r>
                          </m:sub>
                        </m:sSub>
                      </m:num>
                      <m:den>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𝐶</m:t>
                            </m:r>
                          </m:e>
                          <m:sub>
                            <m:r>
                              <a:rPr lang="en-US" sz="1800" b="0" i="1" smtClean="0">
                                <a:solidFill>
                                  <a:schemeClr val="dk2"/>
                                </a:solidFill>
                                <a:latin typeface="Cambria Math" panose="02040503050406030204" pitchFamily="18" charset="0"/>
                              </a:rPr>
                              <m:t>𝑉</m:t>
                            </m:r>
                          </m:sub>
                        </m:sSub>
                        <m:r>
                          <a:rPr lang="en-US" sz="1800" b="0" i="1" smtClean="0">
                            <a:solidFill>
                              <a:schemeClr val="dk2"/>
                            </a:solidFill>
                            <a:latin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𝐶</m:t>
                            </m:r>
                          </m:e>
                          <m:sub>
                            <m:r>
                              <a:rPr lang="en-US" sz="1800" b="0" i="1" smtClean="0">
                                <a:solidFill>
                                  <a:schemeClr val="dk2"/>
                                </a:solidFill>
                                <a:latin typeface="Cambria Math" panose="02040503050406030204" pitchFamily="18" charset="0"/>
                              </a:rPr>
                              <m:t>𝑁</m:t>
                            </m:r>
                          </m:sub>
                        </m:sSub>
                      </m:den>
                    </m:f>
                    <m:r>
                      <a:rPr lang="en-US" sz="1800" b="0" i="1" smtClean="0">
                        <a:solidFill>
                          <a:schemeClr val="dk2"/>
                        </a:solidFill>
                        <a:latin typeface="Cambria Math" panose="02040503050406030204" pitchFamily="18" charset="0"/>
                      </a:rPr>
                      <m:t> </m:t>
                    </m:r>
                  </m:oMath>
                </a14:m>
                <a:endParaRPr lang="en-US" sz="1800" b="0" i="1" dirty="0">
                  <a:solidFill>
                    <a:schemeClr val="dk2"/>
                  </a:solidFill>
                  <a:latin typeface="Cambria Math" panose="02040503050406030204" pitchFamily="18" charset="0"/>
                </a:endParaRPr>
              </a:p>
              <a:p>
                <a:pPr marL="285750" lvl="0" indent="-285750" algn="l" rtl="0">
                  <a:spcBef>
                    <a:spcPts val="0"/>
                  </a:spcBef>
                  <a:spcAft>
                    <a:spcPts val="0"/>
                  </a:spcAft>
                  <a:buFont typeface="Wingdings" panose="05000000000000000000" pitchFamily="2" charset="2"/>
                  <a:buChar char="§"/>
                </a:pPr>
                <a:endParaRPr lang="en-US" sz="1800" b="0" i="1" dirty="0">
                  <a:solidFill>
                    <a:schemeClr val="dk2"/>
                  </a:solidFill>
                  <a:latin typeface="Cambria Math" panose="02040503050406030204" pitchFamily="18" charset="0"/>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p:txBody>
          </p:sp>
        </mc:Choice>
        <mc:Fallback xmlns="">
          <p:sp>
            <p:nvSpPr>
              <p:cNvPr id="10" name="Google Shape;117;p19">
                <a:extLst>
                  <a:ext uri="{FF2B5EF4-FFF2-40B4-BE49-F238E27FC236}">
                    <a16:creationId xmlns:a16="http://schemas.microsoft.com/office/drawing/2014/main" id="{DC3819B7-E25E-8ACE-0FF0-C2762EADF721}"/>
                  </a:ext>
                </a:extLst>
              </p:cNvPr>
              <p:cNvSpPr txBox="1">
                <a:spLocks noRot="1" noChangeAspect="1" noMove="1" noResize="1" noEditPoints="1" noAdjustHandles="1" noChangeArrowheads="1" noChangeShapeType="1" noTextEdit="1"/>
              </p:cNvSpPr>
              <p:nvPr/>
            </p:nvSpPr>
            <p:spPr>
              <a:xfrm>
                <a:off x="337307" y="3790650"/>
                <a:ext cx="3573067" cy="479400"/>
              </a:xfrm>
              <a:prstGeom prst="rect">
                <a:avLst/>
              </a:prstGeom>
              <a:blipFill>
                <a:blip r:embed="rId3"/>
                <a:stretch>
                  <a:fillRect l="-1024" b="-19231"/>
                </a:stretch>
              </a:blipFill>
              <a:ln>
                <a:noFill/>
              </a:ln>
            </p:spPr>
            <p:txBody>
              <a:bodyPr/>
              <a:lstStyle/>
              <a:p>
                <a:r>
                  <a:rPr lang="en-US">
                    <a:noFill/>
                  </a:rPr>
                  <a:t> </a:t>
                </a:r>
              </a:p>
            </p:txBody>
          </p:sp>
        </mc:Fallback>
      </mc:AlternateContent>
      <p:sp>
        <p:nvSpPr>
          <p:cNvPr id="11" name="Google Shape;187;p22">
            <a:extLst>
              <a:ext uri="{FF2B5EF4-FFF2-40B4-BE49-F238E27FC236}">
                <a16:creationId xmlns:a16="http://schemas.microsoft.com/office/drawing/2014/main" id="{C9F34B24-D576-CC6A-5CCF-12804F0A2250}"/>
              </a:ext>
            </a:extLst>
          </p:cNvPr>
          <p:cNvSpPr txBox="1"/>
          <p:nvPr/>
        </p:nvSpPr>
        <p:spPr>
          <a:xfrm>
            <a:off x="1051480" y="3205495"/>
            <a:ext cx="1555181"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1"/>
                </a:solidFill>
              </a:rPr>
              <a:t>“Rb Reservoir”</a:t>
            </a:r>
            <a:endParaRPr sz="1600" dirty="0">
              <a:solidFill>
                <a:schemeClr val="dk1"/>
              </a:solidFill>
            </a:endParaRPr>
          </a:p>
        </p:txBody>
      </p:sp>
      <p:cxnSp>
        <p:nvCxnSpPr>
          <p:cNvPr id="12" name="Google Shape;188;p22">
            <a:extLst>
              <a:ext uri="{FF2B5EF4-FFF2-40B4-BE49-F238E27FC236}">
                <a16:creationId xmlns:a16="http://schemas.microsoft.com/office/drawing/2014/main" id="{DEFDC334-CD76-7FAB-AE17-726600F32DBE}"/>
              </a:ext>
            </a:extLst>
          </p:cNvPr>
          <p:cNvCxnSpPr>
            <a:cxnSpLocks/>
            <a:stCxn id="11" idx="1"/>
          </p:cNvCxnSpPr>
          <p:nvPr/>
        </p:nvCxnSpPr>
        <p:spPr>
          <a:xfrm flipH="1">
            <a:off x="667457" y="3432445"/>
            <a:ext cx="384023" cy="16789"/>
          </a:xfrm>
          <a:prstGeom prst="straightConnector1">
            <a:avLst/>
          </a:prstGeom>
          <a:noFill/>
          <a:ln w="9525" cap="flat" cmpd="sng">
            <a:solidFill>
              <a:schemeClr val="dk1"/>
            </a:solidFill>
            <a:prstDash val="solid"/>
            <a:round/>
            <a:headEnd type="none" w="med" len="med"/>
            <a:tailEnd type="triangle" w="med" len="med"/>
          </a:ln>
        </p:spPr>
      </p:cxnSp>
      <p:pic>
        <p:nvPicPr>
          <p:cNvPr id="2" name="Google Shape;107;p19">
            <a:extLst>
              <a:ext uri="{FF2B5EF4-FFF2-40B4-BE49-F238E27FC236}">
                <a16:creationId xmlns:a16="http://schemas.microsoft.com/office/drawing/2014/main" id="{BD5B4F61-914C-4B4A-D94D-C1FD894E8712}"/>
              </a:ext>
            </a:extLst>
          </p:cNvPr>
          <p:cNvPicPr preferRelativeResize="0"/>
          <p:nvPr/>
        </p:nvPicPr>
        <p:blipFill>
          <a:blip r:embed="rId4">
            <a:alphaModFix/>
          </a:blip>
          <a:stretch>
            <a:fillRect/>
          </a:stretch>
        </p:blipFill>
        <p:spPr>
          <a:xfrm>
            <a:off x="4297976" y="1201466"/>
            <a:ext cx="4500600" cy="2540338"/>
          </a:xfrm>
          <a:prstGeom prst="rect">
            <a:avLst/>
          </a:prstGeom>
          <a:noFill/>
          <a:ln>
            <a:noFill/>
          </a:ln>
        </p:spPr>
      </p:pic>
      <p:sp>
        <p:nvSpPr>
          <p:cNvPr id="3" name="Google Shape;116;p19">
            <a:extLst>
              <a:ext uri="{FF2B5EF4-FFF2-40B4-BE49-F238E27FC236}">
                <a16:creationId xmlns:a16="http://schemas.microsoft.com/office/drawing/2014/main" id="{F0BD9B34-535B-2A2C-E548-42AA5957182E}"/>
              </a:ext>
            </a:extLst>
          </p:cNvPr>
          <p:cNvSpPr txBox="1"/>
          <p:nvPr/>
        </p:nvSpPr>
        <p:spPr>
          <a:xfrm>
            <a:off x="4297976" y="3741816"/>
            <a:ext cx="4853700" cy="3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Regmi, 2013, M.S. thesis, University of Nevada, Reno. </a:t>
            </a:r>
            <a:endParaRPr sz="1200">
              <a:solidFill>
                <a:schemeClr val="dk1"/>
              </a:solidFill>
            </a:endParaRPr>
          </a:p>
          <a:p>
            <a:pPr marL="0" lvl="0" indent="0" algn="l" rtl="0">
              <a:spcBef>
                <a:spcPts val="0"/>
              </a:spcBef>
              <a:spcAft>
                <a:spcPts val="0"/>
              </a:spcAft>
              <a:buNone/>
            </a:pPr>
            <a:r>
              <a:rPr lang="en" sz="1200">
                <a:solidFill>
                  <a:schemeClr val="dk1"/>
                </a:solidFill>
              </a:rPr>
              <a:t>Weinstein Group</a:t>
            </a:r>
            <a:endParaRPr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8" name="Google Shape;148;p21"/>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Beam Source Constraints</a:t>
            </a:r>
            <a:endParaRPr b="1" u="sng" dirty="0"/>
          </a:p>
        </p:txBody>
      </p:sp>
      <p:sp>
        <p:nvSpPr>
          <p:cNvPr id="149" name="Google Shape;149;p21"/>
          <p:cNvSpPr/>
          <p:nvPr/>
        </p:nvSpPr>
        <p:spPr>
          <a:xfrm rot="-5400000">
            <a:off x="4746550" y="-535650"/>
            <a:ext cx="706800" cy="5989200"/>
          </a:xfrm>
          <a:prstGeom prst="rect">
            <a:avLst/>
          </a:prstGeom>
          <a:solidFill>
            <a:schemeClr val="l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1"/>
          <p:cNvSpPr/>
          <p:nvPr/>
        </p:nvSpPr>
        <p:spPr>
          <a:xfrm>
            <a:off x="7957300" y="2100000"/>
            <a:ext cx="131400" cy="717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1"/>
          <p:cNvSpPr/>
          <p:nvPr/>
        </p:nvSpPr>
        <p:spPr>
          <a:xfrm rot="5400000">
            <a:off x="5075500" y="265800"/>
            <a:ext cx="269400" cy="5373600"/>
          </a:xfrm>
          <a:prstGeom prst="rightBrace">
            <a:avLst>
              <a:gd name="adj1" fmla="val 50000"/>
              <a:gd name="adj2" fmla="val 5002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 name="Google Shape;152;p21"/>
          <p:cNvSpPr txBox="1"/>
          <p:nvPr/>
        </p:nvSpPr>
        <p:spPr>
          <a:xfrm>
            <a:off x="4763398" y="3001475"/>
            <a:ext cx="1012500" cy="3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~0.5 m</a:t>
            </a:r>
            <a:endParaRPr sz="1800">
              <a:solidFill>
                <a:schemeClr val="dk1"/>
              </a:solidFill>
            </a:endParaRPr>
          </a:p>
        </p:txBody>
      </p:sp>
      <p:sp>
        <p:nvSpPr>
          <p:cNvPr id="153" name="Google Shape;153;p21"/>
          <p:cNvSpPr txBox="1"/>
          <p:nvPr/>
        </p:nvSpPr>
        <p:spPr>
          <a:xfrm>
            <a:off x="8352298" y="2242050"/>
            <a:ext cx="1012500" cy="3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cm</a:t>
            </a:r>
            <a:endParaRPr sz="1800">
              <a:solidFill>
                <a:schemeClr val="dk1"/>
              </a:solidFill>
            </a:endParaRPr>
          </a:p>
        </p:txBody>
      </p:sp>
      <p:sp>
        <p:nvSpPr>
          <p:cNvPr id="154" name="Google Shape;154;p21"/>
          <p:cNvSpPr/>
          <p:nvPr/>
        </p:nvSpPr>
        <p:spPr>
          <a:xfrm>
            <a:off x="8131499" y="2129250"/>
            <a:ext cx="220800" cy="659400"/>
          </a:xfrm>
          <a:prstGeom prst="rightBrace">
            <a:avLst>
              <a:gd name="adj1" fmla="val 50000"/>
              <a:gd name="adj2" fmla="val 5002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21"/>
          <p:cNvSpPr/>
          <p:nvPr/>
        </p:nvSpPr>
        <p:spPr>
          <a:xfrm rot="-5400000">
            <a:off x="-103843" y="2884775"/>
            <a:ext cx="882300" cy="5631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 name="Google Shape;156;p21"/>
          <p:cNvSpPr/>
          <p:nvPr/>
        </p:nvSpPr>
        <p:spPr>
          <a:xfrm rot="-5400000">
            <a:off x="1041057" y="1604992"/>
            <a:ext cx="1186200" cy="17079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 name="Google Shape;157;p21"/>
          <p:cNvSpPr/>
          <p:nvPr/>
        </p:nvSpPr>
        <p:spPr>
          <a:xfrm>
            <a:off x="1054981" y="1201466"/>
            <a:ext cx="131400" cy="78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21"/>
          <p:cNvSpPr/>
          <p:nvPr/>
        </p:nvSpPr>
        <p:spPr>
          <a:xfrm>
            <a:off x="104357" y="3225800"/>
            <a:ext cx="465900" cy="281400"/>
          </a:xfrm>
          <a:prstGeom prst="flowChartAlternateProcess">
            <a:avLst/>
          </a:prstGeom>
          <a:solidFill>
            <a:schemeClr val="lt2"/>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Rb</a:t>
            </a:r>
            <a:endParaRPr/>
          </a:p>
        </p:txBody>
      </p:sp>
      <p:sp>
        <p:nvSpPr>
          <p:cNvPr id="159" name="Google Shape;159;p21"/>
          <p:cNvSpPr txBox="1"/>
          <p:nvPr/>
        </p:nvSpPr>
        <p:spPr>
          <a:xfrm>
            <a:off x="1359824" y="1527407"/>
            <a:ext cx="6891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Ar</a:t>
            </a:r>
            <a:endParaRPr sz="1600">
              <a:solidFill>
                <a:schemeClr val="dk1"/>
              </a:solidFill>
            </a:endParaRPr>
          </a:p>
        </p:txBody>
      </p:sp>
      <p:sp>
        <p:nvSpPr>
          <p:cNvPr id="160" name="Google Shape;160;p21"/>
          <p:cNvSpPr/>
          <p:nvPr/>
        </p:nvSpPr>
        <p:spPr>
          <a:xfrm>
            <a:off x="1096832" y="1674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 name="Google Shape;161;p21"/>
          <p:cNvSpPr/>
          <p:nvPr/>
        </p:nvSpPr>
        <p:spPr>
          <a:xfrm rot="5400000">
            <a:off x="688307" y="2688700"/>
            <a:ext cx="93600" cy="4137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2" name="Google Shape;162;p21"/>
          <p:cNvCxnSpPr/>
          <p:nvPr/>
        </p:nvCxnSpPr>
        <p:spPr>
          <a:xfrm>
            <a:off x="1121657" y="1482525"/>
            <a:ext cx="6000" cy="820500"/>
          </a:xfrm>
          <a:prstGeom prst="straightConnector1">
            <a:avLst/>
          </a:prstGeom>
          <a:noFill/>
          <a:ln w="19050" cap="flat" cmpd="sng">
            <a:solidFill>
              <a:srgbClr val="4A86E8"/>
            </a:solidFill>
            <a:prstDash val="solid"/>
            <a:round/>
            <a:headEnd type="none" w="med" len="med"/>
            <a:tailEnd type="triangle" w="med" len="med"/>
          </a:ln>
        </p:spPr>
      </p:cxnSp>
      <p:sp>
        <p:nvSpPr>
          <p:cNvPr id="163" name="Google Shape;163;p21"/>
          <p:cNvSpPr/>
          <p:nvPr/>
        </p:nvSpPr>
        <p:spPr>
          <a:xfrm rot="-5400000">
            <a:off x="770132" y="2503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4" name="Google Shape;164;p21"/>
          <p:cNvCxnSpPr>
            <a:stCxn id="163" idx="0"/>
            <a:endCxn id="163" idx="2"/>
          </p:cNvCxnSpPr>
          <p:nvPr/>
        </p:nvCxnSpPr>
        <p:spPr>
          <a:xfrm>
            <a:off x="401582" y="2895550"/>
            <a:ext cx="784800" cy="0"/>
          </a:xfrm>
          <a:prstGeom prst="straightConnector1">
            <a:avLst/>
          </a:prstGeom>
          <a:noFill/>
          <a:ln w="19050" cap="flat" cmpd="sng">
            <a:solidFill>
              <a:srgbClr val="980000"/>
            </a:solidFill>
            <a:prstDash val="solid"/>
            <a:round/>
            <a:headEnd type="none" w="med" len="med"/>
            <a:tailEnd type="triangle" w="med" len="med"/>
          </a:ln>
        </p:spPr>
      </p:cxnSp>
      <p:sp>
        <p:nvSpPr>
          <p:cNvPr id="2" name="Rectangle 1">
            <a:extLst>
              <a:ext uri="{FF2B5EF4-FFF2-40B4-BE49-F238E27FC236}">
                <a16:creationId xmlns:a16="http://schemas.microsoft.com/office/drawing/2014/main" id="{7B90E968-4B9C-CD56-84D1-E21DF364CEF5}"/>
              </a:ext>
            </a:extLst>
          </p:cNvPr>
          <p:cNvSpPr/>
          <p:nvPr/>
        </p:nvSpPr>
        <p:spPr>
          <a:xfrm>
            <a:off x="2174296" y="2415400"/>
            <a:ext cx="334735" cy="870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5" name="Google Shape;165;p21"/>
          <p:cNvCxnSpPr/>
          <p:nvPr/>
        </p:nvCxnSpPr>
        <p:spPr>
          <a:xfrm>
            <a:off x="2110107" y="2458950"/>
            <a:ext cx="700800" cy="0"/>
          </a:xfrm>
          <a:prstGeom prst="straightConnector1">
            <a:avLst/>
          </a:prstGeom>
          <a:noFill/>
          <a:ln w="19050" cap="flat" cmpd="sng">
            <a:solidFill>
              <a:schemeClr val="dk2"/>
            </a:solidFill>
            <a:prstDash val="solid"/>
            <a:round/>
            <a:headEnd type="none" w="med" len="med"/>
            <a:tailEnd type="triangle" w="med" len="med"/>
          </a:ln>
        </p:spPr>
      </p:cxnSp>
      <p:grpSp>
        <p:nvGrpSpPr>
          <p:cNvPr id="5" name="Group 4">
            <a:extLst>
              <a:ext uri="{FF2B5EF4-FFF2-40B4-BE49-F238E27FC236}">
                <a16:creationId xmlns:a16="http://schemas.microsoft.com/office/drawing/2014/main" id="{FB3E57E4-CC02-A106-2B4A-72D6C12F310D}"/>
              </a:ext>
            </a:extLst>
          </p:cNvPr>
          <p:cNvGrpSpPr/>
          <p:nvPr/>
        </p:nvGrpSpPr>
        <p:grpSpPr>
          <a:xfrm>
            <a:off x="6613824" y="3001475"/>
            <a:ext cx="921301" cy="2109799"/>
            <a:chOff x="7101042" y="1560629"/>
            <a:chExt cx="700800" cy="1891682"/>
          </a:xfrm>
        </p:grpSpPr>
        <p:pic>
          <p:nvPicPr>
            <p:cNvPr id="3" name="Google Shape;97;p18">
              <a:extLst>
                <a:ext uri="{FF2B5EF4-FFF2-40B4-BE49-F238E27FC236}">
                  <a16:creationId xmlns:a16="http://schemas.microsoft.com/office/drawing/2014/main" id="{181EDB04-B787-03BE-1D01-36AD62344E61}"/>
                </a:ext>
              </a:extLst>
            </p:cNvPr>
            <p:cNvPicPr preferRelativeResize="0"/>
            <p:nvPr/>
          </p:nvPicPr>
          <p:blipFill>
            <a:blip r:embed="rId3">
              <a:alphaModFix/>
            </a:blip>
            <a:srcRect l="24950" t="12944" r="19460" b="38404"/>
            <a:stretch>
              <a:fillRect/>
            </a:stretch>
          </p:blipFill>
          <p:spPr>
            <a:xfrm>
              <a:off x="7101042" y="1560629"/>
              <a:ext cx="700800" cy="1891682"/>
            </a:xfrm>
            <a:prstGeom prst="rect">
              <a:avLst/>
            </a:prstGeom>
            <a:noFill/>
            <a:ln>
              <a:noFill/>
            </a:ln>
          </p:spPr>
        </p:pic>
        <p:sp>
          <p:nvSpPr>
            <p:cNvPr id="4" name="Rectangle 3">
              <a:extLst>
                <a:ext uri="{FF2B5EF4-FFF2-40B4-BE49-F238E27FC236}">
                  <a16:creationId xmlns:a16="http://schemas.microsoft.com/office/drawing/2014/main" id="{D619FF39-6842-1E6B-0EEB-F86C5DA2298B}"/>
                </a:ext>
              </a:extLst>
            </p:cNvPr>
            <p:cNvSpPr/>
            <p:nvPr/>
          </p:nvSpPr>
          <p:spPr>
            <a:xfrm>
              <a:off x="7294754" y="1608639"/>
              <a:ext cx="219291" cy="1787859"/>
            </a:xfrm>
            <a:prstGeom prst="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6" name="Google Shape;117;p19">
                <a:extLst>
                  <a:ext uri="{FF2B5EF4-FFF2-40B4-BE49-F238E27FC236}">
                    <a16:creationId xmlns:a16="http://schemas.microsoft.com/office/drawing/2014/main" id="{D93B3B74-959E-77F6-CA72-6D5DE008660B}"/>
                  </a:ext>
                </a:extLst>
              </p:cNvPr>
              <p:cNvSpPr txBox="1"/>
              <p:nvPr/>
            </p:nvSpPr>
            <p:spPr>
              <a:xfrm>
                <a:off x="337307" y="3754000"/>
                <a:ext cx="5780243" cy="1129067"/>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 sz="1800" dirty="0">
                    <a:solidFill>
                      <a:schemeClr val="dk2"/>
                    </a:solidFill>
                  </a:rPr>
                  <a:t>Bridgman-Stockbarger </a:t>
                </a:r>
                <a14:m>
                  <m:oMath xmlns:m="http://schemas.openxmlformats.org/officeDocument/2006/math">
                    <m:r>
                      <a:rPr lang="en-US" sz="1800" b="0" i="1" smtClean="0">
                        <a:solidFill>
                          <a:schemeClr val="dk2"/>
                        </a:solidFill>
                        <a:latin typeface="Cambria Math" panose="02040503050406030204" pitchFamily="18" charset="0"/>
                      </a:rPr>
                      <m:t>⇒</m:t>
                    </m:r>
                  </m:oMath>
                </a14:m>
                <a:r>
                  <a:rPr lang="en" sz="1800" dirty="0">
                    <a:solidFill>
                      <a:schemeClr val="dk2"/>
                    </a:solidFill>
                  </a:rPr>
                  <a:t> inner + outer chamber</a:t>
                </a:r>
              </a:p>
              <a:p>
                <a:pPr marL="285750" lvl="0" indent="-285750" algn="l" rtl="0">
                  <a:spcBef>
                    <a:spcPts val="0"/>
                  </a:spcBef>
                  <a:spcAft>
                    <a:spcPts val="0"/>
                  </a:spcAft>
                  <a:buFont typeface="Wingdings" panose="05000000000000000000" pitchFamily="2" charset="2"/>
                  <a:buChar char="§"/>
                </a:pPr>
                <a:r>
                  <a:rPr lang="en-US" sz="1800" dirty="0">
                    <a:solidFill>
                      <a:schemeClr val="dk2"/>
                    </a:solidFill>
                  </a:rPr>
                  <a:t>X-ray compatibility </a:t>
                </a:r>
                <a14:m>
                  <m:oMath xmlns:m="http://schemas.openxmlformats.org/officeDocument/2006/math">
                    <m:r>
                      <a:rPr lang="en-US" sz="1800" b="0" i="1" smtClean="0">
                        <a:solidFill>
                          <a:schemeClr val="dk2"/>
                        </a:solidFill>
                        <a:latin typeface="Cambria Math" panose="02040503050406030204" pitchFamily="18" charset="0"/>
                      </a:rPr>
                      <m:t>⇒</m:t>
                    </m:r>
                  </m:oMath>
                </a14:m>
                <a:r>
                  <a:rPr lang="en" sz="1800" dirty="0">
                    <a:solidFill>
                      <a:schemeClr val="dk2"/>
                    </a:solidFill>
                  </a:rPr>
                  <a:t> strict spatial contraints</a:t>
                </a:r>
              </a:p>
              <a:p>
                <a:pPr marL="285750" lvl="0" indent="-285750" algn="l" rtl="0">
                  <a:spcBef>
                    <a:spcPts val="0"/>
                  </a:spcBef>
                  <a:spcAft>
                    <a:spcPts val="0"/>
                  </a:spcAft>
                  <a:buFont typeface="Wingdings" panose="05000000000000000000" pitchFamily="2" charset="2"/>
                  <a:buChar char="§"/>
                </a:pPr>
                <a14:m>
                  <m:oMath xmlns:m="http://schemas.openxmlformats.org/officeDocument/2006/math">
                    <m:r>
                      <a:rPr lang="en-US" sz="1800" b="0" i="1" smtClean="0">
                        <a:solidFill>
                          <a:schemeClr val="dk2"/>
                        </a:solidFill>
                        <a:latin typeface="Cambria Math" panose="02040503050406030204" pitchFamily="18" charset="0"/>
                      </a:rPr>
                      <m:t>⇒</m:t>
                    </m:r>
                  </m:oMath>
                </a14:m>
                <a:r>
                  <a:rPr lang="en" sz="1800" dirty="0">
                    <a:solidFill>
                      <a:schemeClr val="dk2"/>
                    </a:solidFill>
                  </a:rPr>
                  <a:t> long path to reduce heat loads</a:t>
                </a: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p:txBody>
          </p:sp>
        </mc:Choice>
        <mc:Fallback xmlns="">
          <p:sp>
            <p:nvSpPr>
              <p:cNvPr id="6" name="Google Shape;117;p19">
                <a:extLst>
                  <a:ext uri="{FF2B5EF4-FFF2-40B4-BE49-F238E27FC236}">
                    <a16:creationId xmlns:a16="http://schemas.microsoft.com/office/drawing/2014/main" id="{D93B3B74-959E-77F6-CA72-6D5DE008660B}"/>
                  </a:ext>
                </a:extLst>
              </p:cNvPr>
              <p:cNvSpPr txBox="1">
                <a:spLocks noRot="1" noChangeAspect="1" noMove="1" noResize="1" noEditPoints="1" noAdjustHandles="1" noChangeArrowheads="1" noChangeShapeType="1" noTextEdit="1"/>
              </p:cNvSpPr>
              <p:nvPr/>
            </p:nvSpPr>
            <p:spPr>
              <a:xfrm>
                <a:off x="337307" y="3754000"/>
                <a:ext cx="5780243" cy="1129067"/>
              </a:xfrm>
              <a:prstGeom prst="rect">
                <a:avLst/>
              </a:prstGeom>
              <a:blipFill>
                <a:blip r:embed="rId4"/>
                <a:stretch>
                  <a:fillRect l="-632"/>
                </a:stretch>
              </a:blipFill>
              <a:ln>
                <a:noFill/>
              </a:ln>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p:nvPr/>
        </p:nvSpPr>
        <p:spPr>
          <a:xfrm rot="-5400000">
            <a:off x="4746550" y="-535650"/>
            <a:ext cx="706800" cy="5989200"/>
          </a:xfrm>
          <a:prstGeom prst="rect">
            <a:avLst/>
          </a:prstGeom>
          <a:solidFill>
            <a:schemeClr val="l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 name="Google Shape;172;p22"/>
          <p:cNvSpPr/>
          <p:nvPr/>
        </p:nvSpPr>
        <p:spPr>
          <a:xfrm rot="5400000">
            <a:off x="4575227" y="-588921"/>
            <a:ext cx="664945" cy="6098400"/>
          </a:xfrm>
          <a:prstGeom prst="flowChartMerge">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2"/>
          <p:cNvSpPr/>
          <p:nvPr/>
        </p:nvSpPr>
        <p:spPr>
          <a:xfrm>
            <a:off x="7957300" y="2100000"/>
            <a:ext cx="131400" cy="717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22"/>
          <p:cNvSpPr txBox="1"/>
          <p:nvPr/>
        </p:nvSpPr>
        <p:spPr>
          <a:xfrm>
            <a:off x="8352298" y="2242050"/>
            <a:ext cx="1012500" cy="3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cm</a:t>
            </a:r>
            <a:endParaRPr sz="1800">
              <a:solidFill>
                <a:schemeClr val="dk1"/>
              </a:solidFill>
            </a:endParaRPr>
          </a:p>
        </p:txBody>
      </p:sp>
      <p:sp>
        <p:nvSpPr>
          <p:cNvPr id="175" name="Google Shape;175;p22"/>
          <p:cNvSpPr/>
          <p:nvPr/>
        </p:nvSpPr>
        <p:spPr>
          <a:xfrm>
            <a:off x="8131499" y="2129250"/>
            <a:ext cx="220800" cy="659400"/>
          </a:xfrm>
          <a:prstGeom prst="rightBrace">
            <a:avLst>
              <a:gd name="adj1" fmla="val 50000"/>
              <a:gd name="adj2" fmla="val 5002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p22"/>
          <p:cNvSpPr/>
          <p:nvPr/>
        </p:nvSpPr>
        <p:spPr>
          <a:xfrm rot="-5400000">
            <a:off x="-103843" y="2884775"/>
            <a:ext cx="882300" cy="5631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 name="Google Shape;177;p22"/>
          <p:cNvSpPr/>
          <p:nvPr/>
        </p:nvSpPr>
        <p:spPr>
          <a:xfrm rot="-5400000">
            <a:off x="1041057" y="1604992"/>
            <a:ext cx="1186200" cy="17079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 name="Google Shape;178;p22"/>
          <p:cNvSpPr/>
          <p:nvPr/>
        </p:nvSpPr>
        <p:spPr>
          <a:xfrm>
            <a:off x="1054981" y="1201466"/>
            <a:ext cx="131400" cy="78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 name="Google Shape;179;p22"/>
          <p:cNvSpPr/>
          <p:nvPr/>
        </p:nvSpPr>
        <p:spPr>
          <a:xfrm>
            <a:off x="104357" y="3225800"/>
            <a:ext cx="465900" cy="281400"/>
          </a:xfrm>
          <a:prstGeom prst="flowChartAlternateProcess">
            <a:avLst/>
          </a:prstGeom>
          <a:solidFill>
            <a:schemeClr val="lt2"/>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Rb</a:t>
            </a:r>
            <a:endParaRPr/>
          </a:p>
        </p:txBody>
      </p:sp>
      <p:sp>
        <p:nvSpPr>
          <p:cNvPr id="180" name="Google Shape;180;p22"/>
          <p:cNvSpPr txBox="1"/>
          <p:nvPr/>
        </p:nvSpPr>
        <p:spPr>
          <a:xfrm>
            <a:off x="1359824" y="1527407"/>
            <a:ext cx="6891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Ar</a:t>
            </a:r>
            <a:endParaRPr sz="1600">
              <a:solidFill>
                <a:schemeClr val="dk1"/>
              </a:solidFill>
            </a:endParaRPr>
          </a:p>
        </p:txBody>
      </p:sp>
      <p:sp>
        <p:nvSpPr>
          <p:cNvPr id="181" name="Google Shape;181;p22"/>
          <p:cNvSpPr/>
          <p:nvPr/>
        </p:nvSpPr>
        <p:spPr>
          <a:xfrm>
            <a:off x="1096832" y="1674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2"/>
          <p:cNvSpPr/>
          <p:nvPr/>
        </p:nvSpPr>
        <p:spPr>
          <a:xfrm rot="5400000">
            <a:off x="688307" y="2688700"/>
            <a:ext cx="93600" cy="4137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3" name="Google Shape;183;p22"/>
          <p:cNvCxnSpPr/>
          <p:nvPr/>
        </p:nvCxnSpPr>
        <p:spPr>
          <a:xfrm>
            <a:off x="1121657" y="1482525"/>
            <a:ext cx="6000" cy="820500"/>
          </a:xfrm>
          <a:prstGeom prst="straightConnector1">
            <a:avLst/>
          </a:prstGeom>
          <a:noFill/>
          <a:ln w="19050" cap="flat" cmpd="sng">
            <a:solidFill>
              <a:srgbClr val="4A86E8"/>
            </a:solidFill>
            <a:prstDash val="solid"/>
            <a:round/>
            <a:headEnd type="none" w="med" len="med"/>
            <a:tailEnd type="triangle" w="med" len="med"/>
          </a:ln>
        </p:spPr>
      </p:cxnSp>
      <p:sp>
        <p:nvSpPr>
          <p:cNvPr id="184" name="Google Shape;184;p22"/>
          <p:cNvSpPr/>
          <p:nvPr/>
        </p:nvSpPr>
        <p:spPr>
          <a:xfrm rot="-5400000">
            <a:off x="770132" y="2503150"/>
            <a:ext cx="47700" cy="784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5" name="Google Shape;185;p22"/>
          <p:cNvCxnSpPr>
            <a:stCxn id="184" idx="0"/>
            <a:endCxn id="184" idx="2"/>
          </p:cNvCxnSpPr>
          <p:nvPr/>
        </p:nvCxnSpPr>
        <p:spPr>
          <a:xfrm>
            <a:off x="401582" y="2895550"/>
            <a:ext cx="784800" cy="0"/>
          </a:xfrm>
          <a:prstGeom prst="straightConnector1">
            <a:avLst/>
          </a:prstGeom>
          <a:noFill/>
          <a:ln w="19050" cap="flat" cmpd="sng">
            <a:solidFill>
              <a:srgbClr val="980000"/>
            </a:solidFill>
            <a:prstDash val="solid"/>
            <a:round/>
            <a:headEnd type="none" w="med" len="med"/>
            <a:tailEnd type="triangle" w="med" len="med"/>
          </a:ln>
        </p:spPr>
      </p:cxnSp>
      <p:sp>
        <p:nvSpPr>
          <p:cNvPr id="186" name="Google Shape;186;p22"/>
          <p:cNvSpPr/>
          <p:nvPr/>
        </p:nvSpPr>
        <p:spPr>
          <a:xfrm rot="-5400000">
            <a:off x="1867397" y="2381100"/>
            <a:ext cx="1186200" cy="1557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 name="Google Shape;187;p22"/>
          <p:cNvSpPr txBox="1"/>
          <p:nvPr/>
        </p:nvSpPr>
        <p:spPr>
          <a:xfrm>
            <a:off x="2866726" y="1366925"/>
            <a:ext cx="2088900"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Collimating Nozzle</a:t>
            </a:r>
            <a:endParaRPr sz="1600">
              <a:solidFill>
                <a:schemeClr val="dk1"/>
              </a:solidFill>
            </a:endParaRPr>
          </a:p>
        </p:txBody>
      </p:sp>
      <p:cxnSp>
        <p:nvCxnSpPr>
          <p:cNvPr id="188" name="Google Shape;188;p22"/>
          <p:cNvCxnSpPr>
            <a:stCxn id="187" idx="1"/>
          </p:cNvCxnSpPr>
          <p:nvPr/>
        </p:nvCxnSpPr>
        <p:spPr>
          <a:xfrm flipH="1">
            <a:off x="2565526" y="1593875"/>
            <a:ext cx="301200" cy="198600"/>
          </a:xfrm>
          <a:prstGeom prst="straightConnector1">
            <a:avLst/>
          </a:prstGeom>
          <a:noFill/>
          <a:ln w="9525" cap="flat" cmpd="sng">
            <a:solidFill>
              <a:schemeClr val="dk1"/>
            </a:solidFill>
            <a:prstDash val="solid"/>
            <a:round/>
            <a:headEnd type="none" w="med" len="med"/>
            <a:tailEnd type="triangle" w="med" len="med"/>
          </a:ln>
        </p:spPr>
      </p:cxnSp>
      <p:cxnSp>
        <p:nvCxnSpPr>
          <p:cNvPr id="189" name="Google Shape;189;p22"/>
          <p:cNvCxnSpPr/>
          <p:nvPr/>
        </p:nvCxnSpPr>
        <p:spPr>
          <a:xfrm>
            <a:off x="2110107" y="2458950"/>
            <a:ext cx="700800" cy="0"/>
          </a:xfrm>
          <a:prstGeom prst="straightConnector1">
            <a:avLst/>
          </a:prstGeom>
          <a:noFill/>
          <a:ln w="19050" cap="flat" cmpd="sng">
            <a:solidFill>
              <a:schemeClr val="dk2"/>
            </a:solidFill>
            <a:prstDash val="solid"/>
            <a:round/>
            <a:headEnd type="none" w="med" len="med"/>
            <a:tailEnd type="triangle" w="med" len="med"/>
          </a:ln>
        </p:spPr>
      </p:cxnSp>
      <p:sp>
        <p:nvSpPr>
          <p:cNvPr id="191" name="Google Shape;191;p22"/>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Beam Source Constraints</a:t>
            </a:r>
            <a:endParaRPr b="1" u="sng"/>
          </a:p>
        </p:txBody>
      </p:sp>
      <p:sp>
        <p:nvSpPr>
          <p:cNvPr id="192" name="Google Shape;192;p22"/>
          <p:cNvSpPr/>
          <p:nvPr/>
        </p:nvSpPr>
        <p:spPr>
          <a:xfrm rot="5400000">
            <a:off x="5075500" y="265800"/>
            <a:ext cx="269400" cy="5373600"/>
          </a:xfrm>
          <a:prstGeom prst="rightBrace">
            <a:avLst>
              <a:gd name="adj1" fmla="val 50000"/>
              <a:gd name="adj2" fmla="val 5002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22"/>
          <p:cNvSpPr txBox="1"/>
          <p:nvPr/>
        </p:nvSpPr>
        <p:spPr>
          <a:xfrm>
            <a:off x="4763398" y="3001475"/>
            <a:ext cx="1012500" cy="3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~0.5 m</a:t>
            </a:r>
            <a:endParaRPr sz="1800">
              <a:solidFill>
                <a:schemeClr val="dk1"/>
              </a:solidFill>
            </a:endParaRPr>
          </a:p>
        </p:txBody>
      </p:sp>
      <p:sp>
        <p:nvSpPr>
          <p:cNvPr id="2" name="Google Shape;117;p19">
            <a:extLst>
              <a:ext uri="{FF2B5EF4-FFF2-40B4-BE49-F238E27FC236}">
                <a16:creationId xmlns:a16="http://schemas.microsoft.com/office/drawing/2014/main" id="{86471A52-E936-6EF0-1176-8C5B01073815}"/>
              </a:ext>
            </a:extLst>
          </p:cNvPr>
          <p:cNvSpPr txBox="1"/>
          <p:nvPr/>
        </p:nvSpPr>
        <p:spPr>
          <a:xfrm>
            <a:off x="337307" y="3790650"/>
            <a:ext cx="4553285" cy="4794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US" sz="1800" b="0" dirty="0">
                <a:solidFill>
                  <a:schemeClr val="dk2"/>
                </a:solidFill>
              </a:rPr>
              <a:t>Need large </a:t>
            </a:r>
            <a:r>
              <a:rPr lang="en-US" sz="1800" b="0" dirty="0" err="1">
                <a:solidFill>
                  <a:schemeClr val="dk2"/>
                </a:solidFill>
              </a:rPr>
              <a:t>Ar</a:t>
            </a:r>
            <a:r>
              <a:rPr lang="en-US" sz="1800" b="0" dirty="0">
                <a:solidFill>
                  <a:schemeClr val="dk2"/>
                </a:solidFill>
                <a:latin typeface="Cambria Math" panose="02040503050406030204" pitchFamily="18" charset="0"/>
              </a:rPr>
              <a:t> flux</a:t>
            </a:r>
            <a:endParaRPr lang="en-US" sz="1800" dirty="0">
              <a:solidFill>
                <a:schemeClr val="dk2"/>
              </a:solidFill>
              <a:latin typeface="Cambria Math" panose="02040503050406030204" pitchFamily="18" charset="0"/>
            </a:endParaRPr>
          </a:p>
          <a:p>
            <a:pPr marL="285750" lvl="0" indent="-285750" algn="l" rtl="0">
              <a:spcBef>
                <a:spcPts val="0"/>
              </a:spcBef>
              <a:spcAft>
                <a:spcPts val="0"/>
              </a:spcAft>
              <a:buFont typeface="Wingdings" panose="05000000000000000000" pitchFamily="2" charset="2"/>
              <a:buChar char="§"/>
            </a:pPr>
            <a:r>
              <a:rPr lang="en-US" sz="1800" dirty="0">
                <a:solidFill>
                  <a:schemeClr val="dk2"/>
                </a:solidFill>
                <a:latin typeface="Cambria Math" panose="02040503050406030204" pitchFamily="18" charset="0"/>
              </a:rPr>
              <a:t>Narrow divergence</a:t>
            </a:r>
            <a:endParaRPr lang="en-US" sz="1800" b="0" i="1" dirty="0">
              <a:solidFill>
                <a:schemeClr val="dk2"/>
              </a:solidFill>
              <a:latin typeface="Cambria Math" panose="02040503050406030204" pitchFamily="18" charset="0"/>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a:p>
            <a:pPr marL="285750" lvl="0" indent="-285750" algn="l" rtl="0">
              <a:spcBef>
                <a:spcPts val="0"/>
              </a:spcBef>
              <a:spcAft>
                <a:spcPts val="0"/>
              </a:spcAft>
              <a:buFont typeface="Wingdings" panose="05000000000000000000" pitchFamily="2" charset="2"/>
              <a:buChar char="§"/>
            </a:pPr>
            <a:endParaRPr lang="en" sz="1800" dirty="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0" name="Google Shape;198;p23">
            <a:extLst>
              <a:ext uri="{FF2B5EF4-FFF2-40B4-BE49-F238E27FC236}">
                <a16:creationId xmlns:a16="http://schemas.microsoft.com/office/drawing/2014/main" id="{DDF21BE8-7515-F71C-DEEA-87B7E214879A}"/>
              </a:ext>
            </a:extLst>
          </p:cNvPr>
          <p:cNvSpPr/>
          <p:nvPr/>
        </p:nvSpPr>
        <p:spPr>
          <a:xfrm>
            <a:off x="5406630" y="3102101"/>
            <a:ext cx="3539068" cy="1612795"/>
          </a:xfrm>
          <a:prstGeom prst="rect">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25"/>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Microcapillary Nozzle Array</a:t>
            </a:r>
            <a:endParaRPr b="1" u="sng" dirty="0"/>
          </a:p>
        </p:txBody>
      </p:sp>
      <p:pic>
        <p:nvPicPr>
          <p:cNvPr id="222" name="Google Shape;222;p25" title="IMG_6104.HEIC"/>
          <p:cNvPicPr preferRelativeResize="0"/>
          <p:nvPr/>
        </p:nvPicPr>
        <p:blipFill>
          <a:blip r:embed="rId3">
            <a:alphaModFix/>
          </a:blip>
          <a:stretch>
            <a:fillRect/>
          </a:stretch>
        </p:blipFill>
        <p:spPr>
          <a:xfrm>
            <a:off x="526291" y="3106178"/>
            <a:ext cx="1411669" cy="1585047"/>
          </a:xfrm>
          <a:prstGeom prst="rect">
            <a:avLst/>
          </a:prstGeom>
          <a:noFill/>
          <a:ln>
            <a:noFill/>
          </a:ln>
        </p:spPr>
      </p:pic>
      <p:pic>
        <p:nvPicPr>
          <p:cNvPr id="223" name="Google Shape;223;p25" title="IMG_6110.HEIC"/>
          <p:cNvPicPr preferRelativeResize="0"/>
          <p:nvPr/>
        </p:nvPicPr>
        <p:blipFill>
          <a:blip r:embed="rId4">
            <a:alphaModFix/>
          </a:blip>
          <a:stretch>
            <a:fillRect/>
          </a:stretch>
        </p:blipFill>
        <p:spPr>
          <a:xfrm>
            <a:off x="2025801" y="3106178"/>
            <a:ext cx="1411669" cy="1585060"/>
          </a:xfrm>
          <a:prstGeom prst="rect">
            <a:avLst/>
          </a:prstGeom>
          <a:noFill/>
          <a:ln>
            <a:noFill/>
          </a:ln>
        </p:spPr>
      </p:pic>
      <p:pic>
        <p:nvPicPr>
          <p:cNvPr id="224" name="Google Shape;224;p25"/>
          <p:cNvPicPr preferRelativeResize="0"/>
          <p:nvPr/>
        </p:nvPicPr>
        <p:blipFill rotWithShape="1">
          <a:blip r:embed="rId5">
            <a:alphaModFix/>
          </a:blip>
          <a:srcRect l="47121" t="2483" b="10073"/>
          <a:stretch/>
        </p:blipFill>
        <p:spPr>
          <a:xfrm>
            <a:off x="3558012" y="3106165"/>
            <a:ext cx="1474760" cy="1585060"/>
          </a:xfrm>
          <a:prstGeom prst="rect">
            <a:avLst/>
          </a:prstGeom>
          <a:noFill/>
          <a:ln>
            <a:noFill/>
          </a:ln>
        </p:spPr>
      </p:pic>
      <p:sp>
        <p:nvSpPr>
          <p:cNvPr id="225" name="Google Shape;225;p25"/>
          <p:cNvSpPr txBox="1"/>
          <p:nvPr/>
        </p:nvSpPr>
        <p:spPr>
          <a:xfrm>
            <a:off x="1967836" y="4651075"/>
            <a:ext cx="1560300" cy="24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Oven Side</a:t>
            </a:r>
            <a:endParaRPr dirty="0">
              <a:solidFill>
                <a:schemeClr val="dk2"/>
              </a:solidFill>
            </a:endParaRPr>
          </a:p>
        </p:txBody>
      </p:sp>
      <p:sp>
        <p:nvSpPr>
          <p:cNvPr id="226" name="Google Shape;226;p25"/>
          <p:cNvSpPr txBox="1"/>
          <p:nvPr/>
        </p:nvSpPr>
        <p:spPr>
          <a:xfrm>
            <a:off x="3437470" y="4629435"/>
            <a:ext cx="24735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Growth Chamber Side</a:t>
            </a:r>
            <a:endParaRPr dirty="0">
              <a:solidFill>
                <a:schemeClr val="dk2"/>
              </a:solidFill>
            </a:endParaRPr>
          </a:p>
        </p:txBody>
      </p:sp>
      <p:sp>
        <p:nvSpPr>
          <p:cNvPr id="2" name="Google Shape;215;p24">
            <a:extLst>
              <a:ext uri="{FF2B5EF4-FFF2-40B4-BE49-F238E27FC236}">
                <a16:creationId xmlns:a16="http://schemas.microsoft.com/office/drawing/2014/main" id="{F64D9848-CC78-5D95-22DF-4F9AEE966648}"/>
              </a:ext>
            </a:extLst>
          </p:cNvPr>
          <p:cNvSpPr txBox="1"/>
          <p:nvPr/>
        </p:nvSpPr>
        <p:spPr>
          <a:xfrm>
            <a:off x="4896300" y="1161696"/>
            <a:ext cx="4247700" cy="389400"/>
          </a:xfrm>
          <a:prstGeom prst="rect">
            <a:avLst/>
          </a:prstGeom>
          <a:noFill/>
          <a:ln>
            <a:noFill/>
          </a:ln>
        </p:spPr>
        <p:txBody>
          <a:bodyPr spcFirstLastPara="1" wrap="square" lIns="91425" tIns="91425" rIns="91425" bIns="91425" anchor="t" anchorCtr="0">
            <a:noAutofit/>
          </a:bodyPr>
          <a:lstStyle/>
          <a:p>
            <a:pPr marL="285750" lvl="0" indent="-285750">
              <a:buFont typeface="Wingdings" panose="05000000000000000000" pitchFamily="2" charset="2"/>
              <a:buChar char="§"/>
            </a:pPr>
            <a:r>
              <a:rPr lang="en-US" sz="1800" dirty="0">
                <a:solidFill>
                  <a:schemeClr val="dk2"/>
                </a:solidFill>
              </a:rPr>
              <a:t>231, 100 </a:t>
            </a:r>
            <a:r>
              <a:rPr lang="en-US" sz="1800" dirty="0">
                <a:solidFill>
                  <a:schemeClr val="dk2"/>
                </a:solidFill>
                <a:latin typeface="Lao UI" panose="020B0502040204020203" pitchFamily="34" charset="0"/>
                <a:cs typeface="Lao UI" panose="020B0502040204020203" pitchFamily="34" charset="0"/>
              </a:rPr>
              <a:t>µ</a:t>
            </a:r>
            <a:r>
              <a:rPr lang="en-US" sz="1800" dirty="0">
                <a:solidFill>
                  <a:schemeClr val="dk2"/>
                </a:solidFill>
              </a:rPr>
              <a:t>m ID, ~0.8 cm length microcapillaries</a:t>
            </a:r>
          </a:p>
          <a:p>
            <a:pPr marL="285750" lvl="0" indent="-285750">
              <a:buFont typeface="Wingdings" panose="05000000000000000000" pitchFamily="2" charset="2"/>
              <a:buChar char="§"/>
            </a:pPr>
            <a:r>
              <a:rPr lang="en-US" sz="1800" dirty="0">
                <a:solidFill>
                  <a:schemeClr val="dk2"/>
                </a:solidFill>
              </a:rPr>
              <a:t>Wire EDM cut 5ft microcapillary from </a:t>
            </a:r>
            <a:r>
              <a:rPr lang="en-US" sz="1800" dirty="0" err="1">
                <a:solidFill>
                  <a:schemeClr val="dk2"/>
                </a:solidFill>
              </a:rPr>
              <a:t>MicroGroup</a:t>
            </a:r>
            <a:endParaRPr lang="en-US" sz="1800" dirty="0">
              <a:solidFill>
                <a:schemeClr val="dk2"/>
              </a:solidFill>
            </a:endParaRPr>
          </a:p>
          <a:p>
            <a:pPr marL="285750" lvl="0" indent="-285750" algn="l" rtl="0">
              <a:spcBef>
                <a:spcPts val="0"/>
              </a:spcBef>
              <a:spcAft>
                <a:spcPts val="0"/>
              </a:spcAft>
              <a:buFont typeface="Wingdings" panose="05000000000000000000" pitchFamily="2" charset="2"/>
              <a:buChar char="§"/>
            </a:pPr>
            <a:r>
              <a:rPr lang="en-US" sz="1800" dirty="0">
                <a:solidFill>
                  <a:schemeClr val="dk2"/>
                </a:solidFill>
              </a:rPr>
              <a:t>Wire EDM cut 2.75” CF flange</a:t>
            </a:r>
          </a:p>
          <a:p>
            <a:pPr lvl="0" algn="l" rtl="0">
              <a:spcBef>
                <a:spcPts val="0"/>
              </a:spcBef>
              <a:spcAft>
                <a:spcPts val="0"/>
              </a:spcAft>
            </a:pPr>
            <a:endParaRPr sz="1800" dirty="0">
              <a:solidFill>
                <a:schemeClr val="dk2"/>
              </a:solidFill>
            </a:endParaRPr>
          </a:p>
        </p:txBody>
      </p:sp>
      <p:sp>
        <p:nvSpPr>
          <p:cNvPr id="3" name="Google Shape;225;p25">
            <a:extLst>
              <a:ext uri="{FF2B5EF4-FFF2-40B4-BE49-F238E27FC236}">
                <a16:creationId xmlns:a16="http://schemas.microsoft.com/office/drawing/2014/main" id="{F80D26C9-9771-8AA1-259C-BF3C0ACBEDF3}"/>
              </a:ext>
            </a:extLst>
          </p:cNvPr>
          <p:cNvSpPr txBox="1"/>
          <p:nvPr/>
        </p:nvSpPr>
        <p:spPr>
          <a:xfrm>
            <a:off x="465501" y="4636975"/>
            <a:ext cx="1560300" cy="24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Assembly Setup</a:t>
            </a:r>
            <a:endParaRPr dirty="0">
              <a:solidFill>
                <a:schemeClr val="dk2"/>
              </a:solidFill>
            </a:endParaRPr>
          </a:p>
        </p:txBody>
      </p:sp>
      <p:pic>
        <p:nvPicPr>
          <p:cNvPr id="4" name="Google Shape;210;p24">
            <a:extLst>
              <a:ext uri="{FF2B5EF4-FFF2-40B4-BE49-F238E27FC236}">
                <a16:creationId xmlns:a16="http://schemas.microsoft.com/office/drawing/2014/main" id="{049E953B-E025-87B0-FCFB-A3861E7F88A7}"/>
              </a:ext>
            </a:extLst>
          </p:cNvPr>
          <p:cNvPicPr preferRelativeResize="0"/>
          <p:nvPr/>
        </p:nvPicPr>
        <p:blipFill rotWithShape="1">
          <a:blip r:embed="rId6">
            <a:alphaModFix/>
          </a:blip>
          <a:srcRect t="23430" b="16996"/>
          <a:stretch/>
        </p:blipFill>
        <p:spPr>
          <a:xfrm>
            <a:off x="2140802" y="1288558"/>
            <a:ext cx="1411669" cy="1531559"/>
          </a:xfrm>
          <a:prstGeom prst="rect">
            <a:avLst/>
          </a:prstGeom>
          <a:noFill/>
          <a:ln>
            <a:noFill/>
          </a:ln>
        </p:spPr>
      </p:pic>
      <p:pic>
        <p:nvPicPr>
          <p:cNvPr id="5" name="Google Shape;211;p24">
            <a:extLst>
              <a:ext uri="{FF2B5EF4-FFF2-40B4-BE49-F238E27FC236}">
                <a16:creationId xmlns:a16="http://schemas.microsoft.com/office/drawing/2014/main" id="{8F349016-A8EC-2F6A-46F4-31770B221D79}"/>
              </a:ext>
            </a:extLst>
          </p:cNvPr>
          <p:cNvPicPr preferRelativeResize="0"/>
          <p:nvPr/>
        </p:nvPicPr>
        <p:blipFill rotWithShape="1">
          <a:blip r:embed="rId7">
            <a:alphaModFix/>
          </a:blip>
          <a:srcRect l="10669" t="28810" r="8751"/>
          <a:stretch/>
        </p:blipFill>
        <p:spPr>
          <a:xfrm>
            <a:off x="526291" y="1289277"/>
            <a:ext cx="1411669" cy="1536140"/>
          </a:xfrm>
          <a:prstGeom prst="rect">
            <a:avLst/>
          </a:prstGeom>
          <a:noFill/>
          <a:ln>
            <a:noFill/>
          </a:ln>
        </p:spPr>
      </p:pic>
      <p:cxnSp>
        <p:nvCxnSpPr>
          <p:cNvPr id="6" name="Google Shape;212;p24">
            <a:extLst>
              <a:ext uri="{FF2B5EF4-FFF2-40B4-BE49-F238E27FC236}">
                <a16:creationId xmlns:a16="http://schemas.microsoft.com/office/drawing/2014/main" id="{202D9C79-E63A-2AF9-B63D-2F4F4D10FD33}"/>
              </a:ext>
            </a:extLst>
          </p:cNvPr>
          <p:cNvCxnSpPr>
            <a:cxnSpLocks/>
          </p:cNvCxnSpPr>
          <p:nvPr/>
        </p:nvCxnSpPr>
        <p:spPr>
          <a:xfrm flipH="1" flipV="1">
            <a:off x="1449170" y="1566508"/>
            <a:ext cx="1133690" cy="436037"/>
          </a:xfrm>
          <a:prstGeom prst="straightConnector1">
            <a:avLst/>
          </a:prstGeom>
          <a:noFill/>
          <a:ln w="19050" cap="flat" cmpd="sng">
            <a:solidFill>
              <a:schemeClr val="dk1"/>
            </a:solidFill>
            <a:prstDash val="solid"/>
            <a:round/>
            <a:headEnd type="none" w="med" len="med"/>
            <a:tailEnd type="triangle" w="med" len="med"/>
          </a:ln>
        </p:spPr>
      </p:cxnSp>
      <p:cxnSp>
        <p:nvCxnSpPr>
          <p:cNvPr id="7" name="Google Shape;213;p24">
            <a:extLst>
              <a:ext uri="{FF2B5EF4-FFF2-40B4-BE49-F238E27FC236}">
                <a16:creationId xmlns:a16="http://schemas.microsoft.com/office/drawing/2014/main" id="{C53DE5D9-DFD3-714F-7AC8-4C19376954C8}"/>
              </a:ext>
            </a:extLst>
          </p:cNvPr>
          <p:cNvCxnSpPr>
            <a:cxnSpLocks/>
          </p:cNvCxnSpPr>
          <p:nvPr/>
        </p:nvCxnSpPr>
        <p:spPr>
          <a:xfrm flipV="1">
            <a:off x="3111596" y="2286930"/>
            <a:ext cx="165503" cy="560935"/>
          </a:xfrm>
          <a:prstGeom prst="straightConnector1">
            <a:avLst/>
          </a:prstGeom>
          <a:noFill/>
          <a:ln w="9525" cap="flat" cmpd="sng">
            <a:solidFill>
              <a:schemeClr val="tx1"/>
            </a:solidFill>
            <a:prstDash val="solid"/>
            <a:round/>
            <a:headEnd type="none" w="med" len="med"/>
            <a:tailEnd type="triangle" w="med" len="med"/>
          </a:ln>
        </p:spPr>
      </p:cxnSp>
      <p:sp>
        <p:nvSpPr>
          <p:cNvPr id="8" name="Google Shape;214;p24">
            <a:extLst>
              <a:ext uri="{FF2B5EF4-FFF2-40B4-BE49-F238E27FC236}">
                <a16:creationId xmlns:a16="http://schemas.microsoft.com/office/drawing/2014/main" id="{287C20F7-763E-DD7C-C371-CA1D7BCB701D}"/>
              </a:ext>
            </a:extLst>
          </p:cNvPr>
          <p:cNvSpPr txBox="1"/>
          <p:nvPr/>
        </p:nvSpPr>
        <p:spPr>
          <a:xfrm>
            <a:off x="2240927" y="2783230"/>
            <a:ext cx="1410112"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rPr>
              <a:t>hair for reference</a:t>
            </a:r>
            <a:endParaRPr sz="1200" dirty="0">
              <a:solidFill>
                <a:schemeClr val="dk2"/>
              </a:solidFill>
            </a:endParaRPr>
          </a:p>
        </p:txBody>
      </p:sp>
      <p:pic>
        <p:nvPicPr>
          <p:cNvPr id="17" name="Google Shape;201;p23" title="RealNozzle.png">
            <a:extLst>
              <a:ext uri="{FF2B5EF4-FFF2-40B4-BE49-F238E27FC236}">
                <a16:creationId xmlns:a16="http://schemas.microsoft.com/office/drawing/2014/main" id="{E7AAF5D9-4A58-7638-B3CF-5F2B1F129F79}"/>
              </a:ext>
            </a:extLst>
          </p:cNvPr>
          <p:cNvPicPr preferRelativeResize="0"/>
          <p:nvPr/>
        </p:nvPicPr>
        <p:blipFill>
          <a:blip r:embed="rId8">
            <a:alphaModFix/>
          </a:blip>
          <a:stretch>
            <a:fillRect/>
          </a:stretch>
        </p:blipFill>
        <p:spPr>
          <a:xfrm>
            <a:off x="7314829" y="3148262"/>
            <a:ext cx="1531567" cy="1489801"/>
          </a:xfrm>
          <a:prstGeom prst="rect">
            <a:avLst/>
          </a:prstGeom>
          <a:noFill/>
          <a:ln>
            <a:noFill/>
          </a:ln>
        </p:spPr>
      </p:pic>
      <p:sp>
        <p:nvSpPr>
          <p:cNvPr id="18" name="Google Shape;202;p23">
            <a:extLst>
              <a:ext uri="{FF2B5EF4-FFF2-40B4-BE49-F238E27FC236}">
                <a16:creationId xmlns:a16="http://schemas.microsoft.com/office/drawing/2014/main" id="{3CFD762D-5665-A4F2-011F-31A1F7769C96}"/>
              </a:ext>
            </a:extLst>
          </p:cNvPr>
          <p:cNvSpPr txBox="1"/>
          <p:nvPr/>
        </p:nvSpPr>
        <p:spPr>
          <a:xfrm>
            <a:off x="5404449" y="4679594"/>
            <a:ext cx="4899900" cy="39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t>Original Design: </a:t>
            </a:r>
          </a:p>
          <a:p>
            <a:pPr marL="0" lvl="0" indent="0" algn="l" rtl="0">
              <a:lnSpc>
                <a:spcPct val="115000"/>
              </a:lnSpc>
              <a:spcBef>
                <a:spcPts val="0"/>
              </a:spcBef>
              <a:spcAft>
                <a:spcPts val="0"/>
              </a:spcAft>
              <a:buNone/>
            </a:pPr>
            <a:r>
              <a:rPr lang="en" sz="1000" i="1" dirty="0">
                <a:solidFill>
                  <a:srgbClr val="000000"/>
                </a:solidFill>
              </a:rPr>
              <a:t>R. Senaratne et al.</a:t>
            </a:r>
            <a:r>
              <a:rPr lang="en" sz="1000" dirty="0">
                <a:solidFill>
                  <a:srgbClr val="000000"/>
                </a:solidFill>
              </a:rPr>
              <a:t>, </a:t>
            </a:r>
            <a:r>
              <a:rPr lang="en" sz="1000" i="1" dirty="0">
                <a:solidFill>
                  <a:srgbClr val="000000"/>
                </a:solidFill>
              </a:rPr>
              <a:t>Rev. Sci. Instrum.</a:t>
            </a:r>
            <a:r>
              <a:rPr lang="en" sz="1000" dirty="0">
                <a:solidFill>
                  <a:srgbClr val="000000"/>
                </a:solidFill>
              </a:rPr>
              <a:t> </a:t>
            </a:r>
            <a:r>
              <a:rPr lang="en" sz="1000" b="1" dirty="0">
                <a:solidFill>
                  <a:srgbClr val="000000"/>
                </a:solidFill>
              </a:rPr>
              <a:t>86</a:t>
            </a:r>
            <a:r>
              <a:rPr lang="en" sz="1000" dirty="0">
                <a:solidFill>
                  <a:srgbClr val="000000"/>
                </a:solidFill>
              </a:rPr>
              <a:t>, 023105 (2015).</a:t>
            </a:r>
            <a:endParaRPr sz="1000" dirty="0">
              <a:solidFill>
                <a:srgbClr val="000000"/>
              </a:solidFill>
            </a:endParaRPr>
          </a:p>
          <a:p>
            <a:pPr marL="0" lvl="0" indent="0" algn="l" rtl="0">
              <a:spcBef>
                <a:spcPts val="0"/>
              </a:spcBef>
              <a:spcAft>
                <a:spcPts val="0"/>
              </a:spcAft>
              <a:buNone/>
            </a:pPr>
            <a:endParaRPr sz="1000" dirty="0">
              <a:solidFill>
                <a:srgbClr val="595959"/>
              </a:solidFill>
            </a:endParaRPr>
          </a:p>
        </p:txBody>
      </p:sp>
      <p:pic>
        <p:nvPicPr>
          <p:cNvPr id="19" name="Google Shape;200;p23" title="RealCapillaries.png">
            <a:extLst>
              <a:ext uri="{FF2B5EF4-FFF2-40B4-BE49-F238E27FC236}">
                <a16:creationId xmlns:a16="http://schemas.microsoft.com/office/drawing/2014/main" id="{5A30FEF6-18B6-D849-CF58-D0DBE6AEE125}"/>
              </a:ext>
            </a:extLst>
          </p:cNvPr>
          <p:cNvPicPr preferRelativeResize="0"/>
          <p:nvPr/>
        </p:nvPicPr>
        <p:blipFill>
          <a:blip r:embed="rId9">
            <a:alphaModFix/>
          </a:blip>
          <a:stretch>
            <a:fillRect/>
          </a:stretch>
        </p:blipFill>
        <p:spPr>
          <a:xfrm>
            <a:off x="5533266" y="3136345"/>
            <a:ext cx="1682262" cy="15017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6"/>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Characterizing Beam Source</a:t>
            </a:r>
            <a:endParaRPr b="1" u="sng" dirty="0"/>
          </a:p>
        </p:txBody>
      </p:sp>
      <p:pic>
        <p:nvPicPr>
          <p:cNvPr id="232" name="Google Shape;232;p26" title="IMG_6961.HEIC"/>
          <p:cNvPicPr preferRelativeResize="0"/>
          <p:nvPr/>
        </p:nvPicPr>
        <p:blipFill rotWithShape="1">
          <a:blip r:embed="rId3">
            <a:alphaModFix/>
          </a:blip>
          <a:srcRect t="43194" b="24944"/>
          <a:stretch/>
        </p:blipFill>
        <p:spPr>
          <a:xfrm>
            <a:off x="458125" y="1017725"/>
            <a:ext cx="8077501" cy="1930249"/>
          </a:xfrm>
          <a:prstGeom prst="rect">
            <a:avLst/>
          </a:prstGeom>
          <a:noFill/>
          <a:ln>
            <a:noFill/>
          </a:ln>
        </p:spPr>
      </p:pic>
      <p:pic>
        <p:nvPicPr>
          <p:cNvPr id="233" name="Google Shape;233;p26" title="IMG_6950.HEIC"/>
          <p:cNvPicPr preferRelativeResize="0"/>
          <p:nvPr/>
        </p:nvPicPr>
        <p:blipFill rotWithShape="1">
          <a:blip r:embed="rId4">
            <a:alphaModFix/>
          </a:blip>
          <a:srcRect l="31630" t="62044" r="34123" b="13904"/>
          <a:stretch/>
        </p:blipFill>
        <p:spPr>
          <a:xfrm>
            <a:off x="3016550" y="3047500"/>
            <a:ext cx="2238382" cy="2096000"/>
          </a:xfrm>
          <a:prstGeom prst="rect">
            <a:avLst/>
          </a:prstGeom>
          <a:noFill/>
          <a:ln>
            <a:noFill/>
          </a:ln>
        </p:spPr>
      </p:pic>
      <p:cxnSp>
        <p:nvCxnSpPr>
          <p:cNvPr id="234" name="Google Shape;234;p26"/>
          <p:cNvCxnSpPr>
            <a:stCxn id="235" idx="1"/>
          </p:cNvCxnSpPr>
          <p:nvPr/>
        </p:nvCxnSpPr>
        <p:spPr>
          <a:xfrm flipH="1">
            <a:off x="4218625" y="4779675"/>
            <a:ext cx="1535400" cy="72300"/>
          </a:xfrm>
          <a:prstGeom prst="straightConnector1">
            <a:avLst/>
          </a:prstGeom>
          <a:noFill/>
          <a:ln w="19050" cap="flat" cmpd="sng">
            <a:solidFill>
              <a:srgbClr val="4A86E8"/>
            </a:solidFill>
            <a:prstDash val="solid"/>
            <a:round/>
            <a:headEnd type="none" w="med" len="med"/>
            <a:tailEnd type="triangle" w="med" len="med"/>
          </a:ln>
        </p:spPr>
      </p:cxnSp>
      <p:cxnSp>
        <p:nvCxnSpPr>
          <p:cNvPr id="236" name="Google Shape;236;p26"/>
          <p:cNvCxnSpPr>
            <a:stCxn id="237" idx="1"/>
          </p:cNvCxnSpPr>
          <p:nvPr/>
        </p:nvCxnSpPr>
        <p:spPr>
          <a:xfrm flipH="1">
            <a:off x="4495025" y="4374825"/>
            <a:ext cx="1169700" cy="75300"/>
          </a:xfrm>
          <a:prstGeom prst="straightConnector1">
            <a:avLst/>
          </a:prstGeom>
          <a:noFill/>
          <a:ln w="19050" cap="flat" cmpd="sng">
            <a:solidFill>
              <a:srgbClr val="980000"/>
            </a:solidFill>
            <a:prstDash val="solid"/>
            <a:round/>
            <a:headEnd type="none" w="med" len="med"/>
            <a:tailEnd type="triangle" w="med" len="med"/>
          </a:ln>
        </p:spPr>
      </p:cxnSp>
      <p:cxnSp>
        <p:nvCxnSpPr>
          <p:cNvPr id="238" name="Google Shape;238;p26"/>
          <p:cNvCxnSpPr>
            <a:stCxn id="239" idx="1"/>
          </p:cNvCxnSpPr>
          <p:nvPr/>
        </p:nvCxnSpPr>
        <p:spPr>
          <a:xfrm flipH="1">
            <a:off x="4558125" y="3501825"/>
            <a:ext cx="843000" cy="1500"/>
          </a:xfrm>
          <a:prstGeom prst="straightConnector1">
            <a:avLst/>
          </a:prstGeom>
          <a:noFill/>
          <a:ln w="19050" cap="flat" cmpd="sng">
            <a:solidFill>
              <a:schemeClr val="dk1"/>
            </a:solidFill>
            <a:prstDash val="solid"/>
            <a:round/>
            <a:headEnd type="none" w="med" len="med"/>
            <a:tailEnd type="triangle" w="med" len="med"/>
          </a:ln>
        </p:spPr>
      </p:cxnSp>
      <p:sp>
        <p:nvSpPr>
          <p:cNvPr id="239" name="Google Shape;239;p26"/>
          <p:cNvSpPr txBox="1"/>
          <p:nvPr/>
        </p:nvSpPr>
        <p:spPr>
          <a:xfrm>
            <a:off x="5401125" y="3285375"/>
            <a:ext cx="1067700" cy="4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Nozzle </a:t>
            </a:r>
            <a:endParaRPr sz="1800">
              <a:solidFill>
                <a:schemeClr val="dk2"/>
              </a:solidFill>
            </a:endParaRPr>
          </a:p>
        </p:txBody>
      </p:sp>
      <p:sp>
        <p:nvSpPr>
          <p:cNvPr id="237" name="Google Shape;237;p26"/>
          <p:cNvSpPr txBox="1"/>
          <p:nvPr/>
        </p:nvSpPr>
        <p:spPr>
          <a:xfrm>
            <a:off x="5664725" y="4140525"/>
            <a:ext cx="1785300" cy="4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Rb Reservoir</a:t>
            </a:r>
            <a:endParaRPr sz="1800">
              <a:solidFill>
                <a:schemeClr val="dk2"/>
              </a:solidFill>
            </a:endParaRPr>
          </a:p>
        </p:txBody>
      </p:sp>
      <p:sp>
        <p:nvSpPr>
          <p:cNvPr id="235" name="Google Shape;235;p26"/>
          <p:cNvSpPr txBox="1"/>
          <p:nvPr/>
        </p:nvSpPr>
        <p:spPr>
          <a:xfrm>
            <a:off x="5754025" y="4545375"/>
            <a:ext cx="1785300" cy="4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Ar Line</a:t>
            </a:r>
            <a:endParaRPr sz="1800">
              <a:solidFill>
                <a:schemeClr val="dk2"/>
              </a:solidFill>
            </a:endParaRPr>
          </a:p>
        </p:txBody>
      </p:sp>
      <p:grpSp>
        <p:nvGrpSpPr>
          <p:cNvPr id="240" name="Google Shape;240;p26"/>
          <p:cNvGrpSpPr/>
          <p:nvPr/>
        </p:nvGrpSpPr>
        <p:grpSpPr>
          <a:xfrm>
            <a:off x="5254925" y="2665700"/>
            <a:ext cx="1845050" cy="619675"/>
            <a:chOff x="5254925" y="2665700"/>
            <a:chExt cx="1845050" cy="619675"/>
          </a:xfrm>
        </p:grpSpPr>
        <p:cxnSp>
          <p:nvCxnSpPr>
            <p:cNvPr id="241" name="Google Shape;241;p26"/>
            <p:cNvCxnSpPr/>
            <p:nvPr/>
          </p:nvCxnSpPr>
          <p:spPr>
            <a:xfrm rot="10800000" flipH="1">
              <a:off x="5321275" y="2665700"/>
              <a:ext cx="1778700" cy="591000"/>
            </a:xfrm>
            <a:prstGeom prst="straightConnector1">
              <a:avLst/>
            </a:prstGeom>
            <a:noFill/>
            <a:ln w="38100" cap="flat" cmpd="sng">
              <a:solidFill>
                <a:schemeClr val="dk2"/>
              </a:solidFill>
              <a:prstDash val="solid"/>
              <a:round/>
              <a:headEnd type="none" w="med" len="med"/>
              <a:tailEnd type="triangle" w="med" len="med"/>
            </a:ln>
          </p:spPr>
        </p:cxnSp>
        <p:cxnSp>
          <p:nvCxnSpPr>
            <p:cNvPr id="242" name="Google Shape;242;p26"/>
            <p:cNvCxnSpPr/>
            <p:nvPr/>
          </p:nvCxnSpPr>
          <p:spPr>
            <a:xfrm flipH="1">
              <a:off x="5254925" y="2740275"/>
              <a:ext cx="1663800" cy="545100"/>
            </a:xfrm>
            <a:prstGeom prst="straightConnector1">
              <a:avLst/>
            </a:prstGeom>
            <a:noFill/>
            <a:ln w="38100" cap="flat" cmpd="sng">
              <a:solidFill>
                <a:schemeClr val="dk2"/>
              </a:solidFill>
              <a:prstDash val="solid"/>
              <a:round/>
              <a:headEnd type="none" w="med" len="med"/>
              <a:tailEnd type="triangle" w="med" len="med"/>
            </a:ln>
          </p:spPr>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7"/>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Characterizing Beam Source</a:t>
            </a:r>
            <a:endParaRPr b="1" u="sng"/>
          </a:p>
        </p:txBody>
      </p:sp>
      <p:pic>
        <p:nvPicPr>
          <p:cNvPr id="248" name="Google Shape;248;p27" title="Block Diagram test chamber.png"/>
          <p:cNvPicPr preferRelativeResize="0"/>
          <p:nvPr/>
        </p:nvPicPr>
        <p:blipFill>
          <a:blip r:embed="rId3">
            <a:alphaModFix/>
          </a:blip>
          <a:stretch>
            <a:fillRect/>
          </a:stretch>
        </p:blipFill>
        <p:spPr>
          <a:xfrm>
            <a:off x="491950" y="1111000"/>
            <a:ext cx="3399334" cy="3986876"/>
          </a:xfrm>
          <a:prstGeom prst="rect">
            <a:avLst/>
          </a:prstGeom>
          <a:noFill/>
          <a:ln>
            <a:noFill/>
          </a:ln>
        </p:spPr>
      </p:pic>
      <p:pic>
        <p:nvPicPr>
          <p:cNvPr id="249" name="Google Shape;249;p27"/>
          <p:cNvPicPr preferRelativeResize="0"/>
          <p:nvPr/>
        </p:nvPicPr>
        <p:blipFill>
          <a:blip r:embed="rId4">
            <a:alphaModFix/>
          </a:blip>
          <a:stretch>
            <a:fillRect/>
          </a:stretch>
        </p:blipFill>
        <p:spPr>
          <a:xfrm>
            <a:off x="4409753" y="1160649"/>
            <a:ext cx="3881910" cy="3005869"/>
          </a:xfrm>
          <a:prstGeom prst="rect">
            <a:avLst/>
          </a:prstGeom>
          <a:noFill/>
          <a:ln>
            <a:noFill/>
          </a:ln>
        </p:spPr>
      </p:pic>
      <mc:AlternateContent xmlns:mc="http://schemas.openxmlformats.org/markup-compatibility/2006" xmlns:a14="http://schemas.microsoft.com/office/drawing/2010/main">
        <mc:Choice Requires="a14">
          <p:sp>
            <p:nvSpPr>
              <p:cNvPr id="2" name="Google Shape;215;p24">
                <a:extLst>
                  <a:ext uri="{FF2B5EF4-FFF2-40B4-BE49-F238E27FC236}">
                    <a16:creationId xmlns:a16="http://schemas.microsoft.com/office/drawing/2014/main" id="{7947976B-9297-FE55-A92E-D132BE31575F}"/>
                  </a:ext>
                </a:extLst>
              </p:cNvPr>
              <p:cNvSpPr txBox="1"/>
              <p:nvPr/>
            </p:nvSpPr>
            <p:spPr>
              <a:xfrm>
                <a:off x="4572000" y="4257787"/>
                <a:ext cx="2374957" cy="3894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14:m>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𝜆</m:t>
                        </m:r>
                      </m:e>
                      <m:sub>
                        <m:r>
                          <a:rPr lang="en-US" sz="1800" b="0" i="1" smtClean="0">
                            <a:solidFill>
                              <a:schemeClr val="dk2"/>
                            </a:solidFill>
                            <a:latin typeface="Cambria Math" panose="02040503050406030204" pitchFamily="18" charset="0"/>
                          </a:rPr>
                          <m:t>𝑅𝑏</m:t>
                        </m:r>
                      </m:sub>
                    </m:sSub>
                    <m:r>
                      <a:rPr lang="en-US" sz="1800" i="1">
                        <a:solidFill>
                          <a:schemeClr val="dk2"/>
                        </a:solidFill>
                        <a:latin typeface="Cambria Math" panose="02040503050406030204" pitchFamily="18" charset="0"/>
                        <a:ea typeface="Cambria Math" panose="02040503050406030204" pitchFamily="18" charset="0"/>
                      </a:rPr>
                      <m:t>≤</m:t>
                    </m:r>
                    <m:sSub>
                      <m:sSubPr>
                        <m:ctrlPr>
                          <a:rPr lang="en-US" sz="1800" b="0" i="1" smtClean="0">
                            <a:solidFill>
                              <a:schemeClr val="dk2"/>
                            </a:solidFill>
                            <a:latin typeface="Cambria Math" panose="02040503050406030204" pitchFamily="18" charset="0"/>
                            <a:ea typeface="Cambria Math" panose="02040503050406030204" pitchFamily="18" charset="0"/>
                          </a:rPr>
                        </m:ctrlPr>
                      </m:sSubPr>
                      <m:e>
                        <m:r>
                          <a:rPr lang="en-US" sz="1800" b="0" i="1" smtClean="0">
                            <a:solidFill>
                              <a:schemeClr val="dk2"/>
                            </a:solidFill>
                            <a:latin typeface="Cambria Math" panose="02040503050406030204" pitchFamily="18" charset="0"/>
                            <a:ea typeface="Cambria Math" panose="02040503050406030204" pitchFamily="18" charset="0"/>
                          </a:rPr>
                          <m:t>𝜆</m:t>
                        </m:r>
                      </m:e>
                      <m:sub>
                        <m:r>
                          <a:rPr lang="en-US" sz="1800" b="0" i="1" smtClean="0">
                            <a:solidFill>
                              <a:schemeClr val="dk2"/>
                            </a:solidFill>
                            <a:latin typeface="Cambria Math" panose="02040503050406030204" pitchFamily="18" charset="0"/>
                            <a:ea typeface="Cambria Math" panose="02040503050406030204" pitchFamily="18" charset="0"/>
                          </a:rPr>
                          <m:t>𝐴𝑟</m:t>
                        </m:r>
                      </m:sub>
                    </m:sSub>
                  </m:oMath>
                </a14:m>
                <a:endParaRPr lang="en-US" sz="1800" dirty="0">
                  <a:solidFill>
                    <a:schemeClr val="dk2"/>
                  </a:solidFill>
                </a:endParaRPr>
              </a:p>
              <a:p>
                <a:pPr marL="285750" lvl="0" indent="-285750" algn="l" rtl="0">
                  <a:spcBef>
                    <a:spcPts val="0"/>
                  </a:spcBef>
                  <a:spcAft>
                    <a:spcPts val="0"/>
                  </a:spcAft>
                  <a:buFont typeface="Wingdings" panose="05000000000000000000" pitchFamily="2" charset="2"/>
                  <a:buChar char="§"/>
                </a:pPr>
                <a:r>
                  <a:rPr lang="en-US" sz="1800" dirty="0">
                    <a:solidFill>
                      <a:schemeClr val="dk2"/>
                    </a:solidFill>
                  </a:rPr>
                  <a:t>Want </a:t>
                </a:r>
                <a14:m>
                  <m:oMath xmlns:m="http://schemas.openxmlformats.org/officeDocument/2006/math">
                    <m:r>
                      <a:rPr lang="en-US" sz="1800" b="0" i="1" smtClean="0">
                        <a:solidFill>
                          <a:schemeClr val="dk2"/>
                        </a:solidFill>
                        <a:latin typeface="Cambria Math" panose="02040503050406030204" pitchFamily="18" charset="0"/>
                      </a:rPr>
                      <m:t>𝜆</m:t>
                    </m:r>
                    <m:r>
                      <a:rPr lang="en-US" sz="1800" i="1">
                        <a:solidFill>
                          <a:schemeClr val="dk2"/>
                        </a:solidFill>
                        <a:latin typeface="Cambria Math" panose="02040503050406030204" pitchFamily="18" charset="0"/>
                        <a:ea typeface="Cambria Math" panose="02040503050406030204" pitchFamily="18" charset="0"/>
                      </a:rPr>
                      <m:t>≥</m:t>
                    </m:r>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𝐿</m:t>
                        </m:r>
                      </m:e>
                      <m:sub>
                        <m:r>
                          <a:rPr lang="en-US" sz="1800" b="0" i="1" smtClean="0">
                            <a:solidFill>
                              <a:schemeClr val="dk2"/>
                            </a:solidFill>
                            <a:latin typeface="Cambria Math" panose="02040503050406030204" pitchFamily="18" charset="0"/>
                          </a:rPr>
                          <m:t>𝑐𝑎𝑝</m:t>
                        </m:r>
                      </m:sub>
                    </m:sSub>
                  </m:oMath>
                </a14:m>
                <a:endParaRPr sz="1800" dirty="0">
                  <a:solidFill>
                    <a:schemeClr val="dk2"/>
                  </a:solidFill>
                </a:endParaRPr>
              </a:p>
            </p:txBody>
          </p:sp>
        </mc:Choice>
        <mc:Fallback xmlns="">
          <p:sp>
            <p:nvSpPr>
              <p:cNvPr id="2" name="Google Shape;215;p24">
                <a:extLst>
                  <a:ext uri="{FF2B5EF4-FFF2-40B4-BE49-F238E27FC236}">
                    <a16:creationId xmlns:a16="http://schemas.microsoft.com/office/drawing/2014/main" id="{7947976B-9297-FE55-A92E-D132BE31575F}"/>
                  </a:ext>
                </a:extLst>
              </p:cNvPr>
              <p:cNvSpPr txBox="1">
                <a:spLocks noRot="1" noChangeAspect="1" noMove="1" noResize="1" noEditPoints="1" noAdjustHandles="1" noChangeArrowheads="1" noChangeShapeType="1" noTextEdit="1"/>
              </p:cNvSpPr>
              <p:nvPr/>
            </p:nvSpPr>
            <p:spPr>
              <a:xfrm>
                <a:off x="4572000" y="4257787"/>
                <a:ext cx="2374957" cy="389400"/>
              </a:xfrm>
              <a:prstGeom prst="rect">
                <a:avLst/>
              </a:prstGeom>
              <a:blipFill>
                <a:blip r:embed="rId5"/>
                <a:stretch>
                  <a:fillRect l="-1795" b="-101563"/>
                </a:stretch>
              </a:blipFill>
              <a:ln>
                <a:noFill/>
              </a:ln>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3D4825C7-60D5-8BEF-65D9-CAEF0B3BF617}"/>
            </a:ext>
          </a:extLst>
        </p:cNvPr>
        <p:cNvGrpSpPr/>
        <p:nvPr/>
      </p:nvGrpSpPr>
      <p:grpSpPr>
        <a:xfrm>
          <a:off x="0" y="0"/>
          <a:ext cx="0" cy="0"/>
          <a:chOff x="0" y="0"/>
          <a:chExt cx="0" cy="0"/>
        </a:xfrm>
      </p:grpSpPr>
      <p:pic>
        <p:nvPicPr>
          <p:cNvPr id="263" name="Google Shape;263;p29">
            <a:extLst>
              <a:ext uri="{FF2B5EF4-FFF2-40B4-BE49-F238E27FC236}">
                <a16:creationId xmlns:a16="http://schemas.microsoft.com/office/drawing/2014/main" id="{FAB3ED02-8F94-2214-FA1A-6FA76BBA43EF}"/>
              </a:ext>
            </a:extLst>
          </p:cNvPr>
          <p:cNvPicPr preferRelativeResize="0"/>
          <p:nvPr/>
        </p:nvPicPr>
        <p:blipFill rotWithShape="1">
          <a:blip r:embed="rId3">
            <a:alphaModFix/>
          </a:blip>
          <a:srcRect t="6769" r="31521"/>
          <a:stretch/>
        </p:blipFill>
        <p:spPr>
          <a:xfrm>
            <a:off x="2576813" y="1561646"/>
            <a:ext cx="3310341" cy="2160901"/>
          </a:xfrm>
          <a:prstGeom prst="rect">
            <a:avLst/>
          </a:prstGeom>
          <a:noFill/>
          <a:ln>
            <a:noFill/>
          </a:ln>
        </p:spPr>
      </p:pic>
      <p:sp>
        <p:nvSpPr>
          <p:cNvPr id="264" name="Google Shape;264;p29">
            <a:extLst>
              <a:ext uri="{FF2B5EF4-FFF2-40B4-BE49-F238E27FC236}">
                <a16:creationId xmlns:a16="http://schemas.microsoft.com/office/drawing/2014/main" id="{B5DEADA6-F4D2-0B98-62A5-D21C86A6F5E6}"/>
              </a:ext>
            </a:extLst>
          </p:cNvPr>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Characterizing Beam Source</a:t>
            </a:r>
            <a:endParaRPr b="1" u="sng" dirty="0"/>
          </a:p>
        </p:txBody>
      </p:sp>
      <p:pic>
        <p:nvPicPr>
          <p:cNvPr id="2" name="Google Shape;255;p28">
            <a:extLst>
              <a:ext uri="{FF2B5EF4-FFF2-40B4-BE49-F238E27FC236}">
                <a16:creationId xmlns:a16="http://schemas.microsoft.com/office/drawing/2014/main" id="{D614EE0E-84CF-BB1F-3293-8C993DB3B833}"/>
              </a:ext>
            </a:extLst>
          </p:cNvPr>
          <p:cNvPicPr preferRelativeResize="0"/>
          <p:nvPr/>
        </p:nvPicPr>
        <p:blipFill>
          <a:blip r:embed="rId4">
            <a:alphaModFix/>
          </a:blip>
          <a:stretch>
            <a:fillRect/>
          </a:stretch>
        </p:blipFill>
        <p:spPr>
          <a:xfrm>
            <a:off x="72071" y="1617504"/>
            <a:ext cx="2504742" cy="2049187"/>
          </a:xfrm>
          <a:prstGeom prst="rect">
            <a:avLst/>
          </a:prstGeom>
          <a:noFill/>
          <a:ln>
            <a:noFill/>
          </a:ln>
        </p:spPr>
      </p:pic>
    </p:spTree>
    <p:extLst>
      <p:ext uri="{BB962C8B-B14F-4D97-AF65-F5344CB8AC3E}">
        <p14:creationId xmlns:p14="http://schemas.microsoft.com/office/powerpoint/2010/main" val="331618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3687D6B2-44D3-B37B-AF8C-9D81A1420A18}"/>
            </a:ext>
          </a:extLst>
        </p:cNvPr>
        <p:cNvGrpSpPr/>
        <p:nvPr/>
      </p:nvGrpSpPr>
      <p:grpSpPr>
        <a:xfrm>
          <a:off x="0" y="0"/>
          <a:ext cx="0" cy="0"/>
          <a:chOff x="0" y="0"/>
          <a:chExt cx="0" cy="0"/>
        </a:xfrm>
      </p:grpSpPr>
      <p:pic>
        <p:nvPicPr>
          <p:cNvPr id="263" name="Google Shape;263;p29">
            <a:extLst>
              <a:ext uri="{FF2B5EF4-FFF2-40B4-BE49-F238E27FC236}">
                <a16:creationId xmlns:a16="http://schemas.microsoft.com/office/drawing/2014/main" id="{B9D3838F-D0C0-D5F0-3834-251EAB181557}"/>
              </a:ext>
            </a:extLst>
          </p:cNvPr>
          <p:cNvPicPr preferRelativeResize="0"/>
          <p:nvPr/>
        </p:nvPicPr>
        <p:blipFill rotWithShape="1">
          <a:blip r:embed="rId3">
            <a:alphaModFix/>
          </a:blip>
          <a:srcRect t="6769" r="31521"/>
          <a:stretch/>
        </p:blipFill>
        <p:spPr>
          <a:xfrm>
            <a:off x="2576813" y="1561646"/>
            <a:ext cx="3310341" cy="2160901"/>
          </a:xfrm>
          <a:prstGeom prst="rect">
            <a:avLst/>
          </a:prstGeom>
          <a:noFill/>
          <a:ln>
            <a:noFill/>
          </a:ln>
        </p:spPr>
      </p:pic>
      <p:sp>
        <p:nvSpPr>
          <p:cNvPr id="264" name="Google Shape;264;p29">
            <a:extLst>
              <a:ext uri="{FF2B5EF4-FFF2-40B4-BE49-F238E27FC236}">
                <a16:creationId xmlns:a16="http://schemas.microsoft.com/office/drawing/2014/main" id="{A8F365B0-C403-C196-2D28-3EAF3CB11153}"/>
              </a:ext>
            </a:extLst>
          </p:cNvPr>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Characterizing Beam Source</a:t>
            </a:r>
            <a:endParaRPr b="1" u="sng" dirty="0"/>
          </a:p>
        </p:txBody>
      </p:sp>
      <p:pic>
        <p:nvPicPr>
          <p:cNvPr id="2" name="Google Shape;255;p28">
            <a:extLst>
              <a:ext uri="{FF2B5EF4-FFF2-40B4-BE49-F238E27FC236}">
                <a16:creationId xmlns:a16="http://schemas.microsoft.com/office/drawing/2014/main" id="{77D057D6-7C77-EC51-429D-918F3CCF808B}"/>
              </a:ext>
            </a:extLst>
          </p:cNvPr>
          <p:cNvPicPr preferRelativeResize="0"/>
          <p:nvPr/>
        </p:nvPicPr>
        <p:blipFill>
          <a:blip r:embed="rId4">
            <a:alphaModFix/>
          </a:blip>
          <a:stretch>
            <a:fillRect/>
          </a:stretch>
        </p:blipFill>
        <p:spPr>
          <a:xfrm>
            <a:off x="72071" y="1617504"/>
            <a:ext cx="2504742" cy="2049187"/>
          </a:xfrm>
          <a:prstGeom prst="rect">
            <a:avLst/>
          </a:prstGeom>
          <a:noFill/>
          <a:ln>
            <a:noFill/>
          </a:ln>
        </p:spPr>
      </p:pic>
      <mc:AlternateContent xmlns:mc="http://schemas.openxmlformats.org/markup-compatibility/2006" xmlns:a14="http://schemas.microsoft.com/office/drawing/2010/main">
        <mc:Choice Requires="a14">
          <p:sp>
            <p:nvSpPr>
              <p:cNvPr id="4" name="Google Shape;265;p29">
                <a:extLst>
                  <a:ext uri="{FF2B5EF4-FFF2-40B4-BE49-F238E27FC236}">
                    <a16:creationId xmlns:a16="http://schemas.microsoft.com/office/drawing/2014/main" id="{DC8A39BA-B8CB-3395-837F-CDC403355867}"/>
                  </a:ext>
                </a:extLst>
              </p:cNvPr>
              <p:cNvSpPr txBox="1"/>
              <p:nvPr/>
            </p:nvSpPr>
            <p:spPr>
              <a:xfrm>
                <a:off x="5783715" y="1617504"/>
                <a:ext cx="3538200" cy="1554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Wingdings" panose="05000000000000000000" pitchFamily="2" charset="2"/>
                  <a:buChar char="§"/>
                </a:pPr>
                <a14:m>
                  <m:oMath xmlns:m="http://schemas.openxmlformats.org/officeDocument/2006/math">
                    <m:sSub>
                      <m:sSubPr>
                        <m:ctrlPr>
                          <a:rPr lang="en-US" sz="1800" b="0" i="1" smtClean="0">
                            <a:solidFill>
                              <a:schemeClr val="dk2"/>
                            </a:solidFill>
                            <a:latin typeface="Cambria Math" panose="02040503050406030204" pitchFamily="18" charset="0"/>
                          </a:rPr>
                        </m:ctrlPr>
                      </m:sSubPr>
                      <m:e>
                        <m:d>
                          <m:dPr>
                            <m:ctrlPr>
                              <a:rPr lang="en-US" sz="1800" b="0" i="1" smtClean="0">
                                <a:solidFill>
                                  <a:schemeClr val="dk2"/>
                                </a:solidFill>
                                <a:latin typeface="Cambria Math" panose="02040503050406030204" pitchFamily="18" charset="0"/>
                              </a:rPr>
                            </m:ctrlPr>
                          </m:dPr>
                          <m:e>
                            <m:r>
                              <a:rPr lang="en-US" sz="1800" b="0" i="1" smtClean="0">
                                <a:solidFill>
                                  <a:schemeClr val="dk2"/>
                                </a:solidFill>
                                <a:latin typeface="Cambria Math" panose="02040503050406030204" pitchFamily="18" charset="0"/>
                              </a:rPr>
                              <m:t>𝛼</m:t>
                            </m:r>
                          </m:e>
                        </m:d>
                      </m:e>
                      <m:sub>
                        <m:r>
                          <a:rPr lang="en-US" sz="1800" b="0" i="1" smtClean="0">
                            <a:solidFill>
                              <a:schemeClr val="dk2"/>
                            </a:solidFill>
                            <a:latin typeface="Cambria Math" panose="02040503050406030204" pitchFamily="18" charset="0"/>
                          </a:rPr>
                          <m:t>1/</m:t>
                        </m:r>
                        <m:r>
                          <a:rPr lang="en-US" sz="1800" b="0" i="1" smtClean="0">
                            <a:solidFill>
                              <a:schemeClr val="dk2"/>
                            </a:solidFill>
                            <a:latin typeface="Cambria Math" panose="02040503050406030204" pitchFamily="18" charset="0"/>
                          </a:rPr>
                          <m:t>𝑒</m:t>
                        </m:r>
                      </m:sub>
                    </m:sSub>
                    <m:r>
                      <a:rPr lang="en-US" sz="1800" b="0" i="1" smtClean="0">
                        <a:solidFill>
                          <a:schemeClr val="dk2"/>
                        </a:solidFill>
                        <a:latin typeface="Cambria Math" panose="02040503050406030204" pitchFamily="18" charset="0"/>
                      </a:rPr>
                      <m:t>=1±0.1</m:t>
                    </m:r>
                  </m:oMath>
                </a14:m>
                <a:r>
                  <a:rPr lang="en-US" sz="1800" dirty="0">
                    <a:solidFill>
                      <a:schemeClr val="dk2"/>
                    </a:solidFill>
                  </a:rPr>
                  <a:t> </a:t>
                </a:r>
                <a14:m>
                  <m:oMath xmlns:m="http://schemas.openxmlformats.org/officeDocument/2006/math">
                    <m:r>
                      <m:rPr>
                        <m:sty m:val="p"/>
                      </m:rPr>
                      <a:rPr lang="en-US" sz="1800" i="0" dirty="0" smtClean="0">
                        <a:solidFill>
                          <a:schemeClr val="dk2"/>
                        </a:solidFill>
                        <a:latin typeface="Cambria Math" panose="02040503050406030204" pitchFamily="18" charset="0"/>
                      </a:rPr>
                      <m:t>degrees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Rb Flux: </a:t>
                </a:r>
                <a14:m>
                  <m:oMath xmlns:m="http://schemas.openxmlformats.org/officeDocument/2006/math">
                    <m:r>
                      <a:rPr lang="en-US" sz="1800" i="1" dirty="0" smtClean="0">
                        <a:solidFill>
                          <a:schemeClr val="dk2"/>
                        </a:solidFill>
                        <a:latin typeface="Cambria Math" panose="02040503050406030204" pitchFamily="18" charset="0"/>
                      </a:rPr>
                      <m:t>2.5∗</m:t>
                    </m:r>
                    <m:sSup>
                      <m:sSupPr>
                        <m:ctrlPr>
                          <a:rPr lang="en-US" sz="1800" b="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10</m:t>
                        </m:r>
                      </m:sup>
                    </m:sSup>
                    <m:r>
                      <a:rPr lang="en-US" sz="1800" b="0" i="0" dirty="0" smtClean="0">
                        <a:solidFill>
                          <a:schemeClr val="dk2"/>
                        </a:solidFill>
                        <a:latin typeface="Cambria Math" panose="02040503050406030204" pitchFamily="18" charset="0"/>
                      </a:rPr>
                      <m:t> </m:t>
                    </m:r>
                    <m:r>
                      <m:rPr>
                        <m:sty m:val="p"/>
                      </m:rPr>
                      <a:rPr lang="en-US" sz="1800" i="0" dirty="0" smtClean="0">
                        <a:solidFill>
                          <a:schemeClr val="dk2"/>
                        </a:solidFill>
                        <a:latin typeface="Cambria Math" panose="02040503050406030204" pitchFamily="18" charset="0"/>
                      </a:rPr>
                      <m:t>atoms</m:t>
                    </m:r>
                    <m:r>
                      <a:rPr lang="en-US" sz="1800" i="0" dirty="0" smtClean="0">
                        <a:solidFill>
                          <a:schemeClr val="dk2"/>
                        </a:solidFill>
                        <a:latin typeface="Cambria Math" panose="02040503050406030204" pitchFamily="18" charset="0"/>
                      </a:rPr>
                      <m:t>/</m:t>
                    </m:r>
                    <m:r>
                      <m:rPr>
                        <m:sty m:val="p"/>
                      </m:rPr>
                      <a:rPr lang="en-US" sz="1800" i="0" dirty="0" smtClean="0">
                        <a:solidFill>
                          <a:schemeClr val="dk2"/>
                        </a:solidFill>
                        <a:latin typeface="Cambria Math" panose="02040503050406030204" pitchFamily="18" charset="0"/>
                      </a:rPr>
                      <m:t>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err="1">
                    <a:solidFill>
                      <a:schemeClr val="dk2"/>
                    </a:solidFill>
                  </a:rPr>
                  <a:t>Ar</a:t>
                </a:r>
                <a:r>
                  <a:rPr lang="en-US" sz="1800" dirty="0">
                    <a:solidFill>
                      <a:schemeClr val="dk2"/>
                    </a:solidFill>
                  </a:rPr>
                  <a:t> Flux: </a:t>
                </a:r>
                <a14:m>
                  <m:oMath xmlns:m="http://schemas.openxmlformats.org/officeDocument/2006/math">
                    <m:r>
                      <a:rPr lang="en-US" sz="1800" i="1" dirty="0" smtClean="0">
                        <a:solidFill>
                          <a:schemeClr val="dk2"/>
                        </a:solidFill>
                        <a:latin typeface="Cambria Math" panose="02040503050406030204" pitchFamily="18" charset="0"/>
                      </a:rPr>
                      <m:t>5∗</m:t>
                    </m:r>
                    <m:sSup>
                      <m:sSupPr>
                        <m:ctrlPr>
                          <a:rPr lang="en-US" sz="180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15</m:t>
                        </m:r>
                      </m:sup>
                    </m:sSup>
                  </m:oMath>
                </a14:m>
                <a:r>
                  <a:rPr lang="en-US" sz="1800" dirty="0">
                    <a:solidFill>
                      <a:schemeClr val="dk2"/>
                    </a:solidFill>
                  </a:rPr>
                  <a:t> </a:t>
                </a:r>
                <a14:m>
                  <m:oMath xmlns:m="http://schemas.openxmlformats.org/officeDocument/2006/math">
                    <m:r>
                      <m:rPr>
                        <m:sty m:val="p"/>
                      </m:rPr>
                      <a:rPr lang="en-US" sz="1800" i="0" dirty="0" smtClean="0">
                        <a:solidFill>
                          <a:schemeClr val="dk2"/>
                        </a:solidFill>
                        <a:latin typeface="Cambria Math" panose="02040503050406030204" pitchFamily="18" charset="0"/>
                      </a:rPr>
                      <m:t>atoms</m:t>
                    </m:r>
                    <m:r>
                      <a:rPr lang="en-US" sz="1800" i="0" dirty="0" smtClean="0">
                        <a:solidFill>
                          <a:schemeClr val="dk2"/>
                        </a:solidFill>
                        <a:latin typeface="Cambria Math" panose="02040503050406030204" pitchFamily="18" charset="0"/>
                      </a:rPr>
                      <m:t>/</m:t>
                    </m:r>
                    <m:r>
                      <m:rPr>
                        <m:sty m:val="p"/>
                      </m:rPr>
                      <a:rPr lang="en-US" sz="1800" i="0" dirty="0" smtClean="0">
                        <a:solidFill>
                          <a:schemeClr val="dk2"/>
                        </a:solidFill>
                        <a:latin typeface="Cambria Math" panose="02040503050406030204" pitchFamily="18" charset="0"/>
                      </a:rPr>
                      <m:t>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Dopant Density: </a:t>
                </a:r>
                <a14:m>
                  <m:oMath xmlns:m="http://schemas.openxmlformats.org/officeDocument/2006/math">
                    <m:sSup>
                      <m:sSupPr>
                        <m:ctrlPr>
                          <a:rPr lang="en-US" sz="180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17</m:t>
                        </m:r>
                      </m:sup>
                    </m:sSup>
                  </m:oMath>
                </a14:m>
                <a:r>
                  <a:rPr lang="en-US" sz="1800" dirty="0">
                    <a:solidFill>
                      <a:schemeClr val="dk2"/>
                    </a:solidFill>
                  </a:rPr>
                  <a:t> </a:t>
                </a:r>
                <a14:m>
                  <m:oMath xmlns:m="http://schemas.openxmlformats.org/officeDocument/2006/math">
                    <m:r>
                      <m:rPr>
                        <m:sty m:val="p"/>
                      </m:rPr>
                      <a:rPr lang="en-US" sz="1800" b="0" i="0" dirty="0" smtClean="0">
                        <a:solidFill>
                          <a:schemeClr val="dk2"/>
                        </a:solidFill>
                        <a:latin typeface="Cambria Math" panose="02040503050406030204" pitchFamily="18" charset="0"/>
                      </a:rPr>
                      <m:t>dopants</m:t>
                    </m:r>
                    <m:r>
                      <a:rPr lang="en-US" sz="1800" i="0" dirty="0" smtClean="0">
                        <a:solidFill>
                          <a:schemeClr val="dk2"/>
                        </a:solidFill>
                        <a:latin typeface="Cambria Math" panose="02040503050406030204" pitchFamily="18" charset="0"/>
                      </a:rPr>
                      <m:t>/</m:t>
                    </m:r>
                    <m:sSup>
                      <m:sSupPr>
                        <m:ctrlPr>
                          <a:rPr lang="en-US" sz="1800" b="0" i="1" dirty="0" smtClean="0">
                            <a:solidFill>
                              <a:schemeClr val="dk2"/>
                            </a:solidFill>
                            <a:latin typeface="Cambria Math" panose="02040503050406030204" pitchFamily="18" charset="0"/>
                          </a:rPr>
                        </m:ctrlPr>
                      </m:sSupPr>
                      <m:e>
                        <m:r>
                          <m:rPr>
                            <m:sty m:val="p"/>
                          </m:rPr>
                          <a:rPr lang="en-US" sz="1800" i="0" dirty="0" smtClean="0">
                            <a:solidFill>
                              <a:schemeClr val="dk2"/>
                            </a:solidFill>
                            <a:latin typeface="Cambria Math" panose="02040503050406030204" pitchFamily="18" charset="0"/>
                          </a:rPr>
                          <m:t>cm</m:t>
                        </m:r>
                      </m:e>
                      <m:sup>
                        <m:r>
                          <a:rPr lang="en-US" sz="1800" b="0" i="0" dirty="0" smtClean="0">
                            <a:solidFill>
                              <a:schemeClr val="dk2"/>
                            </a:solidFill>
                            <a:latin typeface="Cambria Math" panose="02040503050406030204" pitchFamily="18" charset="0"/>
                          </a:rPr>
                          <m:t>3</m:t>
                        </m:r>
                      </m:sup>
                    </m:sSup>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Growth rate: </a:t>
                </a:r>
                <a14:m>
                  <m:oMath xmlns:m="http://schemas.openxmlformats.org/officeDocument/2006/math">
                    <m:r>
                      <a:rPr lang="en-US" sz="1800" i="1" dirty="0" smtClean="0">
                        <a:solidFill>
                          <a:schemeClr val="dk2"/>
                        </a:solidFill>
                        <a:latin typeface="Cambria Math" panose="02040503050406030204" pitchFamily="18" charset="0"/>
                      </a:rPr>
                      <m:t>5 </m:t>
                    </m:r>
                    <m:r>
                      <a:rPr lang="en-US" sz="1800" b="0" i="1" dirty="0" smtClean="0">
                        <a:solidFill>
                          <a:schemeClr val="dk2"/>
                        </a:solidFill>
                        <a:latin typeface="Cambria Math" panose="02040503050406030204" pitchFamily="18" charset="0"/>
                      </a:rPr>
                      <m:t>𝜇</m:t>
                    </m:r>
                    <m:r>
                      <m:rPr>
                        <m:sty m:val="p"/>
                      </m:rPr>
                      <a:rPr lang="en-US" sz="1800" i="0" dirty="0">
                        <a:solidFill>
                          <a:schemeClr val="dk2"/>
                        </a:solidFill>
                        <a:latin typeface="Cambria Math" panose="02040503050406030204" pitchFamily="18" charset="0"/>
                      </a:rPr>
                      <m:t>m</m:t>
                    </m:r>
                    <m:r>
                      <a:rPr lang="en-US" sz="1800" i="0" dirty="0">
                        <a:solidFill>
                          <a:schemeClr val="dk2"/>
                        </a:solidFill>
                        <a:latin typeface="Cambria Math" panose="02040503050406030204" pitchFamily="18" charset="0"/>
                      </a:rPr>
                      <m:t>/</m:t>
                    </m:r>
                    <m:r>
                      <m:rPr>
                        <m:sty m:val="p"/>
                      </m:rPr>
                      <a:rPr lang="en-US" sz="1800" i="0" dirty="0">
                        <a:solidFill>
                          <a:schemeClr val="dk2"/>
                        </a:solidFill>
                        <a:latin typeface="Cambria Math" panose="02040503050406030204" pitchFamily="18" charset="0"/>
                      </a:rPr>
                      <m:t>hour</m:t>
                    </m:r>
                  </m:oMath>
                </a14:m>
                <a:endParaRPr lang="en-US" sz="1800" dirty="0">
                  <a:solidFill>
                    <a:schemeClr val="dk2"/>
                  </a:solidFill>
                </a:endParaRPr>
              </a:p>
            </p:txBody>
          </p:sp>
        </mc:Choice>
        <mc:Fallback xmlns="">
          <p:sp>
            <p:nvSpPr>
              <p:cNvPr id="4" name="Google Shape;265;p29">
                <a:extLst>
                  <a:ext uri="{FF2B5EF4-FFF2-40B4-BE49-F238E27FC236}">
                    <a16:creationId xmlns:a16="http://schemas.microsoft.com/office/drawing/2014/main" id="{DC8A39BA-B8CB-3395-837F-CDC403355867}"/>
                  </a:ext>
                </a:extLst>
              </p:cNvPr>
              <p:cNvSpPr txBox="1">
                <a:spLocks noRot="1" noChangeAspect="1" noMove="1" noResize="1" noEditPoints="1" noAdjustHandles="1" noChangeArrowheads="1" noChangeShapeType="1" noTextEdit="1"/>
              </p:cNvSpPr>
              <p:nvPr/>
            </p:nvSpPr>
            <p:spPr>
              <a:xfrm>
                <a:off x="5783715" y="1617504"/>
                <a:ext cx="3538200" cy="1554300"/>
              </a:xfrm>
              <a:prstGeom prst="rect">
                <a:avLst/>
              </a:prstGeom>
              <a:blipFill>
                <a:blip r:embed="rId5"/>
                <a:stretch>
                  <a:fillRect b="-2313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9718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F1BF0BAC-5B11-EE1D-6E46-BF349FBAA9AF}"/>
            </a:ext>
          </a:extLst>
        </p:cNvPr>
        <p:cNvGrpSpPr/>
        <p:nvPr/>
      </p:nvGrpSpPr>
      <p:grpSpPr>
        <a:xfrm>
          <a:off x="0" y="0"/>
          <a:ext cx="0" cy="0"/>
          <a:chOff x="0" y="0"/>
          <a:chExt cx="0" cy="0"/>
        </a:xfrm>
      </p:grpSpPr>
      <p:pic>
        <p:nvPicPr>
          <p:cNvPr id="263" name="Google Shape;263;p29">
            <a:extLst>
              <a:ext uri="{FF2B5EF4-FFF2-40B4-BE49-F238E27FC236}">
                <a16:creationId xmlns:a16="http://schemas.microsoft.com/office/drawing/2014/main" id="{DBC5C160-5A46-035F-36C4-8AD4A6068C0F}"/>
              </a:ext>
            </a:extLst>
          </p:cNvPr>
          <p:cNvPicPr preferRelativeResize="0"/>
          <p:nvPr/>
        </p:nvPicPr>
        <p:blipFill rotWithShape="1">
          <a:blip r:embed="rId3">
            <a:alphaModFix/>
          </a:blip>
          <a:srcRect t="6769" r="31521"/>
          <a:stretch/>
        </p:blipFill>
        <p:spPr>
          <a:xfrm>
            <a:off x="2576813" y="1561646"/>
            <a:ext cx="3310341" cy="2160901"/>
          </a:xfrm>
          <a:prstGeom prst="rect">
            <a:avLst/>
          </a:prstGeom>
          <a:noFill/>
          <a:ln>
            <a:noFill/>
          </a:ln>
        </p:spPr>
      </p:pic>
      <p:sp>
        <p:nvSpPr>
          <p:cNvPr id="264" name="Google Shape;264;p29">
            <a:extLst>
              <a:ext uri="{FF2B5EF4-FFF2-40B4-BE49-F238E27FC236}">
                <a16:creationId xmlns:a16="http://schemas.microsoft.com/office/drawing/2014/main" id="{834ED2B2-E26B-7D34-0552-433A7B03A89E}"/>
              </a:ext>
            </a:extLst>
          </p:cNvPr>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Characterizing Beam Source</a:t>
            </a:r>
            <a:endParaRPr b="1" u="sng" dirty="0"/>
          </a:p>
        </p:txBody>
      </p:sp>
      <mc:AlternateContent xmlns:mc="http://schemas.openxmlformats.org/markup-compatibility/2006" xmlns:a14="http://schemas.microsoft.com/office/drawing/2010/main">
        <mc:Choice Requires="a14">
          <p:sp>
            <p:nvSpPr>
              <p:cNvPr id="265" name="Google Shape;265;p29">
                <a:extLst>
                  <a:ext uri="{FF2B5EF4-FFF2-40B4-BE49-F238E27FC236}">
                    <a16:creationId xmlns:a16="http://schemas.microsoft.com/office/drawing/2014/main" id="{9D91F50E-61F8-6C36-DC05-956DA5C4B79C}"/>
                  </a:ext>
                </a:extLst>
              </p:cNvPr>
              <p:cNvSpPr txBox="1"/>
              <p:nvPr/>
            </p:nvSpPr>
            <p:spPr>
              <a:xfrm>
                <a:off x="5783715" y="1617504"/>
                <a:ext cx="3538200" cy="1554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Wingdings" panose="05000000000000000000" pitchFamily="2" charset="2"/>
                  <a:buChar char="§"/>
                </a:pPr>
                <a14:m>
                  <m:oMath xmlns:m="http://schemas.openxmlformats.org/officeDocument/2006/math">
                    <m:sSub>
                      <m:sSubPr>
                        <m:ctrlPr>
                          <a:rPr lang="en-US" sz="1800" b="0" i="1" smtClean="0">
                            <a:solidFill>
                              <a:schemeClr val="dk2"/>
                            </a:solidFill>
                            <a:latin typeface="Cambria Math" panose="02040503050406030204" pitchFamily="18" charset="0"/>
                          </a:rPr>
                        </m:ctrlPr>
                      </m:sSubPr>
                      <m:e>
                        <m:d>
                          <m:dPr>
                            <m:ctrlPr>
                              <a:rPr lang="en-US" sz="1800" b="0" i="1" smtClean="0">
                                <a:solidFill>
                                  <a:schemeClr val="dk2"/>
                                </a:solidFill>
                                <a:latin typeface="Cambria Math" panose="02040503050406030204" pitchFamily="18" charset="0"/>
                              </a:rPr>
                            </m:ctrlPr>
                          </m:dPr>
                          <m:e>
                            <m:r>
                              <a:rPr lang="en-US" sz="1800" b="0" i="1" smtClean="0">
                                <a:solidFill>
                                  <a:schemeClr val="dk2"/>
                                </a:solidFill>
                                <a:latin typeface="Cambria Math" panose="02040503050406030204" pitchFamily="18" charset="0"/>
                              </a:rPr>
                              <m:t>𝛼</m:t>
                            </m:r>
                          </m:e>
                        </m:d>
                      </m:e>
                      <m:sub>
                        <m:r>
                          <a:rPr lang="en-US" sz="1800" b="0" i="1" smtClean="0">
                            <a:solidFill>
                              <a:schemeClr val="dk2"/>
                            </a:solidFill>
                            <a:latin typeface="Cambria Math" panose="02040503050406030204" pitchFamily="18" charset="0"/>
                          </a:rPr>
                          <m:t>1/</m:t>
                        </m:r>
                        <m:r>
                          <a:rPr lang="en-US" sz="1800" b="0" i="1" smtClean="0">
                            <a:solidFill>
                              <a:schemeClr val="dk2"/>
                            </a:solidFill>
                            <a:latin typeface="Cambria Math" panose="02040503050406030204" pitchFamily="18" charset="0"/>
                          </a:rPr>
                          <m:t>𝑒</m:t>
                        </m:r>
                      </m:sub>
                    </m:sSub>
                    <m:r>
                      <a:rPr lang="en-US" sz="1800" b="0" i="1" smtClean="0">
                        <a:solidFill>
                          <a:schemeClr val="dk2"/>
                        </a:solidFill>
                        <a:latin typeface="Cambria Math" panose="02040503050406030204" pitchFamily="18" charset="0"/>
                      </a:rPr>
                      <m:t>=1±0.1</m:t>
                    </m:r>
                  </m:oMath>
                </a14:m>
                <a:r>
                  <a:rPr lang="en-US" sz="1800" dirty="0">
                    <a:solidFill>
                      <a:schemeClr val="dk2"/>
                    </a:solidFill>
                  </a:rPr>
                  <a:t> </a:t>
                </a:r>
                <a14:m>
                  <m:oMath xmlns:m="http://schemas.openxmlformats.org/officeDocument/2006/math">
                    <m:r>
                      <m:rPr>
                        <m:sty m:val="p"/>
                      </m:rPr>
                      <a:rPr lang="en-US" sz="1800" i="0" dirty="0" smtClean="0">
                        <a:solidFill>
                          <a:schemeClr val="dk2"/>
                        </a:solidFill>
                        <a:latin typeface="Cambria Math" panose="02040503050406030204" pitchFamily="18" charset="0"/>
                      </a:rPr>
                      <m:t>degrees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Rb Flux: </a:t>
                </a:r>
                <a14:m>
                  <m:oMath xmlns:m="http://schemas.openxmlformats.org/officeDocument/2006/math">
                    <m:r>
                      <a:rPr lang="en-US" sz="1800" i="1" dirty="0" smtClean="0">
                        <a:solidFill>
                          <a:schemeClr val="dk2"/>
                        </a:solidFill>
                        <a:latin typeface="Cambria Math" panose="02040503050406030204" pitchFamily="18" charset="0"/>
                      </a:rPr>
                      <m:t>2.5∗</m:t>
                    </m:r>
                    <m:sSup>
                      <m:sSupPr>
                        <m:ctrlPr>
                          <a:rPr lang="en-US" sz="1800" b="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10</m:t>
                        </m:r>
                      </m:sup>
                    </m:sSup>
                    <m:r>
                      <a:rPr lang="en-US" sz="1800" b="0" i="0" dirty="0" smtClean="0">
                        <a:solidFill>
                          <a:schemeClr val="dk2"/>
                        </a:solidFill>
                        <a:latin typeface="Cambria Math" panose="02040503050406030204" pitchFamily="18" charset="0"/>
                      </a:rPr>
                      <m:t> </m:t>
                    </m:r>
                    <m:r>
                      <m:rPr>
                        <m:sty m:val="p"/>
                      </m:rPr>
                      <a:rPr lang="en-US" sz="1800" i="0" dirty="0" smtClean="0">
                        <a:solidFill>
                          <a:schemeClr val="dk2"/>
                        </a:solidFill>
                        <a:latin typeface="Cambria Math" panose="02040503050406030204" pitchFamily="18" charset="0"/>
                      </a:rPr>
                      <m:t>atoms</m:t>
                    </m:r>
                    <m:r>
                      <a:rPr lang="en-US" sz="1800" i="0" dirty="0" smtClean="0">
                        <a:solidFill>
                          <a:schemeClr val="dk2"/>
                        </a:solidFill>
                        <a:latin typeface="Cambria Math" panose="02040503050406030204" pitchFamily="18" charset="0"/>
                      </a:rPr>
                      <m:t>/</m:t>
                    </m:r>
                    <m:r>
                      <m:rPr>
                        <m:sty m:val="p"/>
                      </m:rPr>
                      <a:rPr lang="en-US" sz="1800" i="0" dirty="0" smtClean="0">
                        <a:solidFill>
                          <a:schemeClr val="dk2"/>
                        </a:solidFill>
                        <a:latin typeface="Cambria Math" panose="02040503050406030204" pitchFamily="18" charset="0"/>
                      </a:rPr>
                      <m:t>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err="1">
                    <a:solidFill>
                      <a:schemeClr val="dk2"/>
                    </a:solidFill>
                  </a:rPr>
                  <a:t>Ar</a:t>
                </a:r>
                <a:r>
                  <a:rPr lang="en-US" sz="1800" dirty="0">
                    <a:solidFill>
                      <a:schemeClr val="dk2"/>
                    </a:solidFill>
                  </a:rPr>
                  <a:t> Flux: </a:t>
                </a:r>
                <a14:m>
                  <m:oMath xmlns:m="http://schemas.openxmlformats.org/officeDocument/2006/math">
                    <m:r>
                      <a:rPr lang="en-US" sz="1800" i="1" dirty="0" smtClean="0">
                        <a:solidFill>
                          <a:schemeClr val="dk2"/>
                        </a:solidFill>
                        <a:latin typeface="Cambria Math" panose="02040503050406030204" pitchFamily="18" charset="0"/>
                      </a:rPr>
                      <m:t>5∗</m:t>
                    </m:r>
                    <m:sSup>
                      <m:sSupPr>
                        <m:ctrlPr>
                          <a:rPr lang="en-US" sz="180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15</m:t>
                        </m:r>
                      </m:sup>
                    </m:sSup>
                  </m:oMath>
                </a14:m>
                <a:r>
                  <a:rPr lang="en-US" sz="1800" dirty="0">
                    <a:solidFill>
                      <a:schemeClr val="dk2"/>
                    </a:solidFill>
                  </a:rPr>
                  <a:t> </a:t>
                </a:r>
                <a14:m>
                  <m:oMath xmlns:m="http://schemas.openxmlformats.org/officeDocument/2006/math">
                    <m:r>
                      <m:rPr>
                        <m:sty m:val="p"/>
                      </m:rPr>
                      <a:rPr lang="en-US" sz="1800" i="0" dirty="0" smtClean="0">
                        <a:solidFill>
                          <a:schemeClr val="dk2"/>
                        </a:solidFill>
                        <a:latin typeface="Cambria Math" panose="02040503050406030204" pitchFamily="18" charset="0"/>
                      </a:rPr>
                      <m:t>atoms</m:t>
                    </m:r>
                    <m:r>
                      <a:rPr lang="en-US" sz="1800" i="0" dirty="0" smtClean="0">
                        <a:solidFill>
                          <a:schemeClr val="dk2"/>
                        </a:solidFill>
                        <a:latin typeface="Cambria Math" panose="02040503050406030204" pitchFamily="18" charset="0"/>
                      </a:rPr>
                      <m:t>/</m:t>
                    </m:r>
                    <m:r>
                      <m:rPr>
                        <m:sty m:val="p"/>
                      </m:rPr>
                      <a:rPr lang="en-US" sz="1800" i="0" dirty="0" smtClean="0">
                        <a:solidFill>
                          <a:schemeClr val="dk2"/>
                        </a:solidFill>
                        <a:latin typeface="Cambria Math" panose="02040503050406030204" pitchFamily="18" charset="0"/>
                      </a:rPr>
                      <m:t>s</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Dopant Density: </a:t>
                </a:r>
                <a14:m>
                  <m:oMath xmlns:m="http://schemas.openxmlformats.org/officeDocument/2006/math">
                    <m:sSup>
                      <m:sSupPr>
                        <m:ctrlPr>
                          <a:rPr lang="en-US" sz="1800" i="1" dirty="0" smtClean="0">
                            <a:solidFill>
                              <a:schemeClr val="dk2"/>
                            </a:solidFill>
                            <a:latin typeface="Cambria Math" panose="02040503050406030204" pitchFamily="18" charset="0"/>
                          </a:rPr>
                        </m:ctrlPr>
                      </m:sSupPr>
                      <m:e>
                        <m:r>
                          <a:rPr lang="en-US" sz="1800" i="1" dirty="0" smtClean="0">
                            <a:solidFill>
                              <a:schemeClr val="dk2"/>
                            </a:solidFill>
                            <a:latin typeface="Cambria Math" panose="02040503050406030204" pitchFamily="18" charset="0"/>
                          </a:rPr>
                          <m:t>10</m:t>
                        </m:r>
                      </m:e>
                      <m:sup>
                        <m:r>
                          <a:rPr lang="en-US" sz="1800" i="1" dirty="0" smtClean="0">
                            <a:solidFill>
                              <a:schemeClr val="dk2"/>
                            </a:solidFill>
                            <a:latin typeface="Cambria Math" panose="02040503050406030204" pitchFamily="18" charset="0"/>
                          </a:rPr>
                          <m:t>17</m:t>
                        </m:r>
                      </m:sup>
                    </m:sSup>
                  </m:oMath>
                </a14:m>
                <a:r>
                  <a:rPr lang="en-US" sz="1800" dirty="0">
                    <a:solidFill>
                      <a:schemeClr val="dk2"/>
                    </a:solidFill>
                  </a:rPr>
                  <a:t> </a:t>
                </a:r>
                <a14:m>
                  <m:oMath xmlns:m="http://schemas.openxmlformats.org/officeDocument/2006/math">
                    <m:r>
                      <m:rPr>
                        <m:sty m:val="p"/>
                      </m:rPr>
                      <a:rPr lang="en-US" sz="1800" dirty="0">
                        <a:solidFill>
                          <a:schemeClr val="dk2"/>
                        </a:solidFill>
                        <a:latin typeface="Cambria Math" panose="02040503050406030204" pitchFamily="18" charset="0"/>
                      </a:rPr>
                      <m:t>d</m:t>
                    </m:r>
                    <m:r>
                      <m:rPr>
                        <m:sty m:val="p"/>
                      </m:rPr>
                      <a:rPr lang="en-US" sz="1800" b="0" i="0" dirty="0" smtClean="0">
                        <a:solidFill>
                          <a:schemeClr val="dk2"/>
                        </a:solidFill>
                        <a:latin typeface="Cambria Math" panose="02040503050406030204" pitchFamily="18" charset="0"/>
                      </a:rPr>
                      <m:t>opants</m:t>
                    </m:r>
                    <m:r>
                      <a:rPr lang="en-US" sz="1800" i="0" dirty="0" smtClean="0">
                        <a:solidFill>
                          <a:schemeClr val="dk2"/>
                        </a:solidFill>
                        <a:latin typeface="Cambria Math" panose="02040503050406030204" pitchFamily="18" charset="0"/>
                      </a:rPr>
                      <m:t>/</m:t>
                    </m:r>
                    <m:sSup>
                      <m:sSupPr>
                        <m:ctrlPr>
                          <a:rPr lang="en-US" sz="1800" b="0" i="1" dirty="0" smtClean="0">
                            <a:solidFill>
                              <a:schemeClr val="dk2"/>
                            </a:solidFill>
                            <a:latin typeface="Cambria Math" panose="02040503050406030204" pitchFamily="18" charset="0"/>
                          </a:rPr>
                        </m:ctrlPr>
                      </m:sSupPr>
                      <m:e>
                        <m:r>
                          <m:rPr>
                            <m:sty m:val="p"/>
                          </m:rPr>
                          <a:rPr lang="en-US" sz="1800" i="0" dirty="0" smtClean="0">
                            <a:solidFill>
                              <a:schemeClr val="dk2"/>
                            </a:solidFill>
                            <a:latin typeface="Cambria Math" panose="02040503050406030204" pitchFamily="18" charset="0"/>
                          </a:rPr>
                          <m:t>cm</m:t>
                        </m:r>
                      </m:e>
                      <m:sup>
                        <m:r>
                          <a:rPr lang="en-US" sz="1800" b="0" i="0" dirty="0" smtClean="0">
                            <a:solidFill>
                              <a:schemeClr val="dk2"/>
                            </a:solidFill>
                            <a:latin typeface="Cambria Math" panose="02040503050406030204" pitchFamily="18" charset="0"/>
                          </a:rPr>
                          <m:t>3</m:t>
                        </m:r>
                      </m:sup>
                    </m:sSup>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r>
                  <a:rPr lang="en-US" sz="1800" dirty="0">
                    <a:solidFill>
                      <a:schemeClr val="dk2"/>
                    </a:solidFill>
                  </a:rPr>
                  <a:t>Growth rate: </a:t>
                </a:r>
                <a14:m>
                  <m:oMath xmlns:m="http://schemas.openxmlformats.org/officeDocument/2006/math">
                    <m:r>
                      <a:rPr lang="en-US" sz="1800" i="1" dirty="0" smtClean="0">
                        <a:solidFill>
                          <a:schemeClr val="dk2"/>
                        </a:solidFill>
                        <a:latin typeface="Cambria Math" panose="02040503050406030204" pitchFamily="18" charset="0"/>
                      </a:rPr>
                      <m:t>5 </m:t>
                    </m:r>
                    <m:r>
                      <a:rPr lang="en-US" sz="1800" b="0" i="1" dirty="0" smtClean="0">
                        <a:solidFill>
                          <a:schemeClr val="dk2"/>
                        </a:solidFill>
                        <a:latin typeface="Cambria Math" panose="02040503050406030204" pitchFamily="18" charset="0"/>
                      </a:rPr>
                      <m:t>𝜇</m:t>
                    </m:r>
                    <m:r>
                      <m:rPr>
                        <m:sty m:val="p"/>
                      </m:rPr>
                      <a:rPr lang="en-US" sz="1800" i="0" dirty="0">
                        <a:solidFill>
                          <a:schemeClr val="dk2"/>
                        </a:solidFill>
                        <a:latin typeface="Cambria Math" panose="02040503050406030204" pitchFamily="18" charset="0"/>
                      </a:rPr>
                      <m:t>m</m:t>
                    </m:r>
                    <m:r>
                      <a:rPr lang="en-US" sz="1800" i="0" dirty="0">
                        <a:solidFill>
                          <a:schemeClr val="dk2"/>
                        </a:solidFill>
                        <a:latin typeface="Cambria Math" panose="02040503050406030204" pitchFamily="18" charset="0"/>
                      </a:rPr>
                      <m:t>/</m:t>
                    </m:r>
                    <m:r>
                      <m:rPr>
                        <m:sty m:val="p"/>
                      </m:rPr>
                      <a:rPr lang="en-US" sz="1800" i="0" dirty="0">
                        <a:solidFill>
                          <a:schemeClr val="dk2"/>
                        </a:solidFill>
                        <a:latin typeface="Cambria Math" panose="02040503050406030204" pitchFamily="18" charset="0"/>
                      </a:rPr>
                      <m:t>hour</m:t>
                    </m:r>
                  </m:oMath>
                </a14:m>
                <a:endParaRPr lang="en-US" sz="1800" dirty="0">
                  <a:solidFill>
                    <a:schemeClr val="dk2"/>
                  </a:solidFill>
                </a:endParaRPr>
              </a:p>
              <a:p>
                <a:pPr marL="400050" lvl="0" indent="-285750" algn="l" rtl="0">
                  <a:spcBef>
                    <a:spcPts val="0"/>
                  </a:spcBef>
                  <a:spcAft>
                    <a:spcPts val="0"/>
                  </a:spcAft>
                  <a:buClr>
                    <a:schemeClr val="dk2"/>
                  </a:buClr>
                  <a:buSzPts val="1800"/>
                  <a:buFont typeface="Wingdings" panose="05000000000000000000" pitchFamily="2" charset="2"/>
                  <a:buChar char="§"/>
                </a:pPr>
                <a14:m>
                  <m:oMath xmlns:m="http://schemas.openxmlformats.org/officeDocument/2006/math">
                    <m:r>
                      <a:rPr lang="en-US" sz="1800" b="1" i="1" smtClean="0">
                        <a:solidFill>
                          <a:schemeClr val="dk2"/>
                        </a:solidFill>
                        <a:latin typeface="Cambria Math" panose="02040503050406030204" pitchFamily="18" charset="0"/>
                      </a:rPr>
                      <m:t>⇒</m:t>
                    </m:r>
                    <m:sSup>
                      <m:sSupPr>
                        <m:ctrlPr>
                          <a:rPr lang="en-US" sz="1800" b="1" i="1" smtClean="0">
                            <a:solidFill>
                              <a:schemeClr val="dk2"/>
                            </a:solidFill>
                            <a:latin typeface="Cambria Math" panose="02040503050406030204" pitchFamily="18" charset="0"/>
                          </a:rPr>
                        </m:ctrlPr>
                      </m:sSupPr>
                      <m:e>
                        <m:r>
                          <a:rPr lang="en-US" sz="1800" b="1" i="1" smtClean="0">
                            <a:solidFill>
                              <a:schemeClr val="dk2"/>
                            </a:solidFill>
                            <a:latin typeface="Cambria Math" panose="02040503050406030204" pitchFamily="18" charset="0"/>
                          </a:rPr>
                          <m:t>𝟏𝟎</m:t>
                        </m:r>
                      </m:e>
                      <m:sup>
                        <m:r>
                          <a:rPr lang="en-US" sz="1800" b="1" i="1" smtClean="0">
                            <a:solidFill>
                              <a:schemeClr val="dk2"/>
                            </a:solidFill>
                            <a:latin typeface="Cambria Math" panose="02040503050406030204" pitchFamily="18" charset="0"/>
                          </a:rPr>
                          <m:t>𝟏𝟑</m:t>
                        </m:r>
                      </m:sup>
                    </m:sSup>
                    <m:r>
                      <a:rPr lang="en-US" sz="1800" b="1" i="0" smtClean="0">
                        <a:solidFill>
                          <a:schemeClr val="dk2"/>
                        </a:solidFill>
                        <a:latin typeface="Cambria Math" panose="02040503050406030204" pitchFamily="18" charset="0"/>
                      </a:rPr>
                      <m:t> </m:t>
                    </m:r>
                    <m:r>
                      <a:rPr lang="en-US" sz="1800" b="1" i="0" dirty="0" smtClean="0">
                        <a:solidFill>
                          <a:schemeClr val="dk2"/>
                        </a:solidFill>
                        <a:latin typeface="Cambria Math" panose="02040503050406030204" pitchFamily="18" charset="0"/>
                      </a:rPr>
                      <m:t>𝐝𝐨𝐩𝐚𝐧𝐭𝐬</m:t>
                    </m:r>
                    <m:r>
                      <a:rPr lang="en-US" sz="1800" b="1" i="0" dirty="0" smtClean="0">
                        <a:solidFill>
                          <a:schemeClr val="dk2"/>
                        </a:solidFill>
                        <a:latin typeface="Cambria Math" panose="02040503050406030204" pitchFamily="18" charset="0"/>
                      </a:rPr>
                      <m:t> </m:t>
                    </m:r>
                    <m:r>
                      <a:rPr lang="en-US" sz="1800" b="1" i="0" dirty="0" smtClean="0">
                        <a:solidFill>
                          <a:schemeClr val="dk2"/>
                        </a:solidFill>
                        <a:latin typeface="Cambria Math" panose="02040503050406030204" pitchFamily="18" charset="0"/>
                      </a:rPr>
                      <m:t>𝐢𝐧</m:t>
                    </m:r>
                    <m:r>
                      <a:rPr lang="en-US" sz="1800" b="1" i="0" dirty="0" smtClean="0">
                        <a:solidFill>
                          <a:schemeClr val="dk2"/>
                        </a:solidFill>
                        <a:latin typeface="Cambria Math" panose="02040503050406030204" pitchFamily="18" charset="0"/>
                      </a:rPr>
                      <m:t> </m:t>
                    </m:r>
                    <m:r>
                      <a:rPr lang="en-US" sz="1800" b="1" i="1" dirty="0" smtClean="0">
                        <a:solidFill>
                          <a:schemeClr val="dk2"/>
                        </a:solidFill>
                        <a:latin typeface="Cambria Math" panose="02040503050406030204" pitchFamily="18" charset="0"/>
                      </a:rPr>
                      <m:t>𝟓</m:t>
                    </m:r>
                    <m:r>
                      <a:rPr lang="en-US" sz="1800" b="1" i="1" dirty="0" smtClean="0">
                        <a:solidFill>
                          <a:schemeClr val="dk2"/>
                        </a:solidFill>
                        <a:latin typeface="Cambria Math" panose="02040503050406030204" pitchFamily="18" charset="0"/>
                      </a:rPr>
                      <m:t> </m:t>
                    </m:r>
                    <m:r>
                      <a:rPr lang="en-US" sz="1800" b="1" i="0" dirty="0" smtClean="0">
                        <a:solidFill>
                          <a:schemeClr val="dk2"/>
                        </a:solidFill>
                        <a:latin typeface="Cambria Math" panose="02040503050406030204" pitchFamily="18" charset="0"/>
                      </a:rPr>
                      <m:t>𝐡𝐨𝐮𝐫𝐬</m:t>
                    </m:r>
                  </m:oMath>
                </a14:m>
                <a:endParaRPr sz="1800" b="1" dirty="0">
                  <a:solidFill>
                    <a:schemeClr val="dk2"/>
                  </a:solidFill>
                </a:endParaRPr>
              </a:p>
            </p:txBody>
          </p:sp>
        </mc:Choice>
        <mc:Fallback xmlns="">
          <p:sp>
            <p:nvSpPr>
              <p:cNvPr id="265" name="Google Shape;265;p29">
                <a:extLst>
                  <a:ext uri="{FF2B5EF4-FFF2-40B4-BE49-F238E27FC236}">
                    <a16:creationId xmlns:a16="http://schemas.microsoft.com/office/drawing/2014/main" id="{9D91F50E-61F8-6C36-DC05-956DA5C4B79C}"/>
                  </a:ext>
                </a:extLst>
              </p:cNvPr>
              <p:cNvSpPr txBox="1">
                <a:spLocks noRot="1" noChangeAspect="1" noMove="1" noResize="1" noEditPoints="1" noAdjustHandles="1" noChangeArrowheads="1" noChangeShapeType="1" noTextEdit="1"/>
              </p:cNvSpPr>
              <p:nvPr/>
            </p:nvSpPr>
            <p:spPr>
              <a:xfrm>
                <a:off x="5783715" y="1617504"/>
                <a:ext cx="3538200" cy="1554300"/>
              </a:xfrm>
              <a:prstGeom prst="rect">
                <a:avLst/>
              </a:prstGeom>
              <a:blipFill>
                <a:blip r:embed="rId4"/>
                <a:stretch>
                  <a:fillRect b="-40000"/>
                </a:stretch>
              </a:blipFill>
              <a:ln>
                <a:noFill/>
              </a:ln>
            </p:spPr>
            <p:txBody>
              <a:bodyPr/>
              <a:lstStyle/>
              <a:p>
                <a:r>
                  <a:rPr lang="en-US">
                    <a:noFill/>
                  </a:rPr>
                  <a:t> </a:t>
                </a:r>
              </a:p>
            </p:txBody>
          </p:sp>
        </mc:Fallback>
      </mc:AlternateContent>
      <p:pic>
        <p:nvPicPr>
          <p:cNvPr id="2" name="Google Shape;255;p28">
            <a:extLst>
              <a:ext uri="{FF2B5EF4-FFF2-40B4-BE49-F238E27FC236}">
                <a16:creationId xmlns:a16="http://schemas.microsoft.com/office/drawing/2014/main" id="{B9331064-356B-C956-C245-B889F8530333}"/>
              </a:ext>
            </a:extLst>
          </p:cNvPr>
          <p:cNvPicPr preferRelativeResize="0"/>
          <p:nvPr/>
        </p:nvPicPr>
        <p:blipFill>
          <a:blip r:embed="rId5">
            <a:alphaModFix/>
          </a:blip>
          <a:stretch>
            <a:fillRect/>
          </a:stretch>
        </p:blipFill>
        <p:spPr>
          <a:xfrm>
            <a:off x="72071" y="1617504"/>
            <a:ext cx="2504742" cy="2049187"/>
          </a:xfrm>
          <a:prstGeom prst="rect">
            <a:avLst/>
          </a:prstGeom>
          <a:noFill/>
          <a:ln>
            <a:noFill/>
          </a:ln>
        </p:spPr>
      </p:pic>
    </p:spTree>
    <p:extLst>
      <p:ext uri="{BB962C8B-B14F-4D97-AF65-F5344CB8AC3E}">
        <p14:creationId xmlns:p14="http://schemas.microsoft.com/office/powerpoint/2010/main" val="1831566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0"/>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Next Steps</a:t>
            </a:r>
            <a:endParaRPr b="1" u="sng" dirty="0"/>
          </a:p>
        </p:txBody>
      </p:sp>
      <p:pic>
        <p:nvPicPr>
          <p:cNvPr id="271" name="Google Shape;271;p30" title="IMG_7187.HEIC"/>
          <p:cNvPicPr preferRelativeResize="0"/>
          <p:nvPr/>
        </p:nvPicPr>
        <p:blipFill>
          <a:blip r:embed="rId3">
            <a:alphaModFix/>
          </a:blip>
          <a:srcRect t="10124"/>
          <a:stretch>
            <a:fillRect/>
          </a:stretch>
        </p:blipFill>
        <p:spPr>
          <a:xfrm>
            <a:off x="1041643" y="1182083"/>
            <a:ext cx="2934351" cy="3516392"/>
          </a:xfrm>
          <a:prstGeom prst="rect">
            <a:avLst/>
          </a:prstGeom>
          <a:noFill/>
          <a:ln>
            <a:noFill/>
          </a:ln>
        </p:spPr>
      </p:pic>
      <p:sp>
        <p:nvSpPr>
          <p:cNvPr id="272" name="Google Shape;272;p30"/>
          <p:cNvSpPr txBox="1"/>
          <p:nvPr/>
        </p:nvSpPr>
        <p:spPr>
          <a:xfrm>
            <a:off x="4923300" y="1548475"/>
            <a:ext cx="4182900" cy="5061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Wingdings" panose="05000000000000000000" pitchFamily="2" charset="2"/>
              <a:buChar char="§"/>
            </a:pPr>
            <a:r>
              <a:rPr lang="en" sz="1800" dirty="0">
                <a:solidFill>
                  <a:schemeClr val="dk2"/>
                </a:solidFill>
              </a:rPr>
              <a:t>Grow Doped Crystals!!</a:t>
            </a:r>
            <a:endParaRPr sz="1800" dirty="0">
              <a:solidFill>
                <a:schemeClr val="dk2"/>
              </a:solidFill>
            </a:endParaRPr>
          </a:p>
          <a:p>
            <a:pPr marL="457200" lvl="0" indent="-342900" algn="l" rtl="0">
              <a:spcBef>
                <a:spcPts val="0"/>
              </a:spcBef>
              <a:spcAft>
                <a:spcPts val="0"/>
              </a:spcAft>
              <a:buClr>
                <a:schemeClr val="dk2"/>
              </a:buClr>
              <a:buSzPts val="1800"/>
              <a:buFont typeface="Wingdings" panose="05000000000000000000" pitchFamily="2" charset="2"/>
              <a:buChar char="§"/>
            </a:pPr>
            <a:r>
              <a:rPr lang="en" sz="1800" dirty="0">
                <a:solidFill>
                  <a:schemeClr val="dk2"/>
                </a:solidFill>
              </a:rPr>
              <a:t>Measure crystal properties to check beam characterization</a:t>
            </a:r>
            <a:endParaRPr sz="1800" dirty="0">
              <a:solidFill>
                <a:schemeClr val="dk2"/>
              </a:solidFill>
            </a:endParaRPr>
          </a:p>
          <a:p>
            <a:pPr marL="914400" lvl="1" indent="-342900" algn="l" rtl="0">
              <a:spcBef>
                <a:spcPts val="0"/>
              </a:spcBef>
              <a:spcAft>
                <a:spcPts val="0"/>
              </a:spcAft>
              <a:buClr>
                <a:schemeClr val="dk2"/>
              </a:buClr>
              <a:buSzPts val="1800"/>
              <a:buFont typeface="Wingdings" panose="05000000000000000000" pitchFamily="2" charset="2"/>
              <a:buChar char="§"/>
            </a:pPr>
            <a:r>
              <a:rPr lang="en" sz="1800" dirty="0">
                <a:solidFill>
                  <a:schemeClr val="dk2"/>
                </a:solidFill>
              </a:rPr>
              <a:t>Growth Rate/Dopant Density can be directly measured</a:t>
            </a:r>
            <a:endParaRPr sz="1800" dirty="0">
              <a:solidFill>
                <a:schemeClr val="dk2"/>
              </a:solidFill>
            </a:endParaRPr>
          </a:p>
          <a:p>
            <a:pPr marL="457200" lvl="0" indent="-342900" algn="l" rtl="0">
              <a:spcBef>
                <a:spcPts val="0"/>
              </a:spcBef>
              <a:spcAft>
                <a:spcPts val="0"/>
              </a:spcAft>
              <a:buClr>
                <a:schemeClr val="dk2"/>
              </a:buClr>
              <a:buSzPts val="1800"/>
              <a:buFont typeface="Wingdings" panose="05000000000000000000" pitchFamily="2" charset="2"/>
              <a:buChar char="§"/>
            </a:pPr>
            <a:r>
              <a:rPr lang="en" sz="1800" dirty="0">
                <a:solidFill>
                  <a:schemeClr val="dk2"/>
                </a:solidFill>
              </a:rPr>
              <a:t>Explore larger parameter space </a:t>
            </a:r>
            <a:endParaRPr sz="1800" dirty="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1"/>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t>Acknowledgements </a:t>
            </a:r>
            <a:endParaRPr b="1" u="sng" dirty="0"/>
          </a:p>
        </p:txBody>
      </p:sp>
      <p:pic>
        <p:nvPicPr>
          <p:cNvPr id="278" name="Google Shape;278;p31"/>
          <p:cNvPicPr preferRelativeResize="0"/>
          <p:nvPr/>
        </p:nvPicPr>
        <p:blipFill>
          <a:blip r:embed="rId3">
            <a:alphaModFix/>
          </a:blip>
          <a:stretch>
            <a:fillRect/>
          </a:stretch>
        </p:blipFill>
        <p:spPr>
          <a:xfrm>
            <a:off x="5010925" y="772675"/>
            <a:ext cx="4045899" cy="1019483"/>
          </a:xfrm>
          <a:prstGeom prst="rect">
            <a:avLst/>
          </a:prstGeom>
          <a:noFill/>
          <a:ln>
            <a:noFill/>
          </a:ln>
        </p:spPr>
      </p:pic>
      <p:pic>
        <p:nvPicPr>
          <p:cNvPr id="279" name="Google Shape;279;p31"/>
          <p:cNvPicPr preferRelativeResize="0"/>
          <p:nvPr/>
        </p:nvPicPr>
        <p:blipFill>
          <a:blip r:embed="rId4">
            <a:alphaModFix/>
          </a:blip>
          <a:stretch>
            <a:fillRect/>
          </a:stretch>
        </p:blipFill>
        <p:spPr>
          <a:xfrm>
            <a:off x="5204874" y="1968700"/>
            <a:ext cx="3658000" cy="2112750"/>
          </a:xfrm>
          <a:prstGeom prst="rect">
            <a:avLst/>
          </a:prstGeom>
          <a:noFill/>
          <a:ln>
            <a:noFill/>
          </a:ln>
        </p:spPr>
      </p:pic>
      <p:sp>
        <p:nvSpPr>
          <p:cNvPr id="280" name="Google Shape;280;p31"/>
          <p:cNvSpPr txBox="1"/>
          <p:nvPr/>
        </p:nvSpPr>
        <p:spPr>
          <a:xfrm>
            <a:off x="0" y="4450800"/>
            <a:ext cx="9144000" cy="69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i="1">
                <a:solidFill>
                  <a:schemeClr val="dk1"/>
                </a:solidFill>
              </a:rPr>
              <a:t>The study resulting in this presentation was assisted by a grant from the Undergraduate Research Grant Program which is administered by Northwestern University's Office of Undergraduate Research. However, the conclusions, opinions, and other statements in this presentation are the author's and not necessarily those of the sponsoring institution.</a:t>
            </a:r>
            <a:endParaRPr sz="1000"/>
          </a:p>
        </p:txBody>
      </p:sp>
      <p:sp>
        <p:nvSpPr>
          <p:cNvPr id="281" name="Google Shape;281;p31"/>
          <p:cNvSpPr/>
          <p:nvPr/>
        </p:nvSpPr>
        <p:spPr>
          <a:xfrm>
            <a:off x="249550" y="1605675"/>
            <a:ext cx="4835100" cy="1294279"/>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2" name="Google Shape;282;p31" title="logo2.jpg"/>
          <p:cNvPicPr preferRelativeResize="0"/>
          <p:nvPr/>
        </p:nvPicPr>
        <p:blipFill>
          <a:blip r:embed="rId5">
            <a:alphaModFix/>
          </a:blip>
          <a:stretch>
            <a:fillRect/>
          </a:stretch>
        </p:blipFill>
        <p:spPr>
          <a:xfrm>
            <a:off x="249549" y="1146624"/>
            <a:ext cx="2190248" cy="412650"/>
          </a:xfrm>
          <a:prstGeom prst="rect">
            <a:avLst/>
          </a:prstGeom>
          <a:noFill/>
          <a:ln>
            <a:noFill/>
          </a:ln>
        </p:spPr>
      </p:pic>
      <p:pic>
        <p:nvPicPr>
          <p:cNvPr id="283" name="Google Shape;283;p31" title="Odom_150x150.jpg"/>
          <p:cNvPicPr preferRelativeResize="0"/>
          <p:nvPr/>
        </p:nvPicPr>
        <p:blipFill>
          <a:blip r:embed="rId6">
            <a:alphaModFix/>
          </a:blip>
          <a:stretch>
            <a:fillRect/>
          </a:stretch>
        </p:blipFill>
        <p:spPr>
          <a:xfrm>
            <a:off x="312751" y="1670933"/>
            <a:ext cx="897750" cy="897750"/>
          </a:xfrm>
          <a:prstGeom prst="rect">
            <a:avLst/>
          </a:prstGeom>
          <a:noFill/>
          <a:ln>
            <a:noFill/>
          </a:ln>
        </p:spPr>
      </p:pic>
      <p:pic>
        <p:nvPicPr>
          <p:cNvPr id="284" name="Google Shape;284;p31" title="Daniel_Lutes2023_150.jpg"/>
          <p:cNvPicPr preferRelativeResize="0"/>
          <p:nvPr/>
        </p:nvPicPr>
        <p:blipFill>
          <a:blip r:embed="rId7">
            <a:alphaModFix/>
          </a:blip>
          <a:stretch>
            <a:fillRect/>
          </a:stretch>
        </p:blipFill>
        <p:spPr>
          <a:xfrm>
            <a:off x="1257876" y="1670933"/>
            <a:ext cx="897750" cy="897750"/>
          </a:xfrm>
          <a:prstGeom prst="rect">
            <a:avLst/>
          </a:prstGeom>
          <a:noFill/>
          <a:ln>
            <a:noFill/>
          </a:ln>
        </p:spPr>
      </p:pic>
      <p:pic>
        <p:nvPicPr>
          <p:cNvPr id="285" name="Google Shape;285;p31" title="joel-adhiambo-150x150.jpg"/>
          <p:cNvPicPr preferRelativeResize="0"/>
          <p:nvPr/>
        </p:nvPicPr>
        <p:blipFill>
          <a:blip r:embed="rId8">
            <a:alphaModFix/>
          </a:blip>
          <a:stretch>
            <a:fillRect/>
          </a:stretch>
        </p:blipFill>
        <p:spPr>
          <a:xfrm>
            <a:off x="2205276" y="1670945"/>
            <a:ext cx="897750" cy="897750"/>
          </a:xfrm>
          <a:prstGeom prst="rect">
            <a:avLst/>
          </a:prstGeom>
          <a:noFill/>
          <a:ln w="19050" cap="flat" cmpd="sng">
            <a:solidFill>
              <a:schemeClr val="dk1"/>
            </a:solidFill>
            <a:prstDash val="solid"/>
            <a:round/>
            <a:headEnd type="none" w="sm" len="sm"/>
            <a:tailEnd type="none" w="sm" len="sm"/>
          </a:ln>
        </p:spPr>
      </p:pic>
      <p:pic>
        <p:nvPicPr>
          <p:cNvPr id="286" name="Google Shape;286;p31" title="brandon-lofton-sq.jpg"/>
          <p:cNvPicPr preferRelativeResize="0"/>
          <p:nvPr/>
        </p:nvPicPr>
        <p:blipFill>
          <a:blip r:embed="rId9">
            <a:alphaModFix/>
          </a:blip>
          <a:stretch>
            <a:fillRect/>
          </a:stretch>
        </p:blipFill>
        <p:spPr>
          <a:xfrm>
            <a:off x="4135176" y="1681945"/>
            <a:ext cx="875749" cy="875749"/>
          </a:xfrm>
          <a:prstGeom prst="rect">
            <a:avLst/>
          </a:prstGeom>
          <a:noFill/>
          <a:ln w="19050" cap="flat" cmpd="sng">
            <a:solidFill>
              <a:schemeClr val="dk1"/>
            </a:solidFill>
            <a:prstDash val="solid"/>
            <a:round/>
            <a:headEnd type="none" w="sm" len="sm"/>
            <a:tailEnd type="none" w="sm" len="sm"/>
          </a:ln>
        </p:spPr>
      </p:pic>
      <p:pic>
        <p:nvPicPr>
          <p:cNvPr id="287" name="Google Shape;287;p31" title="HaleyRandall2026.jpg"/>
          <p:cNvPicPr preferRelativeResize="0"/>
          <p:nvPr/>
        </p:nvPicPr>
        <p:blipFill>
          <a:blip r:embed="rId10">
            <a:alphaModFix/>
          </a:blip>
          <a:stretch>
            <a:fillRect/>
          </a:stretch>
        </p:blipFill>
        <p:spPr>
          <a:xfrm>
            <a:off x="3178964" y="1676470"/>
            <a:ext cx="875761" cy="886696"/>
          </a:xfrm>
          <a:prstGeom prst="rect">
            <a:avLst/>
          </a:prstGeom>
          <a:noFill/>
          <a:ln w="19050" cap="flat" cmpd="sng">
            <a:solidFill>
              <a:schemeClr val="dk1"/>
            </a:solidFill>
            <a:prstDash val="solid"/>
            <a:round/>
            <a:headEnd type="none" w="sm" len="sm"/>
            <a:tailEnd type="none" w="sm" len="sm"/>
          </a:ln>
        </p:spPr>
      </p:pic>
      <p:sp>
        <p:nvSpPr>
          <p:cNvPr id="288" name="Google Shape;288;p31"/>
          <p:cNvSpPr/>
          <p:nvPr/>
        </p:nvSpPr>
        <p:spPr>
          <a:xfrm>
            <a:off x="249549" y="2993251"/>
            <a:ext cx="3059708" cy="12168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9" name="Google Shape;289;p31" title="tim-kovachy-100.jpg"/>
          <p:cNvPicPr preferRelativeResize="0"/>
          <p:nvPr/>
        </p:nvPicPr>
        <p:blipFill>
          <a:blip r:embed="rId11">
            <a:alphaModFix/>
          </a:blip>
          <a:stretch>
            <a:fillRect/>
          </a:stretch>
        </p:blipFill>
        <p:spPr>
          <a:xfrm>
            <a:off x="1360091" y="3102732"/>
            <a:ext cx="806519" cy="806519"/>
          </a:xfrm>
          <a:prstGeom prst="rect">
            <a:avLst/>
          </a:prstGeom>
          <a:noFill/>
          <a:ln w="16125" cap="flat" cmpd="sng">
            <a:solidFill>
              <a:schemeClr val="dk1"/>
            </a:solidFill>
            <a:prstDash val="solid"/>
            <a:round/>
            <a:headEnd type="none" w="sm" len="sm"/>
            <a:tailEnd type="none" w="sm" len="sm"/>
          </a:ln>
        </p:spPr>
      </p:pic>
      <p:pic>
        <p:nvPicPr>
          <p:cNvPr id="290" name="Google Shape;290;p31" title="sharika_saraf100.jpg"/>
          <p:cNvPicPr preferRelativeResize="0"/>
          <p:nvPr/>
        </p:nvPicPr>
        <p:blipFill>
          <a:blip r:embed="rId12">
            <a:alphaModFix/>
          </a:blip>
          <a:stretch>
            <a:fillRect/>
          </a:stretch>
        </p:blipFill>
        <p:spPr>
          <a:xfrm>
            <a:off x="2389747" y="3102732"/>
            <a:ext cx="806519" cy="806519"/>
          </a:xfrm>
          <a:prstGeom prst="rect">
            <a:avLst/>
          </a:prstGeom>
          <a:noFill/>
          <a:ln w="16125" cap="flat" cmpd="sng">
            <a:solidFill>
              <a:schemeClr val="dk1"/>
            </a:solidFill>
            <a:prstDash val="solid"/>
            <a:round/>
            <a:headEnd type="none" w="sm" len="sm"/>
            <a:tailEnd type="none" w="sm" len="sm"/>
          </a:ln>
        </p:spPr>
      </p:pic>
      <p:sp>
        <p:nvSpPr>
          <p:cNvPr id="291" name="Google Shape;291;p31"/>
          <p:cNvSpPr txBox="1"/>
          <p:nvPr/>
        </p:nvSpPr>
        <p:spPr>
          <a:xfrm>
            <a:off x="281125" y="3030085"/>
            <a:ext cx="1746900" cy="38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tx1"/>
                </a:solidFill>
              </a:rPr>
              <a:t>Kovachy </a:t>
            </a:r>
          </a:p>
          <a:p>
            <a:pPr marL="0" lvl="0" indent="0" algn="l" rtl="0">
              <a:spcBef>
                <a:spcPts val="0"/>
              </a:spcBef>
              <a:spcAft>
                <a:spcPts val="0"/>
              </a:spcAft>
              <a:buNone/>
            </a:pPr>
            <a:r>
              <a:rPr lang="en" sz="1600" dirty="0">
                <a:solidFill>
                  <a:schemeClr val="tx1"/>
                </a:solidFill>
              </a:rPr>
              <a:t>Lab</a:t>
            </a:r>
            <a:endParaRPr sz="1600" dirty="0">
              <a:solidFill>
                <a:schemeClr val="tx1"/>
              </a:solidFill>
            </a:endParaRPr>
          </a:p>
        </p:txBody>
      </p:sp>
      <p:sp>
        <p:nvSpPr>
          <p:cNvPr id="2" name="TextBox 1">
            <a:extLst>
              <a:ext uri="{FF2B5EF4-FFF2-40B4-BE49-F238E27FC236}">
                <a16:creationId xmlns:a16="http://schemas.microsoft.com/office/drawing/2014/main" id="{D8F72089-F94B-7CF1-54AA-10F7BC410A49}"/>
              </a:ext>
            </a:extLst>
          </p:cNvPr>
          <p:cNvSpPr txBox="1"/>
          <p:nvPr/>
        </p:nvSpPr>
        <p:spPr>
          <a:xfrm>
            <a:off x="249549" y="2567170"/>
            <a:ext cx="958677" cy="246221"/>
          </a:xfrm>
          <a:prstGeom prst="rect">
            <a:avLst/>
          </a:prstGeom>
          <a:noFill/>
        </p:spPr>
        <p:txBody>
          <a:bodyPr wrap="square" rtlCol="0">
            <a:spAutoFit/>
          </a:bodyPr>
          <a:lstStyle/>
          <a:p>
            <a:r>
              <a:rPr lang="en-US" sz="1000" dirty="0"/>
              <a:t>Brian Odom </a:t>
            </a:r>
          </a:p>
        </p:txBody>
      </p:sp>
      <p:sp>
        <p:nvSpPr>
          <p:cNvPr id="3" name="TextBox 2">
            <a:extLst>
              <a:ext uri="{FF2B5EF4-FFF2-40B4-BE49-F238E27FC236}">
                <a16:creationId xmlns:a16="http://schemas.microsoft.com/office/drawing/2014/main" id="{D89397FC-5D0C-90D3-8209-7C48A8786268}"/>
              </a:ext>
            </a:extLst>
          </p:cNvPr>
          <p:cNvSpPr txBox="1"/>
          <p:nvPr/>
        </p:nvSpPr>
        <p:spPr>
          <a:xfrm>
            <a:off x="1173126" y="2574818"/>
            <a:ext cx="958677" cy="246221"/>
          </a:xfrm>
          <a:prstGeom prst="rect">
            <a:avLst/>
          </a:prstGeom>
          <a:noFill/>
        </p:spPr>
        <p:txBody>
          <a:bodyPr wrap="square" rtlCol="0">
            <a:spAutoFit/>
          </a:bodyPr>
          <a:lstStyle/>
          <a:p>
            <a:r>
              <a:rPr lang="en-US" sz="1000" dirty="0"/>
              <a:t>Daniel Lutes</a:t>
            </a:r>
          </a:p>
        </p:txBody>
      </p:sp>
      <p:sp>
        <p:nvSpPr>
          <p:cNvPr id="4" name="TextBox 3">
            <a:extLst>
              <a:ext uri="{FF2B5EF4-FFF2-40B4-BE49-F238E27FC236}">
                <a16:creationId xmlns:a16="http://schemas.microsoft.com/office/drawing/2014/main" id="{CE7963E3-8571-5A1B-0738-1E5044200BC3}"/>
              </a:ext>
            </a:extLst>
          </p:cNvPr>
          <p:cNvSpPr txBox="1"/>
          <p:nvPr/>
        </p:nvSpPr>
        <p:spPr>
          <a:xfrm>
            <a:off x="2131802" y="2567169"/>
            <a:ext cx="1064464" cy="246221"/>
          </a:xfrm>
          <a:prstGeom prst="rect">
            <a:avLst/>
          </a:prstGeom>
          <a:noFill/>
        </p:spPr>
        <p:txBody>
          <a:bodyPr wrap="square" rtlCol="0">
            <a:spAutoFit/>
          </a:bodyPr>
          <a:lstStyle/>
          <a:p>
            <a:r>
              <a:rPr lang="en-US" sz="1000" dirty="0"/>
              <a:t>Joel Adhiambo</a:t>
            </a:r>
          </a:p>
        </p:txBody>
      </p:sp>
      <p:sp>
        <p:nvSpPr>
          <p:cNvPr id="5" name="TextBox 4">
            <a:extLst>
              <a:ext uri="{FF2B5EF4-FFF2-40B4-BE49-F238E27FC236}">
                <a16:creationId xmlns:a16="http://schemas.microsoft.com/office/drawing/2014/main" id="{F269E3FC-CA05-69B4-9B8D-EC2AAB0EEB97}"/>
              </a:ext>
            </a:extLst>
          </p:cNvPr>
          <p:cNvSpPr txBox="1"/>
          <p:nvPr/>
        </p:nvSpPr>
        <p:spPr>
          <a:xfrm>
            <a:off x="3101605" y="2563497"/>
            <a:ext cx="1064464" cy="246221"/>
          </a:xfrm>
          <a:prstGeom prst="rect">
            <a:avLst/>
          </a:prstGeom>
          <a:noFill/>
        </p:spPr>
        <p:txBody>
          <a:bodyPr wrap="square" rtlCol="0">
            <a:spAutoFit/>
          </a:bodyPr>
          <a:lstStyle/>
          <a:p>
            <a:r>
              <a:rPr lang="en-US" sz="1000" dirty="0"/>
              <a:t>Haley Randall</a:t>
            </a:r>
          </a:p>
        </p:txBody>
      </p:sp>
      <p:sp>
        <p:nvSpPr>
          <p:cNvPr id="6" name="TextBox 5">
            <a:extLst>
              <a:ext uri="{FF2B5EF4-FFF2-40B4-BE49-F238E27FC236}">
                <a16:creationId xmlns:a16="http://schemas.microsoft.com/office/drawing/2014/main" id="{EA8D856F-5FA9-9AB8-CE43-87E030CAB6A9}"/>
              </a:ext>
            </a:extLst>
          </p:cNvPr>
          <p:cNvSpPr txBox="1"/>
          <p:nvPr/>
        </p:nvSpPr>
        <p:spPr>
          <a:xfrm>
            <a:off x="4056923" y="2557694"/>
            <a:ext cx="1064464" cy="246221"/>
          </a:xfrm>
          <a:prstGeom prst="rect">
            <a:avLst/>
          </a:prstGeom>
          <a:noFill/>
        </p:spPr>
        <p:txBody>
          <a:bodyPr wrap="square" rtlCol="0">
            <a:spAutoFit/>
          </a:bodyPr>
          <a:lstStyle/>
          <a:p>
            <a:r>
              <a:rPr lang="en-US" sz="1000" dirty="0"/>
              <a:t>Brandon Lofton</a:t>
            </a:r>
          </a:p>
        </p:txBody>
      </p:sp>
      <p:sp>
        <p:nvSpPr>
          <p:cNvPr id="7" name="TextBox 6">
            <a:extLst>
              <a:ext uri="{FF2B5EF4-FFF2-40B4-BE49-F238E27FC236}">
                <a16:creationId xmlns:a16="http://schemas.microsoft.com/office/drawing/2014/main" id="{3FCACCB4-6301-5929-3B02-B32501E77757}"/>
              </a:ext>
            </a:extLst>
          </p:cNvPr>
          <p:cNvSpPr txBox="1"/>
          <p:nvPr/>
        </p:nvSpPr>
        <p:spPr>
          <a:xfrm>
            <a:off x="1257876" y="3895621"/>
            <a:ext cx="958677" cy="246221"/>
          </a:xfrm>
          <a:prstGeom prst="rect">
            <a:avLst/>
          </a:prstGeom>
          <a:noFill/>
        </p:spPr>
        <p:txBody>
          <a:bodyPr wrap="square" rtlCol="0">
            <a:spAutoFit/>
          </a:bodyPr>
          <a:lstStyle/>
          <a:p>
            <a:r>
              <a:rPr lang="en-US" sz="1000" dirty="0"/>
              <a:t>Tim </a:t>
            </a:r>
            <a:r>
              <a:rPr lang="en-US" sz="1000" dirty="0" err="1"/>
              <a:t>Kovachy</a:t>
            </a:r>
            <a:endParaRPr lang="en-US" sz="1000" dirty="0"/>
          </a:p>
        </p:txBody>
      </p:sp>
      <p:sp>
        <p:nvSpPr>
          <p:cNvPr id="8" name="TextBox 7">
            <a:extLst>
              <a:ext uri="{FF2B5EF4-FFF2-40B4-BE49-F238E27FC236}">
                <a16:creationId xmlns:a16="http://schemas.microsoft.com/office/drawing/2014/main" id="{43054BB3-5E60-3EE0-53E4-DB7A25D5DC79}"/>
              </a:ext>
            </a:extLst>
          </p:cNvPr>
          <p:cNvSpPr txBox="1"/>
          <p:nvPr/>
        </p:nvSpPr>
        <p:spPr>
          <a:xfrm>
            <a:off x="2283566" y="3895621"/>
            <a:ext cx="958677" cy="246221"/>
          </a:xfrm>
          <a:prstGeom prst="rect">
            <a:avLst/>
          </a:prstGeom>
          <a:noFill/>
        </p:spPr>
        <p:txBody>
          <a:bodyPr wrap="square" rtlCol="0">
            <a:spAutoFit/>
          </a:bodyPr>
          <a:lstStyle/>
          <a:p>
            <a:r>
              <a:rPr lang="en-US" sz="1000" dirty="0"/>
              <a:t>Sharika Saraf</a:t>
            </a:r>
          </a:p>
        </p:txBody>
      </p:sp>
      <p:pic>
        <p:nvPicPr>
          <p:cNvPr id="1026" name="Picture 2" descr="Prof. Xing Fan portrait">
            <a:extLst>
              <a:ext uri="{FF2B5EF4-FFF2-40B4-BE49-F238E27FC236}">
                <a16:creationId xmlns:a16="http://schemas.microsoft.com/office/drawing/2014/main" id="{EC5EA6D6-4E1E-E7CB-E40F-C9DB071860CD}"/>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b="20000"/>
          <a:stretch>
            <a:fillRect/>
          </a:stretch>
        </p:blipFill>
        <p:spPr bwMode="auto">
          <a:xfrm>
            <a:off x="4188250" y="3084644"/>
            <a:ext cx="806519" cy="8065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2B923B1-E1F3-B40D-D51E-E4B59F45077F}"/>
              </a:ext>
            </a:extLst>
          </p:cNvPr>
          <p:cNvSpPr txBox="1"/>
          <p:nvPr/>
        </p:nvSpPr>
        <p:spPr>
          <a:xfrm>
            <a:off x="4112170" y="3885691"/>
            <a:ext cx="958677" cy="246221"/>
          </a:xfrm>
          <a:prstGeom prst="rect">
            <a:avLst/>
          </a:prstGeom>
          <a:noFill/>
        </p:spPr>
        <p:txBody>
          <a:bodyPr wrap="square" rtlCol="0">
            <a:spAutoFit/>
          </a:bodyPr>
          <a:lstStyle/>
          <a:p>
            <a:r>
              <a:rPr lang="en-US" sz="1000" dirty="0"/>
              <a:t>Xing Fan</a:t>
            </a:r>
          </a:p>
        </p:txBody>
      </p:sp>
      <p:sp>
        <p:nvSpPr>
          <p:cNvPr id="10" name="Google Shape;288;p31">
            <a:extLst>
              <a:ext uri="{FF2B5EF4-FFF2-40B4-BE49-F238E27FC236}">
                <a16:creationId xmlns:a16="http://schemas.microsoft.com/office/drawing/2014/main" id="{6C372DB8-6845-A130-2B2B-26C22DFC46BB}"/>
              </a:ext>
            </a:extLst>
          </p:cNvPr>
          <p:cNvSpPr/>
          <p:nvPr/>
        </p:nvSpPr>
        <p:spPr>
          <a:xfrm>
            <a:off x="3411472" y="2993251"/>
            <a:ext cx="1673178" cy="12168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 name="Google Shape;291;p31">
            <a:extLst>
              <a:ext uri="{FF2B5EF4-FFF2-40B4-BE49-F238E27FC236}">
                <a16:creationId xmlns:a16="http://schemas.microsoft.com/office/drawing/2014/main" id="{BD732428-2474-861F-873D-0F999EE56D2F}"/>
              </a:ext>
            </a:extLst>
          </p:cNvPr>
          <p:cNvSpPr txBox="1"/>
          <p:nvPr/>
        </p:nvSpPr>
        <p:spPr>
          <a:xfrm>
            <a:off x="3397862" y="3026234"/>
            <a:ext cx="1746900" cy="38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tx1"/>
                </a:solidFill>
              </a:rPr>
              <a:t>ACME</a:t>
            </a:r>
            <a:endParaRPr sz="16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873D-4A37-C3B8-8693-8E157B0A162F}"/>
              </a:ext>
            </a:extLst>
          </p:cNvPr>
          <p:cNvSpPr>
            <a:spLocks noGrp="1"/>
          </p:cNvSpPr>
          <p:nvPr>
            <p:ph type="ctrTitle"/>
          </p:nvPr>
        </p:nvSpPr>
        <p:spPr/>
        <p:txBody>
          <a:bodyPr/>
          <a:lstStyle/>
          <a:p>
            <a:r>
              <a:rPr lang="en-US" dirty="0"/>
              <a:t>Supplemental Slides:</a:t>
            </a:r>
          </a:p>
        </p:txBody>
      </p:sp>
    </p:spTree>
    <p:extLst>
      <p:ext uri="{BB962C8B-B14F-4D97-AF65-F5344CB8AC3E}">
        <p14:creationId xmlns:p14="http://schemas.microsoft.com/office/powerpoint/2010/main" val="1886319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p:nvPr/>
        </p:nvSpPr>
        <p:spPr>
          <a:xfrm rot="-5400000">
            <a:off x="-434400" y="2547025"/>
            <a:ext cx="1748400" cy="6648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32"/>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Divergence</a:t>
            </a:r>
            <a:endParaRPr dirty="0"/>
          </a:p>
        </p:txBody>
      </p:sp>
      <p:sp>
        <p:nvSpPr>
          <p:cNvPr id="298" name="Google Shape;298;p32"/>
          <p:cNvSpPr/>
          <p:nvPr/>
        </p:nvSpPr>
        <p:spPr>
          <a:xfrm rot="-5400000">
            <a:off x="1345550" y="1242050"/>
            <a:ext cx="1892400" cy="3090000"/>
          </a:xfrm>
          <a:prstGeom prst="trapezoid">
            <a:avLst>
              <a:gd name="adj" fmla="val 37818"/>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99" name="Google Shape;299;p32"/>
          <p:cNvCxnSpPr>
            <a:stCxn id="300" idx="0"/>
          </p:cNvCxnSpPr>
          <p:nvPr/>
        </p:nvCxnSpPr>
        <p:spPr>
          <a:xfrm rot="10800000" flipH="1">
            <a:off x="746750" y="2559150"/>
            <a:ext cx="3110400" cy="12600"/>
          </a:xfrm>
          <a:prstGeom prst="straightConnector1">
            <a:avLst/>
          </a:prstGeom>
          <a:noFill/>
          <a:ln w="28575" cap="flat" cmpd="sng">
            <a:solidFill>
              <a:schemeClr val="dk2"/>
            </a:solidFill>
            <a:prstDash val="dash"/>
            <a:round/>
            <a:headEnd type="none" w="med" len="med"/>
            <a:tailEnd type="none" w="med" len="med"/>
          </a:ln>
        </p:spPr>
      </p:cxnSp>
      <p:sp>
        <p:nvSpPr>
          <p:cNvPr id="301" name="Google Shape;301;p32"/>
          <p:cNvSpPr/>
          <p:nvPr/>
        </p:nvSpPr>
        <p:spPr>
          <a:xfrm>
            <a:off x="2196550" y="2222975"/>
            <a:ext cx="188455" cy="336169"/>
          </a:xfrm>
          <a:custGeom>
            <a:avLst/>
            <a:gdLst/>
            <a:ahLst/>
            <a:cxnLst/>
            <a:rect l="l" t="t" r="r" b="b"/>
            <a:pathLst>
              <a:path w="7131" h="11003" extrusionOk="0">
                <a:moveTo>
                  <a:pt x="0" y="0"/>
                </a:moveTo>
                <a:cubicBezTo>
                  <a:pt x="747" y="340"/>
                  <a:pt x="3395" y="1087"/>
                  <a:pt x="4482" y="2038"/>
                </a:cubicBezTo>
                <a:cubicBezTo>
                  <a:pt x="5569" y="2989"/>
                  <a:pt x="6079" y="4211"/>
                  <a:pt x="6520" y="5705"/>
                </a:cubicBezTo>
                <a:cubicBezTo>
                  <a:pt x="6962" y="7199"/>
                  <a:pt x="7029" y="10120"/>
                  <a:pt x="7131" y="11003"/>
                </a:cubicBezTo>
              </a:path>
            </a:pathLst>
          </a:custGeom>
          <a:noFill/>
          <a:ln w="19050" cap="flat" cmpd="sng">
            <a:solidFill>
              <a:schemeClr val="dk2"/>
            </a:solidFill>
            <a:prstDash val="solid"/>
            <a:round/>
            <a:headEnd type="none" w="med" len="med"/>
            <a:tailEnd type="none" w="med" len="med"/>
          </a:ln>
        </p:spPr>
        <p:txBody>
          <a:bodyPr/>
          <a:lstStyle/>
          <a:p>
            <a:endParaRPr lang="en-US"/>
          </a:p>
        </p:txBody>
      </p:sp>
      <p:sp>
        <p:nvSpPr>
          <p:cNvPr id="302" name="Google Shape;302;p32"/>
          <p:cNvSpPr txBox="1"/>
          <p:nvPr/>
        </p:nvSpPr>
        <p:spPr>
          <a:xfrm>
            <a:off x="2385000" y="2090550"/>
            <a:ext cx="664800" cy="18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𝛳</a:t>
            </a:r>
            <a:endParaRPr sz="1800">
              <a:solidFill>
                <a:schemeClr val="dk2"/>
              </a:solidFill>
            </a:endParaRPr>
          </a:p>
        </p:txBody>
      </p:sp>
      <p:sp>
        <p:nvSpPr>
          <p:cNvPr id="303" name="Google Shape;303;p32"/>
          <p:cNvSpPr/>
          <p:nvPr/>
        </p:nvSpPr>
        <p:spPr>
          <a:xfrm>
            <a:off x="3887600" y="1861250"/>
            <a:ext cx="326100" cy="1851600"/>
          </a:xfrm>
          <a:prstGeom prst="rightBrace">
            <a:avLst>
              <a:gd name="adj1" fmla="val 50000"/>
              <a:gd name="adj2" fmla="val 4924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32"/>
          <p:cNvSpPr txBox="1"/>
          <p:nvPr/>
        </p:nvSpPr>
        <p:spPr>
          <a:xfrm>
            <a:off x="4244138" y="2527975"/>
            <a:ext cx="1130700" cy="25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1/e width</a:t>
            </a:r>
            <a:endParaRPr sz="1800">
              <a:solidFill>
                <a:schemeClr val="dk2"/>
              </a:solidFill>
            </a:endParaRPr>
          </a:p>
        </p:txBody>
      </p:sp>
      <p:pic>
        <p:nvPicPr>
          <p:cNvPr id="305" name="Google Shape;305;p32"/>
          <p:cNvPicPr preferRelativeResize="0"/>
          <p:nvPr/>
        </p:nvPicPr>
        <p:blipFill rotWithShape="1">
          <a:blip r:embed="rId3">
            <a:alphaModFix/>
          </a:blip>
          <a:srcRect t="7227" r="32111"/>
          <a:stretch/>
        </p:blipFill>
        <p:spPr>
          <a:xfrm>
            <a:off x="5374850" y="1596488"/>
            <a:ext cx="3619225" cy="24728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4"/>
          <p:cNvSpPr txBox="1"/>
          <p:nvPr/>
        </p:nvSpPr>
        <p:spPr>
          <a:xfrm>
            <a:off x="0" y="0"/>
            <a:ext cx="91440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500" i="1">
              <a:solidFill>
                <a:schemeClr val="dk1"/>
              </a:solidFill>
            </a:endParaRPr>
          </a:p>
        </p:txBody>
      </p:sp>
      <p:sp>
        <p:nvSpPr>
          <p:cNvPr id="5" name="TextBox 4">
            <a:extLst>
              <a:ext uri="{FF2B5EF4-FFF2-40B4-BE49-F238E27FC236}">
                <a16:creationId xmlns:a16="http://schemas.microsoft.com/office/drawing/2014/main" id="{528A36AE-CA28-4D16-1BFF-745ECBDC9768}"/>
              </a:ext>
            </a:extLst>
          </p:cNvPr>
          <p:cNvSpPr txBox="1"/>
          <p:nvPr/>
        </p:nvSpPr>
        <p:spPr>
          <a:xfrm>
            <a:off x="2286000" y="2417603"/>
            <a:ext cx="4572000" cy="307777"/>
          </a:xfrm>
          <a:prstGeom prst="rect">
            <a:avLst/>
          </a:prstGeom>
          <a:noFill/>
        </p:spPr>
        <p:txBody>
          <a:bodyPr wrap="square">
            <a:spAutoFit/>
          </a:bodyPr>
          <a:lstStyle/>
          <a:p>
            <a:r>
              <a:rPr lang="en-US" b="0" dirty="0">
                <a:effectLst/>
              </a:rPr>
              <a:t> </a:t>
            </a:r>
            <a:endParaRPr lang="en-US" dirty="0"/>
          </a:p>
        </p:txBody>
      </p:sp>
      <p:pic>
        <p:nvPicPr>
          <p:cNvPr id="1026" name="Picture 2">
            <a:extLst>
              <a:ext uri="{FF2B5EF4-FFF2-40B4-BE49-F238E27FC236}">
                <a16:creationId xmlns:a16="http://schemas.microsoft.com/office/drawing/2014/main" id="{6A92DF7B-607F-2D4E-5ED2-47B20E5704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0883"/>
          <a:stretch>
            <a:fillRect/>
          </a:stretch>
        </p:blipFill>
        <p:spPr bwMode="auto">
          <a:xfrm>
            <a:off x="264804" y="318851"/>
            <a:ext cx="4240995" cy="30679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02C93E5-9AE9-8C53-38FC-4782B8A882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977" t="22444" r="48928" b="47013"/>
          <a:stretch>
            <a:fillRect/>
          </a:stretch>
        </p:blipFill>
        <p:spPr bwMode="auto">
          <a:xfrm rot="16200000">
            <a:off x="1959133" y="2613702"/>
            <a:ext cx="852337" cy="21839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308077A-A1ED-CBAB-3406-F1BD4A85E5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2513" y="484353"/>
            <a:ext cx="2162563" cy="16219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3"/>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Rb-Ar</a:t>
            </a:r>
            <a:endParaRPr dirty="0"/>
          </a:p>
        </p:txBody>
      </p:sp>
      <p:sp>
        <p:nvSpPr>
          <p:cNvPr id="314" name="Google Shape;314;p33"/>
          <p:cNvSpPr txBox="1"/>
          <p:nvPr/>
        </p:nvSpPr>
        <p:spPr>
          <a:xfrm>
            <a:off x="655175" y="1191975"/>
            <a:ext cx="7051200" cy="8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Smth about Ar and Rb being same divergence….</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315" name="Google Shape;315;p33"/>
          <p:cNvSpPr txBox="1"/>
          <p:nvPr/>
        </p:nvSpPr>
        <p:spPr>
          <a:xfrm>
            <a:off x="5604125" y="1590650"/>
            <a:ext cx="3540000" cy="1362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sz="1800">
                <a:solidFill>
                  <a:schemeClr val="dk2"/>
                </a:solidFill>
              </a:rPr>
              <a:t>λ = k_B T/(sqrt[2]pi*d^2*P)</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Prb &lt;&lt; Par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λrb/λar ~ d_ar^2/d_rb^2 </a:t>
            </a:r>
            <a:endParaRPr sz="1800">
              <a:solidFill>
                <a:schemeClr val="dk2"/>
              </a:solidFill>
            </a:endParaRPr>
          </a:p>
          <a:p>
            <a:pPr marL="457200" lvl="0" indent="0" algn="l" rtl="0">
              <a:spcBef>
                <a:spcPts val="0"/>
              </a:spcBef>
              <a:spcAft>
                <a:spcPts val="0"/>
              </a:spcAft>
              <a:buNone/>
            </a:pPr>
            <a:r>
              <a:rPr lang="en" sz="1800">
                <a:solidFill>
                  <a:schemeClr val="dk2"/>
                </a:solidFill>
              </a:rPr>
              <a:t>~½</a:t>
            </a:r>
            <a:endParaRPr sz="1800">
              <a:solidFill>
                <a:schemeClr val="dk2"/>
              </a:solidFill>
            </a:endParaRPr>
          </a:p>
          <a:p>
            <a:pPr marL="457200" lvl="0" indent="0" algn="l" rtl="0">
              <a:spcBef>
                <a:spcPts val="0"/>
              </a:spcBef>
              <a:spcAft>
                <a:spcPts val="0"/>
              </a:spcAft>
              <a:buNone/>
            </a:pPr>
            <a:endParaRPr sz="1800">
              <a:solidFill>
                <a:schemeClr val="dk2"/>
              </a:solidFill>
            </a:endParaRPr>
          </a:p>
        </p:txBody>
      </p:sp>
      <p:sp>
        <p:nvSpPr>
          <p:cNvPr id="316" name="Google Shape;316;p33"/>
          <p:cNvSpPr txBox="1"/>
          <p:nvPr/>
        </p:nvSpPr>
        <p:spPr>
          <a:xfrm>
            <a:off x="5604125" y="2985875"/>
            <a:ext cx="3540000" cy="1362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sz="1800">
                <a:solidFill>
                  <a:schemeClr val="dk2"/>
                </a:solidFill>
              </a:rPr>
              <a:t>Want λ ~&gt; L &gt; d to get aspect ratio like divergence.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-&gt; λrb will exit ideal regime of divergence set by aspect ratio before λar does</a:t>
            </a:r>
            <a:endParaRPr sz="1800">
              <a:solidFill>
                <a:schemeClr val="dk2"/>
              </a:solidFill>
            </a:endParaRPr>
          </a:p>
        </p:txBody>
      </p:sp>
      <p:pic>
        <p:nvPicPr>
          <p:cNvPr id="2" name="Picture 2" descr="FIG. 1. Simulation of particle trajectories through a 2D tube. In this simple simulation, the particles enter on the left-hand side at uniformly distributed random angles and assume a random angle upon each collision with a wall. Rightward-moving paths are colored red and leftward-moving paths are colored blue. Those particles that do not pass all the way through the tube without striking the walls have a higher probability of exiting the tube on the left rather than the right, because they are likely to strike the walls before reaching the midpoint of the tube. Thus the exit beam is collimated, and most particles that would not enter the trapping region are recirculated to the oven reservoir. In this figure, the tube aspect ratio has been reduced from 50 to 10 for clarity. ">
            <a:extLst>
              <a:ext uri="{FF2B5EF4-FFF2-40B4-BE49-F238E27FC236}">
                <a16:creationId xmlns:a16="http://schemas.microsoft.com/office/drawing/2014/main" id="{D6AD7632-DA6F-B9AC-29A5-CF7627BB0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611" y="2166625"/>
            <a:ext cx="4858673" cy="1553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B64C12C-7E98-8E45-5B41-A089CB94E4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764" y="233470"/>
            <a:ext cx="2414759" cy="18452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091A6B1-AE88-7A94-FEC4-DA44E0488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363" y="233470"/>
            <a:ext cx="2452320" cy="17644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1ECD123-D51A-E388-FD53-748FF5828A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611" r="47973" b="34981"/>
          <a:stretch>
            <a:fillRect/>
          </a:stretch>
        </p:blipFill>
        <p:spPr bwMode="auto">
          <a:xfrm flipH="1">
            <a:off x="5664403" y="324497"/>
            <a:ext cx="2159716" cy="159163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34EF4835-286F-2426-67F7-65F9C2BEB0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49" y="2346751"/>
            <a:ext cx="2382371" cy="173225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82EE082E-7F58-90D5-88D2-EBE7D64165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2515" y="2261779"/>
            <a:ext cx="2452320" cy="1767554"/>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37DF5F16-A70C-1261-F4CA-B86D6611B6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1228" y="2261779"/>
            <a:ext cx="2370044" cy="1818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976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800B930-C613-64AF-0886-14175E9385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920" y="732348"/>
            <a:ext cx="2144289" cy="285905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40177E5-2F10-768F-5DD4-ECC2AE7C9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72" y="430305"/>
            <a:ext cx="2525978" cy="336797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BC1E80F3-C782-F20C-9671-676087BF68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052" y="769586"/>
            <a:ext cx="3429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203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4E587AC-A5C3-C1E2-C4D4-CB73BC31BF82}"/>
            </a:ext>
          </a:extLst>
        </p:cNvPr>
        <p:cNvGrpSpPr/>
        <p:nvPr/>
      </p:nvGrpSpPr>
      <p:grpSpPr>
        <a:xfrm>
          <a:off x="0" y="0"/>
          <a:ext cx="0" cy="0"/>
          <a:chOff x="0" y="0"/>
          <a:chExt cx="0" cy="0"/>
        </a:xfrm>
      </p:grpSpPr>
      <p:pic>
        <p:nvPicPr>
          <p:cNvPr id="90" name="Google Shape;90;p17">
            <a:extLst>
              <a:ext uri="{FF2B5EF4-FFF2-40B4-BE49-F238E27FC236}">
                <a16:creationId xmlns:a16="http://schemas.microsoft.com/office/drawing/2014/main" id="{51891512-E6C9-99D3-9B65-2545F56849FA}"/>
              </a:ext>
            </a:extLst>
          </p:cNvPr>
          <p:cNvPicPr preferRelativeResize="0"/>
          <p:nvPr/>
        </p:nvPicPr>
        <p:blipFill>
          <a:blip r:embed="rId3">
            <a:alphaModFix/>
          </a:blip>
          <a:stretch>
            <a:fillRect/>
          </a:stretch>
        </p:blipFill>
        <p:spPr>
          <a:xfrm>
            <a:off x="152398" y="1115293"/>
            <a:ext cx="8839204" cy="3051424"/>
          </a:xfrm>
          <a:prstGeom prst="rect">
            <a:avLst/>
          </a:prstGeom>
          <a:noFill/>
          <a:ln>
            <a:noFill/>
          </a:ln>
        </p:spPr>
      </p:pic>
      <p:sp>
        <p:nvSpPr>
          <p:cNvPr id="2" name="Google Shape;70;p14">
            <a:extLst>
              <a:ext uri="{FF2B5EF4-FFF2-40B4-BE49-F238E27FC236}">
                <a16:creationId xmlns:a16="http://schemas.microsoft.com/office/drawing/2014/main" id="{BACE8806-5956-04DD-3B1B-2B4D2F8AA965}"/>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u="sng" dirty="0"/>
              <a:t>Current Doped Cryogenic Crystals</a:t>
            </a:r>
          </a:p>
        </p:txBody>
      </p:sp>
    </p:spTree>
    <p:extLst>
      <p:ext uri="{BB962C8B-B14F-4D97-AF65-F5344CB8AC3E}">
        <p14:creationId xmlns:p14="http://schemas.microsoft.com/office/powerpoint/2010/main" val="200601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441F586F-3041-F1D3-9C29-13E720D30147}"/>
            </a:ext>
          </a:extLst>
        </p:cNvPr>
        <p:cNvGrpSpPr/>
        <p:nvPr/>
      </p:nvGrpSpPr>
      <p:grpSpPr>
        <a:xfrm>
          <a:off x="0" y="0"/>
          <a:ext cx="0" cy="0"/>
          <a:chOff x="0" y="0"/>
          <a:chExt cx="0" cy="0"/>
        </a:xfrm>
      </p:grpSpPr>
      <p:sp>
        <p:nvSpPr>
          <p:cNvPr id="75" name="Google Shape;75;p15">
            <a:extLst>
              <a:ext uri="{FF2B5EF4-FFF2-40B4-BE49-F238E27FC236}">
                <a16:creationId xmlns:a16="http://schemas.microsoft.com/office/drawing/2014/main" id="{4EFBEE49-A354-AA37-257C-9CD73DA23564}"/>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76" name="Google Shape;76;p15">
            <a:extLst>
              <a:ext uri="{FF2B5EF4-FFF2-40B4-BE49-F238E27FC236}">
                <a16:creationId xmlns:a16="http://schemas.microsoft.com/office/drawing/2014/main" id="{EE6CCE6B-DC3B-30B5-4FCC-9794FDDA421C}"/>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77" name="Google Shape;77;p15">
            <a:extLst>
              <a:ext uri="{FF2B5EF4-FFF2-40B4-BE49-F238E27FC236}">
                <a16:creationId xmlns:a16="http://schemas.microsoft.com/office/drawing/2014/main" id="{42047549-F936-4F93-D8BB-2AAE6C56F105}"/>
              </a:ext>
            </a:extLst>
          </p:cNvPr>
          <p:cNvPicPr preferRelativeResize="0"/>
          <p:nvPr/>
        </p:nvPicPr>
        <p:blipFill>
          <a:blip r:embed="rId3">
            <a:alphaModFix/>
          </a:blip>
          <a:stretch>
            <a:fillRect/>
          </a:stretch>
        </p:blipFill>
        <p:spPr>
          <a:xfrm>
            <a:off x="152400" y="152400"/>
            <a:ext cx="8839199" cy="4252780"/>
          </a:xfrm>
          <a:prstGeom prst="rect">
            <a:avLst/>
          </a:prstGeom>
          <a:noFill/>
          <a:ln>
            <a:noFill/>
          </a:ln>
        </p:spPr>
      </p:pic>
    </p:spTree>
    <p:extLst>
      <p:ext uri="{BB962C8B-B14F-4D97-AF65-F5344CB8AC3E}">
        <p14:creationId xmlns:p14="http://schemas.microsoft.com/office/powerpoint/2010/main" val="4226357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AEBC5446-7D19-4399-C2EF-9DFCDBF12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47" y="1046802"/>
            <a:ext cx="3150394" cy="2571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15314FC-0083-24E9-E2B9-EE29C721BF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4141" y="1100590"/>
            <a:ext cx="3823448" cy="2420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308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 graph displaying a Lorentzian fit of Monte Carlo shift data, with parameters such as electron density, transition energies, and lifetimes, plotted against frequency (kHz).&#10;&#10;AI-generated content may be incorrect.">
            <a:extLst>
              <a:ext uri="{FF2B5EF4-FFF2-40B4-BE49-F238E27FC236}">
                <a16:creationId xmlns:a16="http://schemas.microsoft.com/office/drawing/2014/main" id="{6F980A05-1DDA-6A57-5FA4-8026505FD6E6}"/>
              </a:ext>
            </a:extLst>
          </p:cNvPr>
          <p:cNvPicPr>
            <a:picLocks noChangeAspect="1"/>
          </p:cNvPicPr>
          <p:nvPr/>
        </p:nvPicPr>
        <p:blipFill>
          <a:blip r:embed="rId2"/>
          <a:stretch>
            <a:fillRect/>
          </a:stretch>
        </p:blipFill>
        <p:spPr>
          <a:xfrm>
            <a:off x="166670" y="963343"/>
            <a:ext cx="3837315" cy="3216813"/>
          </a:xfrm>
          <a:prstGeom prst="rect">
            <a:avLst/>
          </a:prstGeom>
        </p:spPr>
      </p:pic>
      <p:pic>
        <p:nvPicPr>
          <p:cNvPr id="7" name="Picture 6" descr="The image shows a plot comparing the T2 relaxation time (ms) to the dopant density (cm^-3) on a graph, with values ranging from 10^-1 to 10^18.&#10;&#10;AI-generated content may be incorrect.">
            <a:extLst>
              <a:ext uri="{FF2B5EF4-FFF2-40B4-BE49-F238E27FC236}">
                <a16:creationId xmlns:a16="http://schemas.microsoft.com/office/drawing/2014/main" id="{18A6BD5C-DE18-80D6-E661-95BE19B54538}"/>
              </a:ext>
            </a:extLst>
          </p:cNvPr>
          <p:cNvPicPr>
            <a:picLocks noChangeAspect="1"/>
          </p:cNvPicPr>
          <p:nvPr/>
        </p:nvPicPr>
        <p:blipFill>
          <a:blip r:embed="rId3"/>
          <a:stretch>
            <a:fillRect/>
          </a:stretch>
        </p:blipFill>
        <p:spPr>
          <a:xfrm>
            <a:off x="4290200" y="963343"/>
            <a:ext cx="4559880" cy="3141113"/>
          </a:xfrm>
          <a:prstGeom prst="rect">
            <a:avLst/>
          </a:prstGeom>
        </p:spPr>
      </p:pic>
    </p:spTree>
    <p:extLst>
      <p:ext uri="{BB962C8B-B14F-4D97-AF65-F5344CB8AC3E}">
        <p14:creationId xmlns:p14="http://schemas.microsoft.com/office/powerpoint/2010/main" val="530600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F787ADC9-9616-6ECC-E2A5-83858AEDFF21}"/>
              </a:ext>
            </a:extLst>
          </p:cNvPr>
          <p:cNvGraphicFramePr>
            <a:graphicFrameLocks noChangeAspect="1"/>
          </p:cNvGraphicFramePr>
          <p:nvPr>
            <p:extLst>
              <p:ext uri="{D42A27DB-BD31-4B8C-83A1-F6EECF244321}">
                <p14:modId xmlns:p14="http://schemas.microsoft.com/office/powerpoint/2010/main" val="4026087191"/>
              </p:ext>
            </p:extLst>
          </p:nvPr>
        </p:nvGraphicFramePr>
        <p:xfrm>
          <a:off x="459683" y="-868887"/>
          <a:ext cx="8015734" cy="6012387"/>
        </p:xfrm>
        <a:graphic>
          <a:graphicData uri="http://schemas.openxmlformats.org/presentationml/2006/ole">
            <mc:AlternateContent xmlns:mc="http://schemas.openxmlformats.org/markup-compatibility/2006">
              <mc:Choice xmlns:v="urn:schemas-microsoft-com:vml" Requires="v">
                <p:oleObj name="Acrobat Document" r:id="rId2" imgW="18810514" imgH="14107886" progId="Acrobat.Document.DC">
                  <p:embed/>
                </p:oleObj>
              </mc:Choice>
              <mc:Fallback>
                <p:oleObj name="Acrobat Document" r:id="rId2" imgW="18810514" imgH="14107886" progId="Acrobat.Document.DC">
                  <p:embed/>
                  <p:pic>
                    <p:nvPicPr>
                      <p:cNvPr id="0" name=""/>
                      <p:cNvPicPr/>
                      <p:nvPr/>
                    </p:nvPicPr>
                    <p:blipFill>
                      <a:blip r:embed="rId3"/>
                      <a:stretch>
                        <a:fillRect/>
                      </a:stretch>
                    </p:blipFill>
                    <p:spPr>
                      <a:xfrm>
                        <a:off x="459683" y="-868887"/>
                        <a:ext cx="8015734" cy="6012387"/>
                      </a:xfrm>
                      <a:prstGeom prst="rect">
                        <a:avLst/>
                      </a:prstGeom>
                    </p:spPr>
                  </p:pic>
                </p:oleObj>
              </mc:Fallback>
            </mc:AlternateContent>
          </a:graphicData>
        </a:graphic>
      </p:graphicFrame>
    </p:spTree>
    <p:extLst>
      <p:ext uri="{BB962C8B-B14F-4D97-AF65-F5344CB8AC3E}">
        <p14:creationId xmlns:p14="http://schemas.microsoft.com/office/powerpoint/2010/main" val="109285963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TotalTime>
  <Words>798</Words>
  <Application>Microsoft Office PowerPoint</Application>
  <PresentationFormat>On-screen Show (16:9)</PresentationFormat>
  <Paragraphs>140</Paragraphs>
  <Slides>31</Slides>
  <Notes>25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7" baseType="lpstr">
      <vt:lpstr>Arial</vt:lpstr>
      <vt:lpstr>Cambria Math</vt:lpstr>
      <vt:lpstr>Lao UI</vt:lpstr>
      <vt:lpstr>Wingdings</vt:lpstr>
      <vt:lpstr>Simple Light</vt:lpstr>
      <vt:lpstr>Acrobat Document</vt:lpstr>
      <vt:lpstr> A Dual-Species Beam Source  for Doped Cryogenic Crystal Growth </vt:lpstr>
      <vt:lpstr>Doped Cryogenic Crystal</vt:lpstr>
      <vt:lpstr>PowerPoint Presentation</vt:lpstr>
      <vt:lpstr>PowerPoint Presentation</vt:lpstr>
      <vt:lpstr>Our Growth Method</vt:lpstr>
      <vt:lpstr>Our Growth Method</vt:lpstr>
      <vt:lpstr>Our Growth Method</vt:lpstr>
      <vt:lpstr>Beam Source Constraints</vt:lpstr>
      <vt:lpstr>Beam Source Constraints</vt:lpstr>
      <vt:lpstr>Beam Source Constraints</vt:lpstr>
      <vt:lpstr>Beam Source Constraints</vt:lpstr>
      <vt:lpstr>Beam Source Constraints</vt:lpstr>
      <vt:lpstr>Microcapillary Nozzle Array</vt:lpstr>
      <vt:lpstr>Characterizing Beam Source</vt:lpstr>
      <vt:lpstr>Characterizing Beam Source</vt:lpstr>
      <vt:lpstr>Characterizing Beam Source</vt:lpstr>
      <vt:lpstr>Characterizing Beam Source</vt:lpstr>
      <vt:lpstr>Characterizing Beam Source</vt:lpstr>
      <vt:lpstr>Next Steps</vt:lpstr>
      <vt:lpstr>Acknowledgements </vt:lpstr>
      <vt:lpstr>Supplemental Slides:</vt:lpstr>
      <vt:lpstr>Divergence</vt:lpstr>
      <vt:lpstr>PowerPoint Presentation</vt:lpstr>
      <vt:lpstr>Rb-Ar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Isaac Kenneth Cross</cp:lastModifiedBy>
  <cp:revision>14</cp:revision>
  <dcterms:modified xsi:type="dcterms:W3CDTF">2026-04-14T23:51:21Z</dcterms:modified>
</cp:coreProperties>
</file>